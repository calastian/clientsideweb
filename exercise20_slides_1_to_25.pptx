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78" r:id="rId6"/>
    <p:sldId id="261" r:id="rId7"/>
    <p:sldId id="262" r:id="rId8"/>
    <p:sldId id="263" r:id="rId9"/>
    <p:sldId id="264" r:id="rId10"/>
    <p:sldId id="265" r:id="rId11"/>
    <p:sldId id="266" r:id="rId12"/>
    <p:sldId id="267" r:id="rId13"/>
    <p:sldId id="268" r:id="rId14"/>
    <p:sldId id="269" r:id="rId15"/>
    <p:sldId id="270" r:id="rId16"/>
    <p:sldId id="282" r:id="rId17"/>
    <p:sldId id="279" r:id="rId18"/>
    <p:sldId id="280" r:id="rId19"/>
    <p:sldId id="283" r:id="rId20"/>
    <p:sldId id="272" r:id="rId21"/>
    <p:sldId id="273" r:id="rId22"/>
    <p:sldId id="274" r:id="rId23"/>
    <p:sldId id="277" r:id="rId24"/>
    <p:sldId id="275" r:id="rId25"/>
    <p:sldId id="276" r:id="rId2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49" d="100"/>
          <a:sy n="49" d="100"/>
        </p:scale>
        <p:origin x="960" y="4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920834" y="134694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920834" y="429969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920834" y="1484779"/>
            <a:ext cx="10222992" cy="274320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grpSp>
        <p:nvGrpSpPr>
          <p:cNvPr id="10" name="Group 9"/>
          <p:cNvGrpSpPr/>
          <p:nvPr/>
        </p:nvGrpSpPr>
        <p:grpSpPr>
          <a:xfrm>
            <a:off x="9649215" y="4068923"/>
            <a:ext cx="1080904" cy="1080902"/>
            <a:chOff x="9685338" y="4460675"/>
            <a:chExt cx="1080904" cy="1080902"/>
          </a:xfrm>
        </p:grpSpPr>
        <p:sp>
          <p:nvSpPr>
            <p:cNvPr id="11" name="Oval 10"/>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2" name="Oval 11"/>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2" name="Title 1"/>
          <p:cNvSpPr>
            <a:spLocks noGrp="1"/>
          </p:cNvSpPr>
          <p:nvPr>
            <p:ph type="ctrTitle"/>
          </p:nvPr>
        </p:nvSpPr>
        <p:spPr>
          <a:xfrm>
            <a:off x="1051560" y="1432223"/>
            <a:ext cx="9966960" cy="3035808"/>
          </a:xfrm>
        </p:spPr>
        <p:txBody>
          <a:bodyPr anchor="ctr">
            <a:noAutofit/>
          </a:bodyPr>
          <a:lstStyle>
            <a:lvl1pPr algn="l">
              <a:lnSpc>
                <a:spcPct val="80000"/>
              </a:lnSpc>
              <a:defRPr sz="9600" cap="all" baseline="0">
                <a:blipFill dpi="0" rotWithShape="1">
                  <a:blip r:embed="rId4"/>
                  <a:srcRect/>
                  <a:tile tx="6350" ty="-127000" sx="65000" sy="64000" flip="none" algn="tl"/>
                </a:blipFill>
              </a:defRPr>
            </a:lvl1pPr>
          </a:lstStyle>
          <a:p>
            <a:r>
              <a:rPr lang="en-US"/>
              <a:t>Click to edit Master title style</a:t>
            </a:r>
            <a:endParaRPr lang="en-US" dirty="0"/>
          </a:p>
        </p:txBody>
      </p:sp>
      <p:sp>
        <p:nvSpPr>
          <p:cNvPr id="3" name="Subtitle 2"/>
          <p:cNvSpPr>
            <a:spLocks noGrp="1"/>
          </p:cNvSpPr>
          <p:nvPr>
            <p:ph type="subTitle" idx="1"/>
          </p:nvPr>
        </p:nvSpPr>
        <p:spPr>
          <a:xfrm>
            <a:off x="1069848" y="4389120"/>
            <a:ext cx="7891272" cy="1069848"/>
          </a:xfrm>
        </p:spPr>
        <p:txBody>
          <a:bodyPr>
            <a:normAutofit/>
          </a:bodyPr>
          <a:lstStyle>
            <a:lvl1pPr marL="0" indent="0" algn="l">
              <a:buNone/>
              <a:defRPr sz="2200">
                <a:solidFill>
                  <a:schemeClr val="tx1"/>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ED66F110-27CC-43FE-9D93-B9CED2BD758E}" type="datetimeFigureOut">
              <a:rPr lang="en-US" smtClean="0"/>
              <a:t>10/17/2025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9592733" y="4289334"/>
            <a:ext cx="1193868" cy="640080"/>
          </a:xfrm>
        </p:spPr>
        <p:txBody>
          <a:bodyPr/>
          <a:lstStyle>
            <a:lvl1pPr>
              <a:defRPr sz="2800"/>
            </a:lvl1pPr>
          </a:lstStyle>
          <a:p>
            <a:fld id="{B82F23D7-591B-493D-B010-BA5ED11E50F1}" type="slidenum">
              <a:rPr lang="en-US" smtClean="0"/>
              <a:t>‹#›</a:t>
            </a:fld>
            <a:endParaRPr lang="en-US"/>
          </a:p>
        </p:txBody>
      </p:sp>
    </p:spTree>
    <p:extLst>
      <p:ext uri="{BB962C8B-B14F-4D97-AF65-F5344CB8AC3E}">
        <p14:creationId xmlns:p14="http://schemas.microsoft.com/office/powerpoint/2010/main" val="9302256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D66F110-27CC-43FE-9D93-B9CED2BD758E}" type="datetimeFigureOut">
              <a:rPr lang="en-US" smtClean="0"/>
              <a:t>10/17/2025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F23D7-591B-493D-B010-BA5ED11E50F1}" type="slidenum">
              <a:rPr lang="en-US" smtClean="0"/>
              <a:t>‹#›</a:t>
            </a:fld>
            <a:endParaRPr lang="en-US"/>
          </a:p>
        </p:txBody>
      </p:sp>
    </p:spTree>
    <p:extLst>
      <p:ext uri="{BB962C8B-B14F-4D97-AF65-F5344CB8AC3E}">
        <p14:creationId xmlns:p14="http://schemas.microsoft.com/office/powerpoint/2010/main" val="31408976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0" y="4917989"/>
            <a:ext cx="12192000" cy="194001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2167128" y="1225296"/>
            <a:ext cx="9281160" cy="3520440"/>
          </a:xfrm>
        </p:spPr>
        <p:txBody>
          <a:bodyPr anchor="ctr">
            <a:normAutofit/>
          </a:bodyPr>
          <a:lstStyle>
            <a:lvl1pPr>
              <a:lnSpc>
                <a:spcPct val="80000"/>
              </a:lnSpc>
              <a:defRPr sz="8000" b="0"/>
            </a:lvl1pPr>
          </a:lstStyle>
          <a:p>
            <a:r>
              <a:rPr lang="en-US"/>
              <a:t>Click to edit Master title style</a:t>
            </a:r>
            <a:endParaRPr lang="en-US" dirty="0"/>
          </a:p>
        </p:txBody>
      </p:sp>
      <p:sp>
        <p:nvSpPr>
          <p:cNvPr id="3" name="Text Placeholder 2"/>
          <p:cNvSpPr>
            <a:spLocks noGrp="1"/>
          </p:cNvSpPr>
          <p:nvPr>
            <p:ph type="body" idx="1"/>
          </p:nvPr>
        </p:nvSpPr>
        <p:spPr>
          <a:xfrm>
            <a:off x="2165774" y="5020056"/>
            <a:ext cx="9052560" cy="1066800"/>
          </a:xfrm>
        </p:spPr>
        <p:txBody>
          <a:bodyPr anchor="t">
            <a:normAutofit/>
          </a:bodyPr>
          <a:lstStyle>
            <a:lvl1pPr marL="0" indent="0">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593667" y="6272784"/>
            <a:ext cx="2644309" cy="365125"/>
          </a:xfrm>
        </p:spPr>
        <p:txBody>
          <a:bodyPr/>
          <a:lstStyle/>
          <a:p>
            <a:fld id="{ED66F110-27CC-43FE-9D93-B9CED2BD758E}" type="datetimeFigureOut">
              <a:rPr lang="en-US" smtClean="0"/>
              <a:t>10/17/2025</a:t>
            </a:fld>
            <a:endParaRPr lang="en-US"/>
          </a:p>
        </p:txBody>
      </p:sp>
      <p:sp>
        <p:nvSpPr>
          <p:cNvPr id="5" name="Footer Placeholder 4"/>
          <p:cNvSpPr>
            <a:spLocks noGrp="1"/>
          </p:cNvSpPr>
          <p:nvPr>
            <p:ph type="ftr" sz="quarter" idx="11"/>
          </p:nvPr>
        </p:nvSpPr>
        <p:spPr>
          <a:xfrm>
            <a:off x="2182708" y="6272784"/>
            <a:ext cx="6327648" cy="365125"/>
          </a:xfrm>
        </p:spPr>
        <p:txBody>
          <a:bodyPr/>
          <a:lstStyle/>
          <a:p>
            <a:endParaRPr lang="en-US"/>
          </a:p>
        </p:txBody>
      </p:sp>
      <p:grpSp>
        <p:nvGrpSpPr>
          <p:cNvPr id="8" name="Group 7"/>
          <p:cNvGrpSpPr/>
          <p:nvPr/>
        </p:nvGrpSpPr>
        <p:grpSpPr>
          <a:xfrm>
            <a:off x="897399" y="2325848"/>
            <a:ext cx="1080904" cy="1080902"/>
            <a:chOff x="9685338" y="4460675"/>
            <a:chExt cx="1080904" cy="1080902"/>
          </a:xfrm>
        </p:grpSpPr>
        <p:sp>
          <p:nvSpPr>
            <p:cNvPr id="9" name="Oval 8"/>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0" name="Oval 9"/>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6" name="Slide Number Placeholder 5"/>
          <p:cNvSpPr>
            <a:spLocks noGrp="1"/>
          </p:cNvSpPr>
          <p:nvPr>
            <p:ph type="sldNum" sz="quarter" idx="12"/>
          </p:nvPr>
        </p:nvSpPr>
        <p:spPr>
          <a:xfrm>
            <a:off x="843702" y="2506133"/>
            <a:ext cx="1188298" cy="720332"/>
          </a:xfrm>
        </p:spPr>
        <p:txBody>
          <a:bodyPr/>
          <a:lstStyle>
            <a:lvl1pPr>
              <a:defRPr sz="2800"/>
            </a:lvl1pPr>
          </a:lstStyle>
          <a:p>
            <a:fld id="{B82F23D7-591B-493D-B010-BA5ED11E50F1}" type="slidenum">
              <a:rPr lang="en-US" smtClean="0"/>
              <a:t>‹#›</a:t>
            </a:fld>
            <a:endParaRPr lang="en-US"/>
          </a:p>
        </p:txBody>
      </p:sp>
    </p:spTree>
    <p:extLst>
      <p:ext uri="{BB962C8B-B14F-4D97-AF65-F5344CB8AC3E}">
        <p14:creationId xmlns:p14="http://schemas.microsoft.com/office/powerpoint/2010/main" val="39511243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9848"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64224"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D66F110-27CC-43FE-9D93-B9CED2BD758E}" type="datetimeFigureOut">
              <a:rPr lang="en-US" smtClean="0"/>
              <a:t>10/17/2025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82F23D7-591B-493D-B010-BA5ED11E50F1}" type="slidenum">
              <a:rPr lang="en-US" smtClean="0"/>
              <a:t>‹#›</a:t>
            </a:fld>
            <a:endParaRPr lang="en-US"/>
          </a:p>
        </p:txBody>
      </p:sp>
    </p:spTree>
    <p:extLst>
      <p:ext uri="{BB962C8B-B14F-4D97-AF65-F5344CB8AC3E}">
        <p14:creationId xmlns:p14="http://schemas.microsoft.com/office/powerpoint/2010/main" val="20451398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66800"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69848"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64224"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64224"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D66F110-27CC-43FE-9D93-B9CED2BD758E}" type="datetimeFigureOut">
              <a:rPr lang="en-US" smtClean="0"/>
              <a:t>10/17/2025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82F23D7-591B-493D-B010-BA5ED11E50F1}" type="slidenum">
              <a:rPr lang="en-US" smtClean="0"/>
              <a:t>‹#›</a:t>
            </a:fld>
            <a:endParaRPr lang="en-US"/>
          </a:p>
        </p:txBody>
      </p:sp>
    </p:spTree>
    <p:extLst>
      <p:ext uri="{BB962C8B-B14F-4D97-AF65-F5344CB8AC3E}">
        <p14:creationId xmlns:p14="http://schemas.microsoft.com/office/powerpoint/2010/main" val="16740476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D66F110-27CC-43FE-9D93-B9CED2BD758E}" type="datetimeFigureOut">
              <a:rPr lang="en-US" smtClean="0"/>
              <a:t>10/17/2025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82F23D7-591B-493D-B010-BA5ED11E50F1}" type="slidenum">
              <a:rPr lang="en-US" smtClean="0"/>
              <a:t>‹#›</a:t>
            </a:fld>
            <a:endParaRPr lang="en-US"/>
          </a:p>
        </p:txBody>
      </p:sp>
    </p:spTree>
    <p:extLst>
      <p:ext uri="{BB962C8B-B14F-4D97-AF65-F5344CB8AC3E}">
        <p14:creationId xmlns:p14="http://schemas.microsoft.com/office/powerpoint/2010/main" val="5861543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D66F110-27CC-43FE-9D93-B9CED2BD758E}" type="datetimeFigureOut">
              <a:rPr lang="en-US" smtClean="0"/>
              <a:t>10/17/2025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82F23D7-591B-493D-B010-BA5ED11E50F1}" type="slidenum">
              <a:rPr lang="en-US" smtClean="0"/>
              <a:t>‹#›</a:t>
            </a:fld>
            <a:endParaRPr lang="en-US"/>
          </a:p>
        </p:txBody>
      </p:sp>
    </p:spTree>
    <p:extLst>
      <p:ext uri="{BB962C8B-B14F-4D97-AF65-F5344CB8AC3E}">
        <p14:creationId xmlns:p14="http://schemas.microsoft.com/office/powerpoint/2010/main" val="15711577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Content Placeholder 2"/>
          <p:cNvSpPr>
            <a:spLocks noGrp="1"/>
          </p:cNvSpPr>
          <p:nvPr>
            <p:ph idx="1"/>
          </p:nvPr>
        </p:nvSpPr>
        <p:spPr>
          <a:xfrm>
            <a:off x="838200" y="685800"/>
            <a:ext cx="6711696" cy="5020056"/>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D66F110-27CC-43FE-9D93-B9CED2BD758E}" type="datetimeFigureOut">
              <a:rPr lang="en-US" smtClean="0"/>
              <a:t>10/17/2025</a:t>
            </a:fld>
            <a:endParaRPr lang="en-US"/>
          </a:p>
        </p:txBody>
      </p:sp>
      <p:sp>
        <p:nvSpPr>
          <p:cNvPr id="6" name="Footer Placeholder 5"/>
          <p:cNvSpPr>
            <a:spLocks noGrp="1"/>
          </p:cNvSpPr>
          <p:nvPr>
            <p:ph type="ftr" sz="quarter" idx="11"/>
          </p:nvPr>
        </p:nvSpPr>
        <p:spPr/>
        <p:txBody>
          <a:bodyPr/>
          <a:lstStyle/>
          <a:p>
            <a:endParaRPr lang="en-US"/>
          </a:p>
        </p:txBody>
      </p:sp>
      <p:grpSp>
        <p:nvGrpSpPr>
          <p:cNvPr id="9" name="Group 8"/>
          <p:cNvGrpSpPr>
            <a:grpSpLocks noChangeAspect="1"/>
          </p:cNvGrpSpPr>
          <p:nvPr/>
        </p:nvGrpSpPr>
        <p:grpSpPr>
          <a:xfrm>
            <a:off x="11401725" y="6229681"/>
            <a:ext cx="457200" cy="457200"/>
            <a:chOff x="11361456" y="6195813"/>
            <a:chExt cx="548640" cy="548640"/>
          </a:xfrm>
        </p:grpSpPr>
        <p:sp>
          <p:nvSpPr>
            <p:cNvPr id="10" name="Oval 9"/>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1" name="Oval 10"/>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B82F23D7-591B-493D-B010-BA5ED11E50F1}" type="slidenum">
              <a:rPr lang="en-US" smtClean="0"/>
              <a:t>‹#›</a:t>
            </a:fld>
            <a:endParaRPr lang="en-US"/>
          </a:p>
        </p:txBody>
      </p:sp>
    </p:spTree>
    <p:extLst>
      <p:ext uri="{BB962C8B-B14F-4D97-AF65-F5344CB8AC3E}">
        <p14:creationId xmlns:p14="http://schemas.microsoft.com/office/powerpoint/2010/main" val="35529049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Rectangle 10"/>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8303740" cy="6858000"/>
          </a:xfrm>
          <a:solidFill>
            <a:schemeClr val="tx2">
              <a:lumMod val="20000"/>
              <a:lumOff val="80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D66F110-27CC-43FE-9D93-B9CED2BD758E}" type="datetimeFigureOut">
              <a:rPr lang="en-US" smtClean="0"/>
              <a:t>10/17/2025</a:t>
            </a:fld>
            <a:endParaRPr lang="en-US"/>
          </a:p>
        </p:txBody>
      </p:sp>
      <p:grpSp>
        <p:nvGrpSpPr>
          <p:cNvPr id="8" name="Group 7"/>
          <p:cNvGrpSpPr>
            <a:grpSpLocks noChangeAspect="1"/>
          </p:cNvGrpSpPr>
          <p:nvPr/>
        </p:nvGrpSpPr>
        <p:grpSpPr>
          <a:xfrm>
            <a:off x="11401725" y="6229681"/>
            <a:ext cx="457200" cy="457200"/>
            <a:chOff x="11361456" y="6195813"/>
            <a:chExt cx="548640" cy="548640"/>
          </a:xfrm>
        </p:grpSpPr>
        <p:sp>
          <p:nvSpPr>
            <p:cNvPr id="9" name="Oval 8"/>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0" name="Oval 9"/>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B82F23D7-591B-493D-B010-BA5ED11E50F1}" type="slidenum">
              <a:rPr lang="en-US" smtClean="0"/>
              <a:t>‹#›</a:t>
            </a:fld>
            <a:endParaRPr lang="en-US"/>
          </a:p>
        </p:txBody>
      </p:sp>
    </p:spTree>
    <p:extLst>
      <p:ext uri="{BB962C8B-B14F-4D97-AF65-F5344CB8AC3E}">
        <p14:creationId xmlns:p14="http://schemas.microsoft.com/office/powerpoint/2010/main" val="40041391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D66F110-27CC-43FE-9D93-B9CED2BD758E}" type="datetimeFigureOut">
              <a:rPr lang="en-US" smtClean="0"/>
              <a:t>10/17/2025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F23D7-591B-493D-B010-BA5ED11E50F1}" type="slidenum">
              <a:rPr lang="en-US" smtClean="0"/>
              <a:t>‹#›</a:t>
            </a:fld>
            <a:endParaRPr lang="en-US"/>
          </a:p>
        </p:txBody>
      </p:sp>
    </p:spTree>
    <p:extLst>
      <p:ext uri="{BB962C8B-B14F-4D97-AF65-F5344CB8AC3E}">
        <p14:creationId xmlns:p14="http://schemas.microsoft.com/office/powerpoint/2010/main" val="36983424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533400"/>
            <a:ext cx="2552700" cy="56388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066800" y="533400"/>
            <a:ext cx="7505700" cy="5638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D66F110-27CC-43FE-9D93-B9CED2BD758E}" type="datetimeFigureOut">
              <a:rPr lang="en-US" smtClean="0"/>
              <a:t>10/17/2025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F23D7-591B-493D-B010-BA5ED11E50F1}" type="slidenum">
              <a:rPr lang="en-US" smtClean="0"/>
              <a:t>‹#›</a:t>
            </a:fld>
            <a:endParaRPr lang="en-US"/>
          </a:p>
        </p:txBody>
      </p:sp>
    </p:spTree>
    <p:extLst>
      <p:ext uri="{BB962C8B-B14F-4D97-AF65-F5344CB8AC3E}">
        <p14:creationId xmlns:p14="http://schemas.microsoft.com/office/powerpoint/2010/main" val="15922626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microsoft.com/office/2007/relationships/hdphoto" Target="../media/hdphoto1.wdp"/></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69848" y="484632"/>
            <a:ext cx="10058400" cy="1609344"/>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9848" y="2121408"/>
            <a:ext cx="10058400" cy="405079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964424" y="6272784"/>
            <a:ext cx="3273552" cy="365125"/>
          </a:xfrm>
          <a:prstGeom prst="rect">
            <a:avLst/>
          </a:prstGeom>
        </p:spPr>
        <p:txBody>
          <a:bodyPr vert="horz" lIns="91440" tIns="45720" rIns="91440" bIns="45720" rtlCol="0" anchor="ctr"/>
          <a:lstStyle>
            <a:lvl1pPr algn="r">
              <a:defRPr sz="1100">
                <a:solidFill>
                  <a:schemeClr val="tx2"/>
                </a:solidFill>
              </a:defRPr>
            </a:lvl1pPr>
          </a:lstStyle>
          <a:p>
            <a:fld id="{ED66F110-27CC-43FE-9D93-B9CED2BD758E}" type="datetimeFigureOut">
              <a:rPr lang="en-US" smtClean="0"/>
              <a:t>10/17/2025</a:t>
            </a:fld>
            <a:endParaRPr lang="en-US"/>
          </a:p>
        </p:txBody>
      </p:sp>
      <p:sp>
        <p:nvSpPr>
          <p:cNvPr id="5" name="Footer Placeholder 4"/>
          <p:cNvSpPr>
            <a:spLocks noGrp="1"/>
          </p:cNvSpPr>
          <p:nvPr>
            <p:ph type="ftr" sz="quarter" idx="3"/>
          </p:nvPr>
        </p:nvSpPr>
        <p:spPr>
          <a:xfrm>
            <a:off x="1088136" y="6272784"/>
            <a:ext cx="6327648" cy="365125"/>
          </a:xfrm>
          <a:prstGeom prst="rect">
            <a:avLst/>
          </a:prstGeom>
        </p:spPr>
        <p:txBody>
          <a:bodyPr vert="horz" lIns="91440" tIns="45720" rIns="91440" bIns="45720" rtlCol="0" anchor="ctr"/>
          <a:lstStyle>
            <a:lvl1pPr algn="l">
              <a:defRPr sz="1100">
                <a:solidFill>
                  <a:schemeClr val="tx2"/>
                </a:solidFill>
              </a:defRPr>
            </a:lvl1pPr>
          </a:lstStyle>
          <a:p>
            <a:endParaRPr lang="en-US"/>
          </a:p>
        </p:txBody>
      </p:sp>
      <p:grpSp>
        <p:nvGrpSpPr>
          <p:cNvPr id="7" name="Group 6"/>
          <p:cNvGrpSpPr>
            <a:grpSpLocks noChangeAspect="1"/>
          </p:cNvGrpSpPr>
          <p:nvPr/>
        </p:nvGrpSpPr>
        <p:grpSpPr>
          <a:xfrm>
            <a:off x="11401725" y="6229681"/>
            <a:ext cx="457200" cy="457200"/>
            <a:chOff x="11361456" y="6195813"/>
            <a:chExt cx="548640" cy="548640"/>
          </a:xfrm>
        </p:grpSpPr>
        <p:sp>
          <p:nvSpPr>
            <p:cNvPr id="8" name="Oval 7"/>
            <p:cNvSpPr/>
            <p:nvPr/>
          </p:nvSpPr>
          <p:spPr>
            <a:xfrm>
              <a:off x="11361456" y="6195813"/>
              <a:ext cx="548640" cy="548640"/>
            </a:xfrm>
            <a:prstGeom prst="ellipse">
              <a:avLst/>
            </a:prstGeom>
            <a:blipFill dpi="0" rotWithShape="1">
              <a:blip r:embed="rId13">
                <a:duotone>
                  <a:schemeClr val="accent1">
                    <a:shade val="45000"/>
                    <a:satMod val="135000"/>
                  </a:schemeClr>
                  <a:prstClr val="white"/>
                </a:duotone>
                <a:extLst>
                  <a:ext uri="{BEBA8EAE-BF5A-486C-A8C5-ECC9F3942E4B}">
                    <a14:imgProps xmlns:a14="http://schemas.microsoft.com/office/drawing/2010/main">
                      <a14:imgLayer r:embed="rId14">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9" name="Oval 8"/>
            <p:cNvSpPr/>
            <p:nvPr/>
          </p:nvSpPr>
          <p:spPr>
            <a:xfrm>
              <a:off x="11396488" y="6230844"/>
              <a:ext cx="478576" cy="478578"/>
            </a:xfrm>
            <a:prstGeom prst="ellipse">
              <a:avLst/>
            </a:prstGeom>
            <a:noFill/>
            <a:ln w="12700" cap="flat" cmpd="sng" algn="ctr">
              <a:solidFill>
                <a:srgbClr val="FFFFFF"/>
              </a:solidFill>
              <a:prstDash val="solid"/>
            </a:ln>
            <a:effectLst/>
          </p:spPr>
        </p:sp>
      </p:grpSp>
      <p:sp>
        <p:nvSpPr>
          <p:cNvPr id="6" name="Slide Number Placeholder 5"/>
          <p:cNvSpPr>
            <a:spLocks noGrp="1"/>
          </p:cNvSpPr>
          <p:nvPr>
            <p:ph type="sldNum" sz="quarter" idx="4"/>
          </p:nvPr>
        </p:nvSpPr>
        <p:spPr>
          <a:xfrm>
            <a:off x="11311128" y="6272784"/>
            <a:ext cx="640080" cy="365125"/>
          </a:xfrm>
          <a:prstGeom prst="rect">
            <a:avLst/>
          </a:prstGeom>
        </p:spPr>
        <p:txBody>
          <a:bodyPr vert="horz" lIns="91440" tIns="45720" rIns="91440" bIns="45720" rtlCol="0" anchor="ctr"/>
          <a:lstStyle>
            <a:lvl1pPr algn="ctr">
              <a:defRPr sz="1400" b="1">
                <a:solidFill>
                  <a:srgbClr val="FFFFFF"/>
                </a:solidFill>
                <a:latin typeface="+mj-lt"/>
              </a:defRPr>
            </a:lvl1pPr>
          </a:lstStyle>
          <a:p>
            <a:fld id="{B82F23D7-591B-493D-B010-BA5ED11E50F1}" type="slidenum">
              <a:rPr lang="en-US" smtClean="0"/>
              <a:t>‹#›</a:t>
            </a:fld>
            <a:endParaRPr lang="en-US"/>
          </a:p>
        </p:txBody>
      </p:sp>
    </p:spTree>
    <p:extLst>
      <p:ext uri="{BB962C8B-B14F-4D97-AF65-F5344CB8AC3E}">
        <p14:creationId xmlns:p14="http://schemas.microsoft.com/office/powerpoint/2010/main" val="300374644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5400" kern="1200" cap="all" baseline="0">
          <a:blipFill>
            <a:blip r:embed="rId15">
              <a:extLst>
                <a:ext uri="{28A0092B-C50C-407E-A947-70E740481C1C}">
                  <a14:useLocalDpi xmlns:a14="http://schemas.microsoft.com/office/drawing/2010/main" val="0"/>
                </a:ext>
              </a:extLst>
            </a:blip>
            <a:tile tx="6350" ty="-127000" sx="65000" sy="64000" flip="none" algn="tl"/>
          </a:blip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hyperlink" Target="https://developer.mozilla.org/en-US/docs/Web/API/KeyboardEvent/key" TargetMode="Externa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7CB0E7-697D-404E-AC86-C101D5AF4BEE}"/>
              </a:ext>
            </a:extLst>
          </p:cNvPr>
          <p:cNvSpPr>
            <a:spLocks noGrp="1"/>
          </p:cNvSpPr>
          <p:nvPr>
            <p:ph type="ctrTitle"/>
          </p:nvPr>
        </p:nvSpPr>
        <p:spPr>
          <a:xfrm>
            <a:off x="733647" y="1432223"/>
            <a:ext cx="10388505" cy="3035808"/>
          </a:xfrm>
        </p:spPr>
        <p:txBody>
          <a:bodyPr/>
          <a:lstStyle/>
          <a:p>
            <a:r>
              <a:rPr lang="en-US" dirty="0"/>
              <a:t>The </a:t>
            </a:r>
            <a:r>
              <a:rPr lang="en-US" dirty="0" err="1"/>
              <a:t>BANANAade</a:t>
            </a:r>
            <a:r>
              <a:rPr lang="en-US" dirty="0"/>
              <a:t> Stand</a:t>
            </a:r>
          </a:p>
        </p:txBody>
      </p:sp>
      <p:sp>
        <p:nvSpPr>
          <p:cNvPr id="3" name="Subtitle 2">
            <a:extLst>
              <a:ext uri="{FF2B5EF4-FFF2-40B4-BE49-F238E27FC236}">
                <a16:creationId xmlns:a16="http://schemas.microsoft.com/office/drawing/2014/main" id="{05BCEB19-E007-441F-BB5E-F5B9AF2E359E}"/>
              </a:ext>
            </a:extLst>
          </p:cNvPr>
          <p:cNvSpPr>
            <a:spLocks noGrp="1"/>
          </p:cNvSpPr>
          <p:nvPr>
            <p:ph type="subTitle" idx="1"/>
          </p:nvPr>
        </p:nvSpPr>
        <p:spPr/>
        <p:txBody>
          <a:bodyPr/>
          <a:lstStyle/>
          <a:p>
            <a:r>
              <a:rPr lang="en-US" dirty="0"/>
              <a:t>An example </a:t>
            </a:r>
          </a:p>
        </p:txBody>
      </p:sp>
    </p:spTree>
    <p:extLst>
      <p:ext uri="{BB962C8B-B14F-4D97-AF65-F5344CB8AC3E}">
        <p14:creationId xmlns:p14="http://schemas.microsoft.com/office/powerpoint/2010/main" val="38046302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6C5876-1C67-45B3-AF67-FE37896433E5}"/>
              </a:ext>
            </a:extLst>
          </p:cNvPr>
          <p:cNvSpPr>
            <a:spLocks noGrp="1"/>
          </p:cNvSpPr>
          <p:nvPr>
            <p:ph type="title"/>
          </p:nvPr>
        </p:nvSpPr>
        <p:spPr>
          <a:xfrm>
            <a:off x="838200" y="18255"/>
            <a:ext cx="10515600" cy="1325563"/>
          </a:xfrm>
        </p:spPr>
        <p:txBody>
          <a:bodyPr/>
          <a:lstStyle/>
          <a:p>
            <a:r>
              <a:rPr lang="en-US" dirty="0"/>
              <a:t>JavaScript is Complex</a:t>
            </a:r>
          </a:p>
        </p:txBody>
      </p:sp>
      <p:sp>
        <p:nvSpPr>
          <p:cNvPr id="3" name="Content Placeholder 2">
            <a:extLst>
              <a:ext uri="{FF2B5EF4-FFF2-40B4-BE49-F238E27FC236}">
                <a16:creationId xmlns:a16="http://schemas.microsoft.com/office/drawing/2014/main" id="{4562B709-AF03-426D-A0AD-963795B34E9E}"/>
              </a:ext>
            </a:extLst>
          </p:cNvPr>
          <p:cNvSpPr>
            <a:spLocks noGrp="1"/>
          </p:cNvSpPr>
          <p:nvPr>
            <p:ph idx="1"/>
          </p:nvPr>
        </p:nvSpPr>
        <p:spPr>
          <a:xfrm>
            <a:off x="838200" y="1253331"/>
            <a:ext cx="10515600" cy="4351338"/>
          </a:xfrm>
        </p:spPr>
        <p:txBody>
          <a:bodyPr>
            <a:normAutofit/>
          </a:bodyPr>
          <a:lstStyle/>
          <a:p>
            <a:r>
              <a:rPr lang="en-US" dirty="0"/>
              <a:t>JavaScript programs can be pretty complex.</a:t>
            </a:r>
          </a:p>
          <a:p>
            <a:r>
              <a:rPr lang="en-US" dirty="0"/>
              <a:t>There are a lot of floating pieces that must be assembled perfectly.</a:t>
            </a:r>
          </a:p>
          <a:p>
            <a:r>
              <a:rPr lang="en-US" dirty="0"/>
              <a:t>The syntax is hard</a:t>
            </a:r>
          </a:p>
          <a:p>
            <a:r>
              <a:rPr lang="en-US" dirty="0"/>
              <a:t>Everything must be spelled exactly</a:t>
            </a:r>
          </a:p>
          <a:p>
            <a:r>
              <a:rPr lang="en-US" dirty="0"/>
              <a:t>JavaScript has some weird issues like using this as a keyword.</a:t>
            </a:r>
          </a:p>
          <a:p>
            <a:r>
              <a:rPr lang="en-US" dirty="0"/>
              <a:t>I'm going to walk you through some things you can do with JavaScript.</a:t>
            </a:r>
          </a:p>
          <a:p>
            <a:r>
              <a:rPr lang="en-US" dirty="0"/>
              <a:t>Hopefully, it will help you see how the different pieces come together.</a:t>
            </a:r>
          </a:p>
          <a:p>
            <a:r>
              <a:rPr lang="en-US" dirty="0"/>
              <a:t>Most of this is simple.  But if you are new, getting the pieces to fit can be cumbersome to say the least.</a:t>
            </a:r>
          </a:p>
          <a:p>
            <a:endParaRPr lang="en-US" dirty="0"/>
          </a:p>
        </p:txBody>
      </p:sp>
    </p:spTree>
    <p:extLst>
      <p:ext uri="{BB962C8B-B14F-4D97-AF65-F5344CB8AC3E}">
        <p14:creationId xmlns:p14="http://schemas.microsoft.com/office/powerpoint/2010/main" val="38083931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BC064B-1B43-4600-A5B3-EBF899CB859D}"/>
              </a:ext>
            </a:extLst>
          </p:cNvPr>
          <p:cNvSpPr>
            <a:spLocks noGrp="1"/>
          </p:cNvSpPr>
          <p:nvPr>
            <p:ph type="title"/>
          </p:nvPr>
        </p:nvSpPr>
        <p:spPr>
          <a:xfrm>
            <a:off x="1069848" y="213169"/>
            <a:ext cx="10058400" cy="1003926"/>
          </a:xfrm>
        </p:spPr>
        <p:txBody>
          <a:bodyPr/>
          <a:lstStyle/>
          <a:p>
            <a:r>
              <a:rPr lang="en-US" dirty="0"/>
              <a:t>Setting up 1</a:t>
            </a:r>
          </a:p>
        </p:txBody>
      </p:sp>
      <p:sp>
        <p:nvSpPr>
          <p:cNvPr id="3" name="Content Placeholder 2">
            <a:extLst>
              <a:ext uri="{FF2B5EF4-FFF2-40B4-BE49-F238E27FC236}">
                <a16:creationId xmlns:a16="http://schemas.microsoft.com/office/drawing/2014/main" id="{A8129F53-2790-4F39-AC32-72A3E0CD080D}"/>
              </a:ext>
            </a:extLst>
          </p:cNvPr>
          <p:cNvSpPr>
            <a:spLocks noGrp="1"/>
          </p:cNvSpPr>
          <p:nvPr>
            <p:ph idx="1"/>
          </p:nvPr>
        </p:nvSpPr>
        <p:spPr>
          <a:xfrm>
            <a:off x="1069848" y="1217095"/>
            <a:ext cx="10058400" cy="4955105"/>
          </a:xfrm>
        </p:spPr>
        <p:txBody>
          <a:bodyPr>
            <a:normAutofit fontScale="92500" lnSpcReduction="10000"/>
          </a:bodyPr>
          <a:lstStyle/>
          <a:p>
            <a:r>
              <a:rPr lang="en-US" dirty="0"/>
              <a:t>We are going to start with exercise 19.  </a:t>
            </a:r>
          </a:p>
          <a:p>
            <a:r>
              <a:rPr lang="en-US" dirty="0"/>
              <a:t>If you didn't get exercise 19 going, shame on you.  This is going to be tough for you.</a:t>
            </a:r>
          </a:p>
          <a:p>
            <a:r>
              <a:rPr lang="en-US" dirty="0"/>
              <a:t>Copy your exercise 19 files and name them for exercise 20.</a:t>
            </a:r>
          </a:p>
          <a:p>
            <a:r>
              <a:rPr lang="en-US" dirty="0"/>
              <a:t>Make sure to change the links in your HTML file.</a:t>
            </a:r>
          </a:p>
          <a:p>
            <a:r>
              <a:rPr lang="en-US" dirty="0"/>
              <a:t>Add some fields to your </a:t>
            </a:r>
            <a:r>
              <a:rPr lang="en-US" dirty="0" err="1"/>
              <a:t>BananaadeStand</a:t>
            </a:r>
            <a:r>
              <a:rPr lang="en-US" dirty="0"/>
              <a:t> for minimum number each ingredient needed to make </a:t>
            </a:r>
            <a:r>
              <a:rPr lang="en-US" dirty="0" err="1"/>
              <a:t>bananaade</a:t>
            </a:r>
            <a:r>
              <a:rPr lang="en-US" dirty="0"/>
              <a:t> (6 bananas, 1 gallon of water, 1 cup of sugar, 8 empty glasses)</a:t>
            </a:r>
          </a:p>
          <a:p>
            <a:r>
              <a:rPr lang="en-US" dirty="0"/>
              <a:t>Your </a:t>
            </a:r>
            <a:r>
              <a:rPr lang="en-US" dirty="0" err="1"/>
              <a:t>BananaadeStand</a:t>
            </a:r>
            <a:r>
              <a:rPr lang="en-US" dirty="0"/>
              <a:t> class should only have the following methods:</a:t>
            </a:r>
          </a:p>
          <a:p>
            <a:pPr lvl="1"/>
            <a:r>
              <a:rPr lang="en-US" dirty="0"/>
              <a:t>constructor</a:t>
            </a:r>
          </a:p>
          <a:p>
            <a:pPr lvl="1"/>
            <a:r>
              <a:rPr lang="en-US" dirty="0" err="1"/>
              <a:t>makeBananaade</a:t>
            </a:r>
            <a:endParaRPr lang="en-US" dirty="0"/>
          </a:p>
          <a:p>
            <a:pPr lvl="1"/>
            <a:r>
              <a:rPr lang="en-US" dirty="0" err="1"/>
              <a:t>sellBananaade</a:t>
            </a:r>
            <a:endParaRPr lang="en-US" dirty="0"/>
          </a:p>
          <a:p>
            <a:pPr lvl="1"/>
            <a:r>
              <a:rPr lang="en-US" dirty="0" err="1"/>
              <a:t>showIngredients</a:t>
            </a:r>
            <a:endParaRPr lang="en-US" dirty="0"/>
          </a:p>
          <a:p>
            <a:pPr lvl="1"/>
            <a:r>
              <a:rPr lang="en-US" dirty="0" err="1"/>
              <a:t>showAdmin</a:t>
            </a:r>
            <a:endParaRPr lang="en-US" dirty="0"/>
          </a:p>
          <a:p>
            <a:pPr lvl="1"/>
            <a:r>
              <a:rPr lang="en-US" dirty="0" err="1"/>
              <a:t>sellMoreBananaade</a:t>
            </a:r>
            <a:endParaRPr lang="en-US" dirty="0"/>
          </a:p>
          <a:p>
            <a:pPr lvl="1"/>
            <a:r>
              <a:rPr lang="en-US" dirty="0"/>
              <a:t>and any helper methods you may have used for the above methods.</a:t>
            </a:r>
          </a:p>
          <a:p>
            <a:r>
              <a:rPr lang="en-US" dirty="0"/>
              <a:t>Copy the two image files from AsULearn into your images folder.</a:t>
            </a:r>
          </a:p>
        </p:txBody>
      </p:sp>
    </p:spTree>
    <p:extLst>
      <p:ext uri="{BB962C8B-B14F-4D97-AF65-F5344CB8AC3E}">
        <p14:creationId xmlns:p14="http://schemas.microsoft.com/office/powerpoint/2010/main" val="32824875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1BDAD9-0B1C-4C24-933A-DD3A59F9AEAF}"/>
              </a:ext>
            </a:extLst>
          </p:cNvPr>
          <p:cNvSpPr>
            <a:spLocks noGrp="1"/>
          </p:cNvSpPr>
          <p:nvPr>
            <p:ph type="title"/>
          </p:nvPr>
        </p:nvSpPr>
        <p:spPr>
          <a:xfrm>
            <a:off x="718974" y="90667"/>
            <a:ext cx="10058400" cy="1609344"/>
          </a:xfrm>
        </p:spPr>
        <p:txBody>
          <a:bodyPr/>
          <a:lstStyle/>
          <a:p>
            <a:r>
              <a:rPr lang="en-US" dirty="0"/>
              <a:t>Setting up 2</a:t>
            </a:r>
          </a:p>
        </p:txBody>
      </p:sp>
      <p:sp>
        <p:nvSpPr>
          <p:cNvPr id="3" name="Content Placeholder 2">
            <a:extLst>
              <a:ext uri="{FF2B5EF4-FFF2-40B4-BE49-F238E27FC236}">
                <a16:creationId xmlns:a16="http://schemas.microsoft.com/office/drawing/2014/main" id="{D7FE08B9-A3D3-4588-8CA5-36D44C0F13E4}"/>
              </a:ext>
            </a:extLst>
          </p:cNvPr>
          <p:cNvSpPr>
            <a:spLocks noGrp="1"/>
          </p:cNvSpPr>
          <p:nvPr>
            <p:ph idx="1"/>
          </p:nvPr>
        </p:nvSpPr>
        <p:spPr>
          <a:xfrm>
            <a:off x="566669" y="1700011"/>
            <a:ext cx="6864441" cy="4472189"/>
          </a:xfrm>
        </p:spPr>
        <p:txBody>
          <a:bodyPr>
            <a:normAutofit fontScale="92500" lnSpcReduction="10000"/>
          </a:bodyPr>
          <a:lstStyle/>
          <a:p>
            <a:r>
              <a:rPr lang="en-US" dirty="0"/>
              <a:t>Delete everything out of the body of your HTML page.  </a:t>
            </a:r>
          </a:p>
          <a:p>
            <a:r>
              <a:rPr lang="en-US" dirty="0"/>
              <a:t>Delete everything out of your CSS file. </a:t>
            </a:r>
          </a:p>
          <a:p>
            <a:r>
              <a:rPr lang="en-US" dirty="0"/>
              <a:t>Make your test function an </a:t>
            </a:r>
            <a:r>
              <a:rPr lang="en-US" dirty="0" err="1"/>
              <a:t>init</a:t>
            </a:r>
            <a:r>
              <a:rPr lang="en-US" dirty="0"/>
              <a:t> function that looks like the following.  Make sure ls is a global variable.</a:t>
            </a:r>
          </a:p>
          <a:p>
            <a:endParaRPr lang="en-US" dirty="0"/>
          </a:p>
          <a:p>
            <a:pPr marL="0" indent="0">
              <a:buNone/>
            </a:pPr>
            <a:r>
              <a:rPr lang="en-US" dirty="0"/>
              <a:t>     let ls = new </a:t>
            </a:r>
            <a:r>
              <a:rPr lang="en-US" dirty="0" err="1"/>
              <a:t>BananaadeStand</a:t>
            </a:r>
            <a:r>
              <a:rPr lang="en-US" dirty="0"/>
              <a:t>(20,10,10,10, 2.0);</a:t>
            </a:r>
          </a:p>
          <a:p>
            <a:pPr marL="274320" lvl="1" indent="0">
              <a:buNone/>
            </a:pPr>
            <a:r>
              <a:rPr lang="en-US" sz="1600" dirty="0"/>
              <a:t> </a:t>
            </a:r>
            <a:r>
              <a:rPr lang="en-US" dirty="0"/>
              <a:t>function </a:t>
            </a:r>
            <a:r>
              <a:rPr lang="en-US" dirty="0" err="1"/>
              <a:t>init</a:t>
            </a:r>
            <a:r>
              <a:rPr lang="en-US" dirty="0"/>
              <a:t>() {</a:t>
            </a:r>
          </a:p>
          <a:p>
            <a:pPr marL="274320" lvl="1" indent="0">
              <a:buNone/>
            </a:pPr>
            <a:r>
              <a:rPr lang="en-US" dirty="0"/>
              <a:t>	</a:t>
            </a:r>
            <a:r>
              <a:rPr lang="en-US" dirty="0" err="1"/>
              <a:t>ls.showAdmin</a:t>
            </a:r>
            <a:r>
              <a:rPr lang="en-US" dirty="0"/>
              <a:t>();  </a:t>
            </a:r>
          </a:p>
          <a:p>
            <a:pPr marL="274320" lvl="1" indent="0">
              <a:buNone/>
            </a:pPr>
            <a:r>
              <a:rPr lang="en-US" dirty="0"/>
              <a:t>	</a:t>
            </a:r>
            <a:r>
              <a:rPr lang="en-US" dirty="0" err="1"/>
              <a:t>ls.showIngredients</a:t>
            </a:r>
            <a:r>
              <a:rPr lang="en-US" dirty="0"/>
              <a:t>();  </a:t>
            </a:r>
          </a:p>
          <a:p>
            <a:pPr marL="274320" lvl="1" indent="0">
              <a:buNone/>
            </a:pPr>
            <a:r>
              <a:rPr lang="en-US" dirty="0"/>
              <a:t>}</a:t>
            </a:r>
          </a:p>
          <a:p>
            <a:pPr marL="274320" lvl="1" indent="0">
              <a:buNone/>
            </a:pPr>
            <a:r>
              <a:rPr lang="en-US" dirty="0" err="1"/>
              <a:t>init</a:t>
            </a:r>
            <a:r>
              <a:rPr lang="en-US" dirty="0"/>
              <a:t>();</a:t>
            </a:r>
          </a:p>
          <a:p>
            <a:r>
              <a:rPr lang="en-US" dirty="0"/>
              <a:t>If you did exercise 19 correctly you should have something that looks like the image to the right.</a:t>
            </a:r>
          </a:p>
        </p:txBody>
      </p:sp>
      <p:pic>
        <p:nvPicPr>
          <p:cNvPr id="6" name="Picture 5">
            <a:extLst>
              <a:ext uri="{FF2B5EF4-FFF2-40B4-BE49-F238E27FC236}">
                <a16:creationId xmlns:a16="http://schemas.microsoft.com/office/drawing/2014/main" id="{10671DC1-6CE0-4978-B448-9BB6B9F63792}"/>
              </a:ext>
            </a:extLst>
          </p:cNvPr>
          <p:cNvPicPr>
            <a:picLocks noChangeAspect="1"/>
          </p:cNvPicPr>
          <p:nvPr/>
        </p:nvPicPr>
        <p:blipFill>
          <a:blip r:embed="rId2"/>
          <a:stretch>
            <a:fillRect/>
          </a:stretch>
        </p:blipFill>
        <p:spPr>
          <a:xfrm>
            <a:off x="7583415" y="895339"/>
            <a:ext cx="3400425" cy="5248275"/>
          </a:xfrm>
          <a:prstGeom prst="rect">
            <a:avLst/>
          </a:prstGeom>
        </p:spPr>
      </p:pic>
    </p:spTree>
    <p:extLst>
      <p:ext uri="{BB962C8B-B14F-4D97-AF65-F5344CB8AC3E}">
        <p14:creationId xmlns:p14="http://schemas.microsoft.com/office/powerpoint/2010/main" val="21773073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7AA29F-AEE2-48FB-9055-9BE89E916301}"/>
              </a:ext>
            </a:extLst>
          </p:cNvPr>
          <p:cNvSpPr>
            <a:spLocks noGrp="1"/>
          </p:cNvSpPr>
          <p:nvPr>
            <p:ph type="title"/>
          </p:nvPr>
        </p:nvSpPr>
        <p:spPr>
          <a:xfrm>
            <a:off x="1066800" y="0"/>
            <a:ext cx="10058400" cy="1146220"/>
          </a:xfrm>
        </p:spPr>
        <p:txBody>
          <a:bodyPr/>
          <a:lstStyle/>
          <a:p>
            <a:r>
              <a:rPr lang="en-US" dirty="0"/>
              <a:t>More changes</a:t>
            </a:r>
          </a:p>
        </p:txBody>
      </p:sp>
      <p:sp>
        <p:nvSpPr>
          <p:cNvPr id="3" name="Content Placeholder 2">
            <a:extLst>
              <a:ext uri="{FF2B5EF4-FFF2-40B4-BE49-F238E27FC236}">
                <a16:creationId xmlns:a16="http://schemas.microsoft.com/office/drawing/2014/main" id="{9C85BB44-8B31-44FE-BE7F-1DD305D99B89}"/>
              </a:ext>
            </a:extLst>
          </p:cNvPr>
          <p:cNvSpPr>
            <a:spLocks noGrp="1"/>
          </p:cNvSpPr>
          <p:nvPr>
            <p:ph idx="1"/>
          </p:nvPr>
        </p:nvSpPr>
        <p:spPr>
          <a:xfrm>
            <a:off x="1069848" y="914400"/>
            <a:ext cx="5554236" cy="5257801"/>
          </a:xfrm>
        </p:spPr>
        <p:txBody>
          <a:bodyPr>
            <a:normAutofit fontScale="85000" lnSpcReduction="10000"/>
          </a:bodyPr>
          <a:lstStyle/>
          <a:p>
            <a:r>
              <a:rPr lang="en-US" dirty="0"/>
              <a:t>In your HTML file, add an h1 to the top of the body with text "The World's BEST </a:t>
            </a:r>
            <a:r>
              <a:rPr lang="en-US" dirty="0" err="1"/>
              <a:t>Bananaade</a:t>
            </a:r>
            <a:r>
              <a:rPr lang="en-US" dirty="0"/>
              <a:t>!"</a:t>
            </a:r>
          </a:p>
          <a:p>
            <a:r>
              <a:rPr lang="en-US" dirty="0"/>
              <a:t>In your JS file, change the Admin h1 </a:t>
            </a:r>
            <a:r>
              <a:rPr lang="en-US"/>
              <a:t>header into </a:t>
            </a:r>
            <a:r>
              <a:rPr lang="en-US" dirty="0"/>
              <a:t>an h2 header.</a:t>
            </a:r>
          </a:p>
          <a:p>
            <a:r>
              <a:rPr lang="en-US" dirty="0"/>
              <a:t>In your JS file, change the table caption so that it is an h2 header before the table. (Tricky) </a:t>
            </a:r>
          </a:p>
          <a:p>
            <a:r>
              <a:rPr lang="en-US" dirty="0"/>
              <a:t>In your JS file, change the above h2 to Inventory.</a:t>
            </a:r>
          </a:p>
          <a:p>
            <a:r>
              <a:rPr lang="en-US" dirty="0"/>
              <a:t>Add styles to CSS to put a one-pixel solid border around the articles. </a:t>
            </a:r>
          </a:p>
          <a:p>
            <a:pPr marL="0" indent="0">
              <a:buNone/>
            </a:pPr>
            <a:r>
              <a:rPr lang="en-US" dirty="0"/>
              <a:t>	article {border: </a:t>
            </a:r>
            <a:r>
              <a:rPr lang="en-US" dirty="0" err="1"/>
              <a:t>1px</a:t>
            </a:r>
            <a:r>
              <a:rPr lang="en-US" dirty="0"/>
              <a:t> solid black;}</a:t>
            </a:r>
          </a:p>
          <a:p>
            <a:r>
              <a:rPr lang="en-US" dirty="0"/>
              <a:t>Add styles to CSS to put a border on the ingredients table.</a:t>
            </a:r>
          </a:p>
          <a:p>
            <a:pPr marL="0" indent="0">
              <a:buNone/>
            </a:pPr>
            <a:r>
              <a:rPr lang="en-US" dirty="0"/>
              <a:t>	table, td {border: </a:t>
            </a:r>
            <a:r>
              <a:rPr lang="en-US" dirty="0" err="1"/>
              <a:t>1px</a:t>
            </a:r>
            <a:r>
              <a:rPr lang="en-US" dirty="0"/>
              <a:t> solid black;}</a:t>
            </a:r>
          </a:p>
          <a:p>
            <a:r>
              <a:rPr lang="en-US" dirty="0"/>
              <a:t>Throw in some padding and margins on the articles and table elements to get some separation.</a:t>
            </a:r>
          </a:p>
          <a:p>
            <a:r>
              <a:rPr lang="en-US" dirty="0"/>
              <a:t>It should look something like the image to the right at this point.</a:t>
            </a:r>
          </a:p>
          <a:p>
            <a:endParaRPr lang="en-US" dirty="0"/>
          </a:p>
        </p:txBody>
      </p:sp>
      <p:pic>
        <p:nvPicPr>
          <p:cNvPr id="5" name="Picture 4">
            <a:extLst>
              <a:ext uri="{FF2B5EF4-FFF2-40B4-BE49-F238E27FC236}">
                <a16:creationId xmlns:a16="http://schemas.microsoft.com/office/drawing/2014/main" id="{FEA287B1-9881-487A-AEF8-9901C5CA9F6A}"/>
              </a:ext>
            </a:extLst>
          </p:cNvPr>
          <p:cNvPicPr>
            <a:picLocks noChangeAspect="1"/>
          </p:cNvPicPr>
          <p:nvPr/>
        </p:nvPicPr>
        <p:blipFill>
          <a:blip r:embed="rId2"/>
          <a:stretch>
            <a:fillRect/>
          </a:stretch>
        </p:blipFill>
        <p:spPr>
          <a:xfrm>
            <a:off x="6624084" y="504826"/>
            <a:ext cx="4657725" cy="5667375"/>
          </a:xfrm>
          <a:prstGeom prst="rect">
            <a:avLst/>
          </a:prstGeom>
        </p:spPr>
      </p:pic>
    </p:spTree>
    <p:extLst>
      <p:ext uri="{BB962C8B-B14F-4D97-AF65-F5344CB8AC3E}">
        <p14:creationId xmlns:p14="http://schemas.microsoft.com/office/powerpoint/2010/main" val="7483944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9F0087-2D7A-4DF9-82FD-9E1307B95664}"/>
              </a:ext>
            </a:extLst>
          </p:cNvPr>
          <p:cNvSpPr>
            <a:spLocks noGrp="1"/>
          </p:cNvSpPr>
          <p:nvPr>
            <p:ph type="title"/>
          </p:nvPr>
        </p:nvSpPr>
        <p:spPr/>
        <p:txBody>
          <a:bodyPr/>
          <a:lstStyle/>
          <a:p>
            <a:r>
              <a:rPr lang="en-US" dirty="0"/>
              <a:t>More articles	</a:t>
            </a:r>
          </a:p>
        </p:txBody>
      </p:sp>
      <p:sp>
        <p:nvSpPr>
          <p:cNvPr id="3" name="Content Placeholder 2">
            <a:extLst>
              <a:ext uri="{FF2B5EF4-FFF2-40B4-BE49-F238E27FC236}">
                <a16:creationId xmlns:a16="http://schemas.microsoft.com/office/drawing/2014/main" id="{6300CA2D-29BF-48E6-A031-74FBAE4D76F0}"/>
              </a:ext>
            </a:extLst>
          </p:cNvPr>
          <p:cNvSpPr>
            <a:spLocks noGrp="1"/>
          </p:cNvSpPr>
          <p:nvPr>
            <p:ph idx="1"/>
          </p:nvPr>
        </p:nvSpPr>
        <p:spPr/>
        <p:txBody>
          <a:bodyPr/>
          <a:lstStyle/>
          <a:p>
            <a:r>
              <a:rPr lang="en-US" dirty="0"/>
              <a:t>I wish I had used sections.  These seem more like sections than articles. </a:t>
            </a:r>
          </a:p>
          <a:p>
            <a:r>
              <a:rPr lang="en-US" dirty="0"/>
              <a:t>Add two more articles to your HTML file.</a:t>
            </a:r>
          </a:p>
          <a:p>
            <a:pPr lvl="1"/>
            <a:r>
              <a:rPr lang="en-US" dirty="0"/>
              <a:t>We created the previous articles using DOM methods only as an exercise in using DOM methods.  You don't normally want to add elements this way.  </a:t>
            </a:r>
          </a:p>
          <a:p>
            <a:pPr lvl="1"/>
            <a:r>
              <a:rPr lang="en-US" dirty="0"/>
              <a:t>We will leave the previous articles as they are, so we don't have to redo them, but do the next two as simple HTML in the html file.</a:t>
            </a:r>
          </a:p>
          <a:p>
            <a:r>
              <a:rPr lang="en-US" dirty="0"/>
              <a:t>The first article is to allow adding of ingredients to the </a:t>
            </a:r>
            <a:r>
              <a:rPr lang="en-US" dirty="0" err="1"/>
              <a:t>BananaadeStand</a:t>
            </a:r>
            <a:r>
              <a:rPr lang="en-US" dirty="0"/>
              <a:t>.</a:t>
            </a:r>
          </a:p>
          <a:p>
            <a:r>
              <a:rPr lang="en-US" dirty="0"/>
              <a:t>The second article is to have some buttons that can call </a:t>
            </a:r>
            <a:r>
              <a:rPr lang="en-US" dirty="0" err="1"/>
              <a:t>makeBananaade</a:t>
            </a:r>
            <a:r>
              <a:rPr lang="en-US" dirty="0"/>
              <a:t> and </a:t>
            </a:r>
            <a:r>
              <a:rPr lang="en-US" dirty="0" err="1"/>
              <a:t>sellBananaade</a:t>
            </a:r>
            <a:r>
              <a:rPr lang="en-US" dirty="0"/>
              <a:t>.</a:t>
            </a:r>
          </a:p>
        </p:txBody>
      </p:sp>
    </p:spTree>
    <p:extLst>
      <p:ext uri="{BB962C8B-B14F-4D97-AF65-F5344CB8AC3E}">
        <p14:creationId xmlns:p14="http://schemas.microsoft.com/office/powerpoint/2010/main" val="36101509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E1B3AD-22E4-43A0-BBE4-3BD139014FC4}"/>
              </a:ext>
            </a:extLst>
          </p:cNvPr>
          <p:cNvSpPr>
            <a:spLocks noGrp="1"/>
          </p:cNvSpPr>
          <p:nvPr>
            <p:ph type="title"/>
          </p:nvPr>
        </p:nvSpPr>
        <p:spPr>
          <a:xfrm>
            <a:off x="1069848" y="175756"/>
            <a:ext cx="10058400" cy="1020087"/>
          </a:xfrm>
        </p:spPr>
        <p:txBody>
          <a:bodyPr/>
          <a:lstStyle/>
          <a:p>
            <a:r>
              <a:rPr lang="en-US" dirty="0"/>
              <a:t>Adding ingredients</a:t>
            </a:r>
          </a:p>
        </p:txBody>
      </p:sp>
      <p:sp>
        <p:nvSpPr>
          <p:cNvPr id="3" name="Content Placeholder 2">
            <a:extLst>
              <a:ext uri="{FF2B5EF4-FFF2-40B4-BE49-F238E27FC236}">
                <a16:creationId xmlns:a16="http://schemas.microsoft.com/office/drawing/2014/main" id="{AD0E0C6B-51BA-4097-AA94-D08559CE9BFD}"/>
              </a:ext>
            </a:extLst>
          </p:cNvPr>
          <p:cNvSpPr>
            <a:spLocks noGrp="1"/>
          </p:cNvSpPr>
          <p:nvPr>
            <p:ph idx="1"/>
          </p:nvPr>
        </p:nvSpPr>
        <p:spPr>
          <a:xfrm>
            <a:off x="1063752" y="1039332"/>
            <a:ext cx="7661148" cy="5424968"/>
          </a:xfrm>
        </p:spPr>
        <p:txBody>
          <a:bodyPr>
            <a:normAutofit fontScale="92500" lnSpcReduction="10000"/>
          </a:bodyPr>
          <a:lstStyle/>
          <a:p>
            <a:r>
              <a:rPr lang="en-US" dirty="0"/>
              <a:t>Add an article to the body</a:t>
            </a:r>
          </a:p>
          <a:p>
            <a:r>
              <a:rPr lang="en-US" dirty="0"/>
              <a:t>Add an h2 header "Add Ingredients" to the article</a:t>
            </a:r>
          </a:p>
          <a:p>
            <a:r>
              <a:rPr lang="en-US" dirty="0"/>
              <a:t>Add four labels to the article</a:t>
            </a:r>
          </a:p>
          <a:p>
            <a:r>
              <a:rPr lang="en-US" dirty="0"/>
              <a:t>Make labels block level in </a:t>
            </a:r>
            <a:r>
              <a:rPr lang="en-US" dirty="0" err="1"/>
              <a:t>css</a:t>
            </a:r>
            <a:r>
              <a:rPr lang="en-US" dirty="0"/>
              <a:t> </a:t>
            </a:r>
          </a:p>
          <a:p>
            <a:pPr marL="0" indent="0">
              <a:buNone/>
            </a:pPr>
            <a:r>
              <a:rPr lang="en-US" dirty="0"/>
              <a:t>	label {</a:t>
            </a:r>
            <a:r>
              <a:rPr lang="en-US" dirty="0" err="1"/>
              <a:t>display:block</a:t>
            </a:r>
            <a:r>
              <a:rPr lang="en-US" dirty="0"/>
              <a:t>;}</a:t>
            </a:r>
          </a:p>
          <a:p>
            <a:r>
              <a:rPr lang="en-US" dirty="0"/>
              <a:t>Each label will contain the following and will be FOR each text input.</a:t>
            </a:r>
          </a:p>
          <a:p>
            <a:pPr lvl="1"/>
            <a:r>
              <a:rPr lang="en-US" dirty="0"/>
              <a:t>The </a:t>
            </a:r>
            <a:r>
              <a:rPr lang="en-US" dirty="0" err="1"/>
              <a:t>plus_light.png</a:t>
            </a:r>
            <a:r>
              <a:rPr lang="en-US" dirty="0"/>
              <a:t> image</a:t>
            </a:r>
          </a:p>
          <a:p>
            <a:pPr lvl="1"/>
            <a:r>
              <a:rPr lang="en-US" dirty="0"/>
              <a:t>A span with the appropriate text </a:t>
            </a:r>
          </a:p>
          <a:p>
            <a:pPr lvl="2"/>
            <a:r>
              <a:rPr lang="en-US" dirty="0"/>
              <a:t>Add bananas</a:t>
            </a:r>
          </a:p>
          <a:p>
            <a:pPr lvl="2"/>
            <a:r>
              <a:rPr lang="en-US" dirty="0"/>
              <a:t>Add gallons of water</a:t>
            </a:r>
          </a:p>
          <a:p>
            <a:pPr lvl="2"/>
            <a:r>
              <a:rPr lang="en-US" dirty="0"/>
              <a:t>Add cups of sugar</a:t>
            </a:r>
          </a:p>
          <a:p>
            <a:pPr lvl="2"/>
            <a:r>
              <a:rPr lang="en-US" dirty="0"/>
              <a:t>Add empty glasses</a:t>
            </a:r>
          </a:p>
          <a:p>
            <a:pPr lvl="1"/>
            <a:r>
              <a:rPr lang="en-US" dirty="0"/>
              <a:t>A text input (number?) with an id</a:t>
            </a:r>
          </a:p>
          <a:p>
            <a:pPr lvl="2"/>
            <a:r>
              <a:rPr lang="en-US" dirty="0" err="1"/>
              <a:t>tbBananas</a:t>
            </a:r>
            <a:endParaRPr lang="en-US" dirty="0"/>
          </a:p>
          <a:p>
            <a:pPr lvl="2"/>
            <a:r>
              <a:rPr lang="en-US" dirty="0" err="1"/>
              <a:t>tbWater</a:t>
            </a:r>
            <a:endParaRPr lang="en-US" dirty="0"/>
          </a:p>
          <a:p>
            <a:pPr lvl="2"/>
            <a:r>
              <a:rPr lang="en-US" dirty="0" err="1"/>
              <a:t>tbSugar</a:t>
            </a:r>
            <a:endParaRPr lang="en-US" dirty="0"/>
          </a:p>
          <a:p>
            <a:pPr lvl="2"/>
            <a:r>
              <a:rPr lang="en-US" dirty="0" err="1"/>
              <a:t>tbEmptyGlasses</a:t>
            </a:r>
            <a:endParaRPr lang="en-US" dirty="0"/>
          </a:p>
          <a:p>
            <a:pPr lvl="2"/>
            <a:endParaRPr lang="en-US" dirty="0"/>
          </a:p>
        </p:txBody>
      </p:sp>
      <p:sp>
        <p:nvSpPr>
          <p:cNvPr id="4" name="TextBox 3">
            <a:extLst>
              <a:ext uri="{FF2B5EF4-FFF2-40B4-BE49-F238E27FC236}">
                <a16:creationId xmlns:a16="http://schemas.microsoft.com/office/drawing/2014/main" id="{92CAFC8C-A0CB-46F5-9128-281DBE589656}"/>
              </a:ext>
            </a:extLst>
          </p:cNvPr>
          <p:cNvSpPr txBox="1"/>
          <p:nvPr/>
        </p:nvSpPr>
        <p:spPr>
          <a:xfrm>
            <a:off x="6290475" y="3586014"/>
            <a:ext cx="5069593" cy="2308324"/>
          </a:xfrm>
          <a:prstGeom prst="rect">
            <a:avLst/>
          </a:prstGeom>
          <a:noFill/>
          <a:ln>
            <a:solidFill>
              <a:schemeClr val="accent1"/>
            </a:solidFill>
          </a:ln>
        </p:spPr>
        <p:txBody>
          <a:bodyPr wrap="none" rtlCol="0">
            <a:spAutoFit/>
          </a:bodyPr>
          <a:lstStyle/>
          <a:p>
            <a:r>
              <a:rPr lang="en-US" dirty="0"/>
              <a:t>&lt;article&gt;</a:t>
            </a:r>
          </a:p>
          <a:p>
            <a:r>
              <a:rPr lang="en-US" dirty="0"/>
              <a:t>	&lt;label for='</a:t>
            </a:r>
            <a:r>
              <a:rPr lang="en-US" dirty="0" err="1"/>
              <a:t>tbBananas</a:t>
            </a:r>
            <a:r>
              <a:rPr lang="en-US" dirty="0"/>
              <a:t>'&gt;</a:t>
            </a:r>
          </a:p>
          <a:p>
            <a:r>
              <a:rPr lang="en-US" dirty="0"/>
              <a:t>		&lt;</a:t>
            </a:r>
            <a:r>
              <a:rPr lang="en-US" dirty="0" err="1"/>
              <a:t>img</a:t>
            </a:r>
            <a:r>
              <a:rPr lang="en-US" dirty="0"/>
              <a:t> </a:t>
            </a:r>
            <a:r>
              <a:rPr lang="en-US" dirty="0" err="1"/>
              <a:t>src</a:t>
            </a:r>
            <a:r>
              <a:rPr lang="en-US" dirty="0"/>
              <a:t>='../images/</a:t>
            </a:r>
            <a:r>
              <a:rPr lang="en-US" dirty="0" err="1"/>
              <a:t>plus_light.png</a:t>
            </a:r>
            <a:r>
              <a:rPr lang="en-US" dirty="0"/>
              <a:t>'&gt;</a:t>
            </a:r>
          </a:p>
          <a:p>
            <a:r>
              <a:rPr lang="en-US" dirty="0"/>
              <a:t>		&lt;span&gt;Add bananas&lt;/span&gt;</a:t>
            </a:r>
          </a:p>
          <a:p>
            <a:r>
              <a:rPr lang="en-US" dirty="0"/>
              <a:t>		&lt;input id='</a:t>
            </a:r>
            <a:r>
              <a:rPr lang="en-US" dirty="0" err="1"/>
              <a:t>tbBananas</a:t>
            </a:r>
            <a:r>
              <a:rPr lang="en-US" dirty="0"/>
              <a:t>'&gt;&lt;/input&gt;</a:t>
            </a:r>
          </a:p>
          <a:p>
            <a:r>
              <a:rPr lang="en-US" dirty="0"/>
              <a:t>	&lt;/label&gt;</a:t>
            </a:r>
          </a:p>
          <a:p>
            <a:r>
              <a:rPr lang="en-US" dirty="0"/>
              <a:t>	…more labels…</a:t>
            </a:r>
          </a:p>
          <a:p>
            <a:r>
              <a:rPr lang="en-US" dirty="0"/>
              <a:t>&lt;/article&gt;</a:t>
            </a:r>
          </a:p>
        </p:txBody>
      </p:sp>
    </p:spTree>
    <p:extLst>
      <p:ext uri="{BB962C8B-B14F-4D97-AF65-F5344CB8AC3E}">
        <p14:creationId xmlns:p14="http://schemas.microsoft.com/office/powerpoint/2010/main" val="25480552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1BD704-4B9E-4DD2-AFCB-C5CC4544186C}"/>
              </a:ext>
            </a:extLst>
          </p:cNvPr>
          <p:cNvSpPr>
            <a:spLocks noGrp="1"/>
          </p:cNvSpPr>
          <p:nvPr>
            <p:ph type="title"/>
          </p:nvPr>
        </p:nvSpPr>
        <p:spPr>
          <a:xfrm>
            <a:off x="1066800" y="141732"/>
            <a:ext cx="10058400" cy="759968"/>
          </a:xfrm>
        </p:spPr>
        <p:txBody>
          <a:bodyPr>
            <a:normAutofit fontScale="90000"/>
          </a:bodyPr>
          <a:lstStyle/>
          <a:p>
            <a:r>
              <a:rPr lang="en-US" dirty="0"/>
              <a:t>Adding controls</a:t>
            </a:r>
          </a:p>
        </p:txBody>
      </p:sp>
      <p:sp>
        <p:nvSpPr>
          <p:cNvPr id="3" name="Content Placeholder 2">
            <a:extLst>
              <a:ext uri="{FF2B5EF4-FFF2-40B4-BE49-F238E27FC236}">
                <a16:creationId xmlns:a16="http://schemas.microsoft.com/office/drawing/2014/main" id="{4444F880-F67F-4D00-B111-14D028EDF357}"/>
              </a:ext>
            </a:extLst>
          </p:cNvPr>
          <p:cNvSpPr>
            <a:spLocks noGrp="1"/>
          </p:cNvSpPr>
          <p:nvPr>
            <p:ph idx="1"/>
          </p:nvPr>
        </p:nvSpPr>
        <p:spPr>
          <a:xfrm>
            <a:off x="1069848" y="1003300"/>
            <a:ext cx="5686552" cy="5168900"/>
          </a:xfrm>
        </p:spPr>
        <p:txBody>
          <a:bodyPr/>
          <a:lstStyle/>
          <a:p>
            <a:r>
              <a:rPr lang="en-US" dirty="0"/>
              <a:t>Add an article to the body</a:t>
            </a:r>
          </a:p>
          <a:p>
            <a:r>
              <a:rPr lang="en-US" dirty="0"/>
              <a:t>Add an h2 header to the article with the text "Controls"</a:t>
            </a:r>
          </a:p>
          <a:p>
            <a:r>
              <a:rPr lang="en-US" dirty="0"/>
              <a:t>Add two buttons to the article.  </a:t>
            </a:r>
          </a:p>
          <a:p>
            <a:pPr lvl="1"/>
            <a:r>
              <a:rPr lang="en-US" b="1" dirty="0"/>
              <a:t>Use the button tag instead of the input tag.</a:t>
            </a:r>
          </a:p>
          <a:p>
            <a:pPr marL="274320" lvl="1" indent="0">
              <a:buNone/>
            </a:pPr>
            <a:r>
              <a:rPr lang="en-US" dirty="0"/>
              <a:t>	Button - Make Bananaade </a:t>
            </a:r>
          </a:p>
          <a:p>
            <a:pPr marL="274320" lvl="1" indent="0">
              <a:buNone/>
            </a:pPr>
            <a:r>
              <a:rPr lang="en-US" dirty="0"/>
              <a:t>	Button - Sell Bananaade</a:t>
            </a:r>
          </a:p>
          <a:p>
            <a:r>
              <a:rPr lang="en-US" dirty="0"/>
              <a:t>Make buttons block level in your CSS file.</a:t>
            </a:r>
          </a:p>
          <a:p>
            <a:pPr marL="0" indent="0">
              <a:buNone/>
            </a:pPr>
            <a:r>
              <a:rPr lang="en-US" dirty="0"/>
              <a:t>	button {display: block;}</a:t>
            </a:r>
          </a:p>
          <a:p>
            <a:r>
              <a:rPr lang="en-US" dirty="0"/>
              <a:t>It should look like the image to the right.</a:t>
            </a:r>
          </a:p>
          <a:p>
            <a:r>
              <a:rPr lang="en-US" dirty="0"/>
              <a:t>How else could we format our buttons?</a:t>
            </a:r>
          </a:p>
        </p:txBody>
      </p:sp>
      <p:pic>
        <p:nvPicPr>
          <p:cNvPr id="8" name="Picture 7">
            <a:extLst>
              <a:ext uri="{FF2B5EF4-FFF2-40B4-BE49-F238E27FC236}">
                <a16:creationId xmlns:a16="http://schemas.microsoft.com/office/drawing/2014/main" id="{B87B3195-3A1E-49D8-A8AB-BEF79DA12D23}"/>
              </a:ext>
            </a:extLst>
          </p:cNvPr>
          <p:cNvPicPr>
            <a:picLocks noChangeAspect="1"/>
          </p:cNvPicPr>
          <p:nvPr/>
        </p:nvPicPr>
        <p:blipFill>
          <a:blip r:embed="rId2"/>
          <a:stretch>
            <a:fillRect/>
          </a:stretch>
        </p:blipFill>
        <p:spPr>
          <a:xfrm>
            <a:off x="7923156" y="315803"/>
            <a:ext cx="2909302" cy="6226394"/>
          </a:xfrm>
          <a:prstGeom prst="rect">
            <a:avLst/>
          </a:prstGeom>
        </p:spPr>
      </p:pic>
    </p:spTree>
    <p:extLst>
      <p:ext uri="{BB962C8B-B14F-4D97-AF65-F5344CB8AC3E}">
        <p14:creationId xmlns:p14="http://schemas.microsoft.com/office/powerpoint/2010/main" val="15557481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978DC8-F192-497E-821A-BAD379F3349F}"/>
              </a:ext>
            </a:extLst>
          </p:cNvPr>
          <p:cNvSpPr>
            <a:spLocks noGrp="1"/>
          </p:cNvSpPr>
          <p:nvPr>
            <p:ph type="title"/>
          </p:nvPr>
        </p:nvSpPr>
        <p:spPr>
          <a:xfrm>
            <a:off x="1069848" y="242316"/>
            <a:ext cx="10058400" cy="700224"/>
          </a:xfrm>
        </p:spPr>
        <p:txBody>
          <a:bodyPr>
            <a:normAutofit fontScale="90000"/>
          </a:bodyPr>
          <a:lstStyle/>
          <a:p>
            <a:r>
              <a:rPr lang="en-US" dirty="0"/>
              <a:t>Clickable things</a:t>
            </a:r>
          </a:p>
        </p:txBody>
      </p:sp>
      <p:sp>
        <p:nvSpPr>
          <p:cNvPr id="3" name="Content Placeholder 2">
            <a:extLst>
              <a:ext uri="{FF2B5EF4-FFF2-40B4-BE49-F238E27FC236}">
                <a16:creationId xmlns:a16="http://schemas.microsoft.com/office/drawing/2014/main" id="{468CD654-1051-4A79-A45A-A46921D81520}"/>
              </a:ext>
            </a:extLst>
          </p:cNvPr>
          <p:cNvSpPr>
            <a:spLocks noGrp="1"/>
          </p:cNvSpPr>
          <p:nvPr>
            <p:ph idx="1"/>
          </p:nvPr>
        </p:nvSpPr>
        <p:spPr>
          <a:xfrm>
            <a:off x="1069848" y="1519707"/>
            <a:ext cx="6118352" cy="4652493"/>
          </a:xfrm>
        </p:spPr>
        <p:txBody>
          <a:bodyPr>
            <a:normAutofit/>
          </a:bodyPr>
          <a:lstStyle/>
          <a:p>
            <a:r>
              <a:rPr lang="en-US" dirty="0"/>
              <a:t>We are going to click on the labels to add ingredients.  </a:t>
            </a:r>
          </a:p>
          <a:p>
            <a:r>
              <a:rPr lang="en-US" dirty="0"/>
              <a:t>We need to style the add ingredients elements.</a:t>
            </a:r>
          </a:p>
          <a:p>
            <a:r>
              <a:rPr lang="en-US" dirty="0"/>
              <a:t>Make all span tags be of the clickable class.</a:t>
            </a:r>
          </a:p>
          <a:p>
            <a:r>
              <a:rPr lang="en-US" dirty="0"/>
              <a:t>In the CSS file</a:t>
            </a:r>
          </a:p>
          <a:p>
            <a:pPr lvl="1"/>
            <a:r>
              <a:rPr lang="en-US" dirty="0"/>
              <a:t>Make it so clickable class elements have a pointer cursor when the mouse hovers.</a:t>
            </a:r>
          </a:p>
          <a:p>
            <a:pPr lvl="1"/>
            <a:r>
              <a:rPr lang="en-US" dirty="0"/>
              <a:t>Make it so clickable has underlined text</a:t>
            </a:r>
          </a:p>
          <a:p>
            <a:pPr lvl="1"/>
            <a:r>
              <a:rPr lang="en-US" dirty="0"/>
              <a:t>Make it so clickable has blue text</a:t>
            </a:r>
          </a:p>
          <a:p>
            <a:pPr lvl="1"/>
            <a:r>
              <a:rPr lang="en-US" dirty="0"/>
              <a:t>Make it so </a:t>
            </a:r>
            <a:r>
              <a:rPr lang="en-US"/>
              <a:t>the label </a:t>
            </a:r>
            <a:r>
              <a:rPr lang="en-US" dirty="0"/>
              <a:t>has a pointer cursor on hover. (Might cause a problem if you add other images later.)</a:t>
            </a:r>
          </a:p>
          <a:p>
            <a:pPr lvl="1"/>
            <a:r>
              <a:rPr lang="en-US" dirty="0"/>
              <a:t>Shorten up the text boxes to around </a:t>
            </a:r>
            <a:r>
              <a:rPr lang="en-US" dirty="0" err="1"/>
              <a:t>3em</a:t>
            </a:r>
            <a:r>
              <a:rPr lang="en-US" dirty="0"/>
              <a:t> using the input selector.</a:t>
            </a:r>
          </a:p>
          <a:p>
            <a:pPr lvl="1"/>
            <a:endParaRPr lang="en-US" dirty="0"/>
          </a:p>
        </p:txBody>
      </p:sp>
      <p:pic>
        <p:nvPicPr>
          <p:cNvPr id="6" name="Picture 5">
            <a:extLst>
              <a:ext uri="{FF2B5EF4-FFF2-40B4-BE49-F238E27FC236}">
                <a16:creationId xmlns:a16="http://schemas.microsoft.com/office/drawing/2014/main" id="{E41636E9-EC7E-411C-9C10-442E8B592501}"/>
              </a:ext>
            </a:extLst>
          </p:cNvPr>
          <p:cNvPicPr>
            <a:picLocks noChangeAspect="1"/>
          </p:cNvPicPr>
          <p:nvPr/>
        </p:nvPicPr>
        <p:blipFill>
          <a:blip r:embed="rId2"/>
          <a:stretch>
            <a:fillRect/>
          </a:stretch>
        </p:blipFill>
        <p:spPr>
          <a:xfrm>
            <a:off x="7547519" y="242316"/>
            <a:ext cx="2976272" cy="6373368"/>
          </a:xfrm>
          <a:prstGeom prst="rect">
            <a:avLst/>
          </a:prstGeom>
        </p:spPr>
      </p:pic>
    </p:spTree>
    <p:extLst>
      <p:ext uri="{BB962C8B-B14F-4D97-AF65-F5344CB8AC3E}">
        <p14:creationId xmlns:p14="http://schemas.microsoft.com/office/powerpoint/2010/main" val="23833641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E985F1-0E16-4AA8-A8D9-D9F21E2C9294}"/>
              </a:ext>
            </a:extLst>
          </p:cNvPr>
          <p:cNvSpPr>
            <a:spLocks noGrp="1"/>
          </p:cNvSpPr>
          <p:nvPr>
            <p:ph type="title"/>
          </p:nvPr>
        </p:nvSpPr>
        <p:spPr>
          <a:xfrm>
            <a:off x="1069848" y="0"/>
            <a:ext cx="10058400" cy="1031358"/>
          </a:xfrm>
        </p:spPr>
        <p:txBody>
          <a:bodyPr/>
          <a:lstStyle/>
          <a:p>
            <a:r>
              <a:rPr lang="en-US" dirty="0"/>
              <a:t>Now for some </a:t>
            </a:r>
            <a:r>
              <a:rPr lang="en-US" dirty="0" err="1"/>
              <a:t>javascript</a:t>
            </a:r>
            <a:endParaRPr lang="en-US" dirty="0"/>
          </a:p>
        </p:txBody>
      </p:sp>
      <p:sp>
        <p:nvSpPr>
          <p:cNvPr id="3" name="Content Placeholder 2">
            <a:extLst>
              <a:ext uri="{FF2B5EF4-FFF2-40B4-BE49-F238E27FC236}">
                <a16:creationId xmlns:a16="http://schemas.microsoft.com/office/drawing/2014/main" id="{4AFD439F-C230-4413-8F98-108F449E72DC}"/>
              </a:ext>
            </a:extLst>
          </p:cNvPr>
          <p:cNvSpPr>
            <a:spLocks noGrp="1"/>
          </p:cNvSpPr>
          <p:nvPr>
            <p:ph idx="1"/>
          </p:nvPr>
        </p:nvSpPr>
        <p:spPr>
          <a:xfrm>
            <a:off x="1069848" y="1031358"/>
            <a:ext cx="10058400" cy="5140842"/>
          </a:xfrm>
        </p:spPr>
        <p:txBody>
          <a:bodyPr/>
          <a:lstStyle/>
          <a:p>
            <a:r>
              <a:rPr lang="en-US" dirty="0"/>
              <a:t>If you started with my files, the following is already done.</a:t>
            </a:r>
          </a:p>
          <a:p>
            <a:r>
              <a:rPr lang="en-US" dirty="0"/>
              <a:t>Rename the test function to </a:t>
            </a:r>
            <a:r>
              <a:rPr lang="en-US" dirty="0" err="1"/>
              <a:t>init.</a:t>
            </a:r>
            <a:endParaRPr lang="en-US" dirty="0"/>
          </a:p>
          <a:p>
            <a:r>
              <a:rPr lang="en-US" dirty="0"/>
              <a:t>Move the </a:t>
            </a:r>
            <a:r>
              <a:rPr lang="en-US" dirty="0" err="1"/>
              <a:t>BananaadeStand</a:t>
            </a:r>
            <a:r>
              <a:rPr lang="en-US" dirty="0"/>
              <a:t> object creation outside and before </a:t>
            </a:r>
            <a:r>
              <a:rPr lang="en-US" dirty="0" err="1"/>
              <a:t>init</a:t>
            </a:r>
            <a:r>
              <a:rPr lang="en-US" dirty="0"/>
              <a:t> so that it is a global variable.</a:t>
            </a:r>
          </a:p>
          <a:p>
            <a:endParaRPr lang="en-US" dirty="0"/>
          </a:p>
          <a:p>
            <a:pPr marL="274320" lvl="1" indent="0">
              <a:buNone/>
            </a:pPr>
            <a:r>
              <a:rPr lang="en-US" dirty="0"/>
              <a:t>let ls = new </a:t>
            </a:r>
            <a:r>
              <a:rPr lang="en-US" dirty="0" err="1"/>
              <a:t>BananaadeStand</a:t>
            </a:r>
            <a:r>
              <a:rPr lang="en-US" dirty="0"/>
              <a:t>(20,10,10,10, 2.0);</a:t>
            </a:r>
          </a:p>
          <a:p>
            <a:pPr marL="274320" lvl="1" indent="0">
              <a:buNone/>
            </a:pPr>
            <a:r>
              <a:rPr lang="en-US" dirty="0"/>
              <a:t>function </a:t>
            </a:r>
            <a:r>
              <a:rPr lang="en-US" dirty="0" err="1"/>
              <a:t>init</a:t>
            </a:r>
            <a:r>
              <a:rPr lang="en-US" dirty="0"/>
              <a:t>() {  	</a:t>
            </a:r>
          </a:p>
          <a:p>
            <a:pPr marL="274320" lvl="1" indent="0">
              <a:buNone/>
            </a:pPr>
            <a:r>
              <a:rPr lang="en-US" dirty="0"/>
              <a:t>	</a:t>
            </a:r>
            <a:r>
              <a:rPr lang="en-US" dirty="0" err="1"/>
              <a:t>ls.showAdmin</a:t>
            </a:r>
            <a:r>
              <a:rPr lang="en-US" dirty="0"/>
              <a:t>();  </a:t>
            </a:r>
          </a:p>
          <a:p>
            <a:pPr marL="274320" lvl="1" indent="0">
              <a:buNone/>
            </a:pPr>
            <a:r>
              <a:rPr lang="en-US" dirty="0"/>
              <a:t>	</a:t>
            </a:r>
            <a:r>
              <a:rPr lang="en-US" dirty="0" err="1"/>
              <a:t>ls.showIngredients</a:t>
            </a:r>
            <a:r>
              <a:rPr lang="en-US" dirty="0"/>
              <a:t>();  </a:t>
            </a:r>
          </a:p>
          <a:p>
            <a:pPr marL="274320" lvl="1" indent="0">
              <a:buNone/>
            </a:pPr>
            <a:r>
              <a:rPr lang="en-US" dirty="0"/>
              <a:t>	//Put new code below here</a:t>
            </a:r>
          </a:p>
          <a:p>
            <a:pPr marL="274320" lvl="1" indent="0">
              <a:buNone/>
            </a:pPr>
            <a:r>
              <a:rPr lang="en-US" dirty="0"/>
              <a:t>}</a:t>
            </a:r>
          </a:p>
          <a:p>
            <a:pPr marL="274320" lvl="1" indent="0">
              <a:buNone/>
            </a:pPr>
            <a:r>
              <a:rPr lang="en-US" dirty="0" err="1"/>
              <a:t>init</a:t>
            </a:r>
            <a:r>
              <a:rPr lang="en-US" dirty="0"/>
              <a:t>();</a:t>
            </a:r>
          </a:p>
          <a:p>
            <a:endParaRPr lang="en-US" dirty="0"/>
          </a:p>
          <a:p>
            <a:endParaRPr lang="en-US" dirty="0"/>
          </a:p>
        </p:txBody>
      </p:sp>
    </p:spTree>
    <p:extLst>
      <p:ext uri="{BB962C8B-B14F-4D97-AF65-F5344CB8AC3E}">
        <p14:creationId xmlns:p14="http://schemas.microsoft.com/office/powerpoint/2010/main" val="32240723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0B1C21-1820-4533-A727-676F85993B04}"/>
              </a:ext>
            </a:extLst>
          </p:cNvPr>
          <p:cNvSpPr>
            <a:spLocks noGrp="1"/>
          </p:cNvSpPr>
          <p:nvPr>
            <p:ph type="title"/>
          </p:nvPr>
        </p:nvSpPr>
        <p:spPr>
          <a:xfrm>
            <a:off x="528936" y="258414"/>
            <a:ext cx="7842332" cy="854771"/>
          </a:xfrm>
        </p:spPr>
        <p:txBody>
          <a:bodyPr>
            <a:normAutofit fontScale="90000"/>
          </a:bodyPr>
          <a:lstStyle/>
          <a:p>
            <a:r>
              <a:rPr lang="en-US" sz="4800" dirty="0"/>
              <a:t>Hide the input boxes for add ingredients</a:t>
            </a:r>
          </a:p>
        </p:txBody>
      </p:sp>
      <p:sp>
        <p:nvSpPr>
          <p:cNvPr id="3" name="Content Placeholder 2">
            <a:extLst>
              <a:ext uri="{FF2B5EF4-FFF2-40B4-BE49-F238E27FC236}">
                <a16:creationId xmlns:a16="http://schemas.microsoft.com/office/drawing/2014/main" id="{3581D271-D385-4883-BB1C-E1584494976C}"/>
              </a:ext>
            </a:extLst>
          </p:cNvPr>
          <p:cNvSpPr>
            <a:spLocks noGrp="1"/>
          </p:cNvSpPr>
          <p:nvPr>
            <p:ph idx="1"/>
          </p:nvPr>
        </p:nvSpPr>
        <p:spPr>
          <a:xfrm>
            <a:off x="1069849" y="1326524"/>
            <a:ext cx="7301420" cy="5138670"/>
          </a:xfrm>
        </p:spPr>
        <p:txBody>
          <a:bodyPr>
            <a:normAutofit fontScale="92500" lnSpcReduction="20000"/>
          </a:bodyPr>
          <a:lstStyle/>
          <a:p>
            <a:r>
              <a:rPr lang="en-US" dirty="0"/>
              <a:t>We want the text boxes to only appear when the label is clicked.</a:t>
            </a:r>
          </a:p>
          <a:p>
            <a:r>
              <a:rPr lang="en-US" dirty="0"/>
              <a:t>We need to be able to hide those boxes in several places, so we are going to make a function to hide all of them.</a:t>
            </a:r>
          </a:p>
          <a:p>
            <a:r>
              <a:rPr lang="en-US" dirty="0"/>
              <a:t>Add class='</a:t>
            </a:r>
            <a:r>
              <a:rPr lang="en-US" dirty="0" err="1"/>
              <a:t>hide_me</a:t>
            </a:r>
            <a:r>
              <a:rPr lang="en-US" dirty="0"/>
              <a:t>' to all the input text boxes.</a:t>
            </a:r>
          </a:p>
          <a:p>
            <a:r>
              <a:rPr lang="en-US" dirty="0"/>
              <a:t>In the JS file, create a </a:t>
            </a:r>
            <a:r>
              <a:rPr lang="en-US"/>
              <a:t>function above init</a:t>
            </a:r>
            <a:r>
              <a:rPr lang="en-US" dirty="0"/>
              <a:t> (not in </a:t>
            </a:r>
            <a:r>
              <a:rPr lang="en-US" dirty="0" err="1"/>
              <a:t>BananaadeStand</a:t>
            </a:r>
            <a:r>
              <a:rPr lang="en-US" dirty="0"/>
              <a:t>) named </a:t>
            </a:r>
            <a:r>
              <a:rPr lang="en-US" dirty="0" err="1"/>
              <a:t>hideAll</a:t>
            </a:r>
            <a:r>
              <a:rPr lang="en-US" dirty="0"/>
              <a:t>.</a:t>
            </a:r>
          </a:p>
          <a:p>
            <a:r>
              <a:rPr lang="en-US" dirty="0"/>
              <a:t>In </a:t>
            </a:r>
            <a:r>
              <a:rPr lang="en-US" dirty="0" err="1"/>
              <a:t>hideAll</a:t>
            </a:r>
            <a:endParaRPr lang="en-US" dirty="0"/>
          </a:p>
          <a:p>
            <a:pPr lvl="1"/>
            <a:r>
              <a:rPr lang="en-US" dirty="0"/>
              <a:t>Get a collection of elements with the </a:t>
            </a:r>
            <a:r>
              <a:rPr lang="en-US" dirty="0" err="1"/>
              <a:t>hide_me</a:t>
            </a:r>
            <a:r>
              <a:rPr lang="en-US" dirty="0"/>
              <a:t> class using </a:t>
            </a:r>
            <a:r>
              <a:rPr lang="en-US" dirty="0" err="1"/>
              <a:t>getElementsByClassName</a:t>
            </a:r>
            <a:endParaRPr lang="en-US" dirty="0"/>
          </a:p>
          <a:p>
            <a:pPr lvl="1"/>
            <a:r>
              <a:rPr lang="en-US" dirty="0"/>
              <a:t>In a loop, set the display style of all elements in the collection to none (use for/of loop)</a:t>
            </a:r>
          </a:p>
          <a:p>
            <a:pPr marL="274320" lvl="1" indent="0">
              <a:buNone/>
            </a:pPr>
            <a:r>
              <a:rPr lang="en-US" dirty="0"/>
              <a:t>	</a:t>
            </a:r>
            <a:r>
              <a:rPr lang="en-US" dirty="0" err="1">
                <a:solidFill>
                  <a:srgbClr val="FF0000"/>
                </a:solidFill>
              </a:rPr>
              <a:t>ele.style.visibility</a:t>
            </a:r>
            <a:r>
              <a:rPr lang="en-US" dirty="0">
                <a:solidFill>
                  <a:srgbClr val="FF0000"/>
                </a:solidFill>
              </a:rPr>
              <a:t>='hidden';</a:t>
            </a:r>
          </a:p>
          <a:p>
            <a:pPr lvl="1"/>
            <a:r>
              <a:rPr lang="en-US" dirty="0"/>
              <a:t>Call </a:t>
            </a:r>
            <a:r>
              <a:rPr lang="en-US" dirty="0" err="1"/>
              <a:t>hideAll</a:t>
            </a:r>
            <a:r>
              <a:rPr lang="en-US" dirty="0"/>
              <a:t> from the bottom of </a:t>
            </a:r>
            <a:r>
              <a:rPr lang="en-US" dirty="0" err="1"/>
              <a:t>init.</a:t>
            </a:r>
            <a:endParaRPr lang="en-US" dirty="0"/>
          </a:p>
          <a:p>
            <a:pPr lvl="1"/>
            <a:r>
              <a:rPr lang="en-US" dirty="0"/>
              <a:t>We could have very easily done this from the CSS file.  But this is a good example of getting a node list and changing each item.</a:t>
            </a:r>
          </a:p>
          <a:p>
            <a:r>
              <a:rPr lang="en-US" dirty="0"/>
              <a:t>If you did everything correctly, you should be able to refresh your web page and see all the text boxes disappear. </a:t>
            </a:r>
          </a:p>
        </p:txBody>
      </p:sp>
      <p:pic>
        <p:nvPicPr>
          <p:cNvPr id="6" name="Picture 5">
            <a:extLst>
              <a:ext uri="{FF2B5EF4-FFF2-40B4-BE49-F238E27FC236}">
                <a16:creationId xmlns:a16="http://schemas.microsoft.com/office/drawing/2014/main" id="{7EEC05AE-B59B-43C9-8D8B-103477FA4796}"/>
              </a:ext>
            </a:extLst>
          </p:cNvPr>
          <p:cNvPicPr>
            <a:picLocks noChangeAspect="1"/>
          </p:cNvPicPr>
          <p:nvPr/>
        </p:nvPicPr>
        <p:blipFill>
          <a:blip r:embed="rId2"/>
          <a:stretch>
            <a:fillRect/>
          </a:stretch>
        </p:blipFill>
        <p:spPr>
          <a:xfrm>
            <a:off x="8319461" y="336460"/>
            <a:ext cx="2967619" cy="6185079"/>
          </a:xfrm>
          <a:prstGeom prst="rect">
            <a:avLst/>
          </a:prstGeom>
        </p:spPr>
      </p:pic>
    </p:spTree>
    <p:extLst>
      <p:ext uri="{BB962C8B-B14F-4D97-AF65-F5344CB8AC3E}">
        <p14:creationId xmlns:p14="http://schemas.microsoft.com/office/powerpoint/2010/main" val="31302635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20EC6F-BE4E-4DF0-BDEC-25EFEBB17DED}"/>
              </a:ext>
            </a:extLst>
          </p:cNvPr>
          <p:cNvSpPr>
            <a:spLocks noGrp="1"/>
          </p:cNvSpPr>
          <p:nvPr>
            <p:ph type="title"/>
          </p:nvPr>
        </p:nvSpPr>
        <p:spPr>
          <a:xfrm>
            <a:off x="1069848" y="98266"/>
            <a:ext cx="10058400" cy="833805"/>
          </a:xfrm>
        </p:spPr>
        <p:txBody>
          <a:bodyPr/>
          <a:lstStyle/>
          <a:p>
            <a:r>
              <a:rPr lang="en-US" dirty="0"/>
              <a:t>Adding ingredients</a:t>
            </a:r>
          </a:p>
        </p:txBody>
      </p:sp>
      <p:sp>
        <p:nvSpPr>
          <p:cNvPr id="3" name="Content Placeholder 2">
            <a:extLst>
              <a:ext uri="{FF2B5EF4-FFF2-40B4-BE49-F238E27FC236}">
                <a16:creationId xmlns:a16="http://schemas.microsoft.com/office/drawing/2014/main" id="{BC8F5D87-2776-4281-8849-B8A1B5F24454}"/>
              </a:ext>
            </a:extLst>
          </p:cNvPr>
          <p:cNvSpPr>
            <a:spLocks noGrp="1"/>
          </p:cNvSpPr>
          <p:nvPr>
            <p:ph idx="1"/>
          </p:nvPr>
        </p:nvSpPr>
        <p:spPr>
          <a:xfrm>
            <a:off x="1069848" y="932071"/>
            <a:ext cx="10058400" cy="5240129"/>
          </a:xfrm>
        </p:spPr>
        <p:txBody>
          <a:bodyPr>
            <a:normAutofit fontScale="92500" lnSpcReduction="20000"/>
          </a:bodyPr>
          <a:lstStyle/>
          <a:p>
            <a:r>
              <a:rPr lang="en-US" dirty="0"/>
              <a:t>We want it so that when you click on one of the add spans, the text box appears and allows entry of the number of items to add.</a:t>
            </a:r>
          </a:p>
          <a:p>
            <a:r>
              <a:rPr lang="en-US" dirty="0"/>
              <a:t>We could specifically make one function for each add span, but that is wasteful.</a:t>
            </a:r>
          </a:p>
          <a:p>
            <a:r>
              <a:rPr lang="en-US" dirty="0"/>
              <a:t>We will make one general function to handle all the add span functionality (</a:t>
            </a:r>
            <a:r>
              <a:rPr lang="en-US" dirty="0" err="1"/>
              <a:t>showInput</a:t>
            </a:r>
            <a:r>
              <a:rPr lang="en-US" dirty="0"/>
              <a:t>).</a:t>
            </a:r>
          </a:p>
          <a:p>
            <a:r>
              <a:rPr lang="en-US" dirty="0"/>
              <a:t>We also need a function to initialize the spans and link them with the handler code (</a:t>
            </a:r>
            <a:r>
              <a:rPr lang="en-US" dirty="0" err="1"/>
              <a:t>initEvents</a:t>
            </a:r>
            <a:r>
              <a:rPr lang="en-US" dirty="0"/>
              <a:t>).</a:t>
            </a:r>
          </a:p>
          <a:p>
            <a:r>
              <a:rPr lang="en-US" dirty="0"/>
              <a:t>NOTE WE ARE MAKING TWO FUNCTIONS: </a:t>
            </a:r>
          </a:p>
          <a:p>
            <a:pPr lvl="1"/>
            <a:r>
              <a:rPr lang="en-US" dirty="0"/>
              <a:t>The event handler is </a:t>
            </a:r>
            <a:r>
              <a:rPr lang="en-US" dirty="0" err="1"/>
              <a:t>showInput</a:t>
            </a:r>
            <a:r>
              <a:rPr lang="en-US" dirty="0"/>
              <a:t>.  It will be what happened when the item is clicked.</a:t>
            </a:r>
          </a:p>
          <a:p>
            <a:pPr lvl="1"/>
            <a:r>
              <a:rPr lang="en-US" dirty="0"/>
              <a:t>Function </a:t>
            </a:r>
            <a:r>
              <a:rPr lang="en-US" dirty="0" err="1"/>
              <a:t>initEvents</a:t>
            </a:r>
            <a:r>
              <a:rPr lang="en-US" dirty="0"/>
              <a:t> binds the click event on the item to the </a:t>
            </a:r>
            <a:r>
              <a:rPr lang="en-US" dirty="0" err="1"/>
              <a:t>showInput</a:t>
            </a:r>
            <a:r>
              <a:rPr lang="en-US" dirty="0"/>
              <a:t> function.</a:t>
            </a:r>
          </a:p>
          <a:p>
            <a:r>
              <a:rPr lang="en-US" dirty="0"/>
              <a:t>In your JS file, create a new function above </a:t>
            </a:r>
            <a:r>
              <a:rPr lang="en-US" dirty="0" err="1"/>
              <a:t>init</a:t>
            </a:r>
            <a:r>
              <a:rPr lang="en-US" dirty="0"/>
              <a:t> named </a:t>
            </a:r>
            <a:r>
              <a:rPr lang="en-US" dirty="0" err="1"/>
              <a:t>initEvents</a:t>
            </a:r>
            <a:r>
              <a:rPr lang="en-US" dirty="0"/>
              <a:t>.</a:t>
            </a:r>
          </a:p>
          <a:p>
            <a:r>
              <a:rPr lang="en-US" dirty="0"/>
              <a:t>Call </a:t>
            </a:r>
            <a:r>
              <a:rPr lang="en-US" dirty="0" err="1"/>
              <a:t>initEvents</a:t>
            </a:r>
            <a:r>
              <a:rPr lang="en-US" dirty="0"/>
              <a:t> from the bottom of </a:t>
            </a:r>
            <a:r>
              <a:rPr lang="en-US" dirty="0" err="1"/>
              <a:t>init.</a:t>
            </a:r>
            <a:endParaRPr lang="en-US" dirty="0"/>
          </a:p>
          <a:p>
            <a:r>
              <a:rPr lang="en-US" dirty="0"/>
              <a:t>Inside of </a:t>
            </a:r>
            <a:r>
              <a:rPr lang="en-US" dirty="0" err="1"/>
              <a:t>initEvents</a:t>
            </a:r>
            <a:endParaRPr lang="en-US" dirty="0"/>
          </a:p>
          <a:p>
            <a:pPr lvl="1"/>
            <a:r>
              <a:rPr lang="en-US" dirty="0"/>
              <a:t>Get a node list of all the </a:t>
            </a:r>
            <a:r>
              <a:rPr lang="en-US" dirty="0" err="1"/>
              <a:t>hide_me</a:t>
            </a:r>
            <a:r>
              <a:rPr lang="en-US" dirty="0"/>
              <a:t> inputs using </a:t>
            </a:r>
            <a:r>
              <a:rPr lang="en-US" dirty="0" err="1"/>
              <a:t>querySelectorAll</a:t>
            </a:r>
            <a:r>
              <a:rPr lang="en-US" dirty="0"/>
              <a:t>.</a:t>
            </a:r>
          </a:p>
          <a:p>
            <a:pPr lvl="1"/>
            <a:r>
              <a:rPr lang="en-US" dirty="0"/>
              <a:t>Add an onclick event to each input from the node list that calls a function named </a:t>
            </a:r>
            <a:r>
              <a:rPr lang="en-US" dirty="0" err="1"/>
              <a:t>showInput</a:t>
            </a:r>
            <a:r>
              <a:rPr lang="en-US" dirty="0"/>
              <a:t>.</a:t>
            </a:r>
          </a:p>
          <a:p>
            <a:pPr lvl="2"/>
            <a:r>
              <a:rPr lang="en-US" dirty="0"/>
              <a:t>The inputs are hidden, so how can we click on them? Since they are inside of a label with a for, clicking on anything in the label will be the same as clicking on the input. </a:t>
            </a:r>
          </a:p>
          <a:p>
            <a:pPr lvl="1"/>
            <a:r>
              <a:rPr lang="en-US" dirty="0"/>
              <a:t>Add a function </a:t>
            </a:r>
            <a:r>
              <a:rPr lang="en-US" dirty="0" err="1"/>
              <a:t>showInput</a:t>
            </a:r>
            <a:r>
              <a:rPr lang="en-US" dirty="0"/>
              <a:t> as described on the next slide.</a:t>
            </a:r>
          </a:p>
        </p:txBody>
      </p:sp>
    </p:spTree>
    <p:extLst>
      <p:ext uri="{BB962C8B-B14F-4D97-AF65-F5344CB8AC3E}">
        <p14:creationId xmlns:p14="http://schemas.microsoft.com/office/powerpoint/2010/main" val="13082166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9803BF-8E0B-4BA3-B8C2-316DA44BE20B}"/>
              </a:ext>
            </a:extLst>
          </p:cNvPr>
          <p:cNvSpPr>
            <a:spLocks noGrp="1"/>
          </p:cNvSpPr>
          <p:nvPr>
            <p:ph type="title"/>
          </p:nvPr>
        </p:nvSpPr>
        <p:spPr>
          <a:xfrm>
            <a:off x="1069848" y="0"/>
            <a:ext cx="10058400" cy="1020726"/>
          </a:xfrm>
        </p:spPr>
        <p:txBody>
          <a:bodyPr>
            <a:normAutofit/>
          </a:bodyPr>
          <a:lstStyle/>
          <a:p>
            <a:r>
              <a:rPr lang="en-US" cap="none" dirty="0" err="1"/>
              <a:t>showInput</a:t>
            </a:r>
            <a:endParaRPr lang="en-US" cap="none" dirty="0"/>
          </a:p>
        </p:txBody>
      </p:sp>
      <p:sp>
        <p:nvSpPr>
          <p:cNvPr id="3" name="Content Placeholder 2">
            <a:extLst>
              <a:ext uri="{FF2B5EF4-FFF2-40B4-BE49-F238E27FC236}">
                <a16:creationId xmlns:a16="http://schemas.microsoft.com/office/drawing/2014/main" id="{CC7E7C01-F8BB-4348-B6DC-D9A7193C9C47}"/>
              </a:ext>
            </a:extLst>
          </p:cNvPr>
          <p:cNvSpPr>
            <a:spLocks noGrp="1"/>
          </p:cNvSpPr>
          <p:nvPr>
            <p:ph idx="1"/>
          </p:nvPr>
        </p:nvSpPr>
        <p:spPr>
          <a:xfrm>
            <a:off x="1066800" y="903767"/>
            <a:ext cx="10058400" cy="5406656"/>
          </a:xfrm>
        </p:spPr>
        <p:txBody>
          <a:bodyPr>
            <a:normAutofit/>
          </a:bodyPr>
          <a:lstStyle/>
          <a:p>
            <a:r>
              <a:rPr lang="en-US" dirty="0"/>
              <a:t>Call </a:t>
            </a:r>
            <a:r>
              <a:rPr lang="en-US" dirty="0" err="1"/>
              <a:t>hideAll</a:t>
            </a:r>
            <a:r>
              <a:rPr lang="en-US" dirty="0"/>
              <a:t> first.  If any other input text box is visible, we want to close it. </a:t>
            </a:r>
          </a:p>
          <a:p>
            <a:r>
              <a:rPr lang="en-US" dirty="0"/>
              <a:t>Keyword </a:t>
            </a:r>
            <a:r>
              <a:rPr lang="en-US" b="1" i="1" dirty="0"/>
              <a:t>this</a:t>
            </a:r>
            <a:r>
              <a:rPr lang="en-US" dirty="0"/>
              <a:t> will be set to the current element that caused this event handler to fire.</a:t>
            </a:r>
          </a:p>
          <a:p>
            <a:r>
              <a:rPr lang="en-US" dirty="0"/>
              <a:t>Show the text box.  The .style below is how you access an elements style data.</a:t>
            </a:r>
          </a:p>
          <a:p>
            <a:pPr marL="0" indent="0">
              <a:buNone/>
            </a:pPr>
            <a:r>
              <a:rPr lang="en-US" dirty="0"/>
              <a:t>	</a:t>
            </a:r>
            <a:r>
              <a:rPr lang="en-US" dirty="0" err="1"/>
              <a:t>this.style.visibility</a:t>
            </a:r>
            <a:r>
              <a:rPr lang="en-US" dirty="0"/>
              <a:t>='visible';</a:t>
            </a:r>
          </a:p>
          <a:p>
            <a:r>
              <a:rPr lang="en-US" dirty="0"/>
              <a:t>If there was any previous text stored in the input, get rid of it by setting the value to an empty string.</a:t>
            </a:r>
          </a:p>
          <a:p>
            <a:pPr lvl="1"/>
            <a:r>
              <a:rPr lang="en-US" dirty="0" err="1"/>
              <a:t>this.value</a:t>
            </a:r>
            <a:r>
              <a:rPr lang="en-US" dirty="0"/>
              <a:t>=""; </a:t>
            </a:r>
          </a:p>
          <a:p>
            <a:r>
              <a:rPr lang="en-US" dirty="0"/>
              <a:t>Make sure this input has the keyboard focus which means the cursor is there ready for typing.</a:t>
            </a:r>
          </a:p>
          <a:p>
            <a:pPr lvl="1"/>
            <a:r>
              <a:rPr lang="en-US" dirty="0" err="1"/>
              <a:t>this.focus</a:t>
            </a:r>
            <a:r>
              <a:rPr lang="en-US" dirty="0"/>
              <a:t>();</a:t>
            </a:r>
          </a:p>
          <a:p>
            <a:r>
              <a:rPr lang="en-US" dirty="0"/>
              <a:t>When you have all these complete, the input textbox should appear next to the span text when you click on it.  </a:t>
            </a:r>
          </a:p>
          <a:p>
            <a:r>
              <a:rPr lang="en-US" dirty="0"/>
              <a:t>If you click on a different span, the box will disappear from the last and appear on the one you clicked.</a:t>
            </a:r>
          </a:p>
          <a:p>
            <a:endParaRPr lang="en-US" dirty="0"/>
          </a:p>
        </p:txBody>
      </p:sp>
    </p:spTree>
    <p:extLst>
      <p:ext uri="{BB962C8B-B14F-4D97-AF65-F5344CB8AC3E}">
        <p14:creationId xmlns:p14="http://schemas.microsoft.com/office/powerpoint/2010/main" val="27630614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724BB3-19A4-45AA-88E8-1AC9331EEC6C}"/>
              </a:ext>
            </a:extLst>
          </p:cNvPr>
          <p:cNvSpPr>
            <a:spLocks noGrp="1"/>
          </p:cNvSpPr>
          <p:nvPr>
            <p:ph type="title"/>
          </p:nvPr>
        </p:nvSpPr>
        <p:spPr>
          <a:xfrm>
            <a:off x="1066800" y="229451"/>
            <a:ext cx="10058400" cy="748745"/>
          </a:xfrm>
        </p:spPr>
        <p:txBody>
          <a:bodyPr>
            <a:normAutofit fontScale="90000"/>
          </a:bodyPr>
          <a:lstStyle/>
          <a:p>
            <a:r>
              <a:rPr lang="en-US" dirty="0"/>
              <a:t>Getting the input</a:t>
            </a:r>
          </a:p>
        </p:txBody>
      </p:sp>
      <p:sp>
        <p:nvSpPr>
          <p:cNvPr id="3" name="Content Placeholder 2">
            <a:extLst>
              <a:ext uri="{FF2B5EF4-FFF2-40B4-BE49-F238E27FC236}">
                <a16:creationId xmlns:a16="http://schemas.microsoft.com/office/drawing/2014/main" id="{788B0585-0E6D-4524-81A2-7BA83F3961BC}"/>
              </a:ext>
            </a:extLst>
          </p:cNvPr>
          <p:cNvSpPr>
            <a:spLocks noGrp="1"/>
          </p:cNvSpPr>
          <p:nvPr>
            <p:ph idx="1"/>
          </p:nvPr>
        </p:nvSpPr>
        <p:spPr>
          <a:xfrm>
            <a:off x="1069848" y="978196"/>
            <a:ext cx="10058400" cy="5194004"/>
          </a:xfrm>
        </p:spPr>
        <p:txBody>
          <a:bodyPr>
            <a:normAutofit/>
          </a:bodyPr>
          <a:lstStyle/>
          <a:p>
            <a:r>
              <a:rPr lang="en-US" dirty="0"/>
              <a:t>Right now, when you enter a number of ingredients, it doesn't do anything.</a:t>
            </a:r>
          </a:p>
          <a:p>
            <a:r>
              <a:rPr lang="en-US" dirty="0"/>
              <a:t>We need to take the number and add it to the appropriate ingredient. </a:t>
            </a:r>
          </a:p>
          <a:p>
            <a:r>
              <a:rPr lang="en-US" dirty="0"/>
              <a:t>The issue is that the input doesn't know when you are done.  </a:t>
            </a:r>
          </a:p>
          <a:p>
            <a:r>
              <a:rPr lang="en-US" dirty="0"/>
              <a:t>Typically, the enter key signifies when you are finished.</a:t>
            </a:r>
          </a:p>
          <a:p>
            <a:r>
              <a:rPr lang="en-US" dirty="0"/>
              <a:t>Like before we need to set up the click event (we will use the existing </a:t>
            </a:r>
            <a:r>
              <a:rPr lang="en-US" dirty="0" err="1"/>
              <a:t>initEvents</a:t>
            </a:r>
            <a:r>
              <a:rPr lang="en-US" dirty="0"/>
              <a:t>).</a:t>
            </a:r>
          </a:p>
          <a:p>
            <a:r>
              <a:rPr lang="en-US" dirty="0"/>
              <a:t>Then we need a function to handle the event and actually adds the ingredients (</a:t>
            </a:r>
            <a:r>
              <a:rPr lang="en-US" dirty="0" err="1"/>
              <a:t>addIngredient</a:t>
            </a:r>
            <a:r>
              <a:rPr lang="en-US" dirty="0"/>
              <a:t>).</a:t>
            </a:r>
          </a:p>
          <a:p>
            <a:r>
              <a:rPr lang="en-US" dirty="0"/>
              <a:t>So, we need a </a:t>
            </a:r>
            <a:r>
              <a:rPr lang="en-US" dirty="0" err="1"/>
              <a:t>KeyboardEvent</a:t>
            </a:r>
            <a:r>
              <a:rPr lang="en-US" dirty="0"/>
              <a:t> to detect when enter is pressed.</a:t>
            </a:r>
          </a:p>
          <a:p>
            <a:r>
              <a:rPr lang="en-US" dirty="0"/>
              <a:t>In the previously created </a:t>
            </a:r>
            <a:r>
              <a:rPr lang="en-US" dirty="0" err="1"/>
              <a:t>initEvents</a:t>
            </a:r>
            <a:r>
              <a:rPr lang="en-US" dirty="0"/>
              <a:t> function, we added the onclick event to all the inputs.  </a:t>
            </a:r>
          </a:p>
          <a:p>
            <a:pPr lvl="1"/>
            <a:r>
              <a:rPr lang="en-US" dirty="0"/>
              <a:t>We also need to add a </a:t>
            </a:r>
            <a:r>
              <a:rPr lang="en-US" dirty="0" err="1"/>
              <a:t>keydown</a:t>
            </a:r>
            <a:r>
              <a:rPr lang="en-US" dirty="0"/>
              <a:t> event.  Why </a:t>
            </a:r>
            <a:r>
              <a:rPr lang="en-US" dirty="0" err="1"/>
              <a:t>keydown</a:t>
            </a:r>
            <a:r>
              <a:rPr lang="en-US" dirty="0"/>
              <a:t>?</a:t>
            </a:r>
          </a:p>
          <a:p>
            <a:pPr lvl="1"/>
            <a:r>
              <a:rPr lang="en-US" dirty="0"/>
              <a:t>Add the </a:t>
            </a:r>
            <a:r>
              <a:rPr lang="en-US" dirty="0" err="1"/>
              <a:t>keydown</a:t>
            </a:r>
            <a:r>
              <a:rPr lang="en-US" dirty="0"/>
              <a:t> event to run a new function named </a:t>
            </a:r>
            <a:r>
              <a:rPr lang="en-US" dirty="0" err="1"/>
              <a:t>addIngredient</a:t>
            </a:r>
            <a:r>
              <a:rPr lang="en-US" dirty="0"/>
              <a:t>.</a:t>
            </a:r>
          </a:p>
          <a:p>
            <a:r>
              <a:rPr lang="en-US" dirty="0"/>
              <a:t>Create function </a:t>
            </a:r>
            <a:r>
              <a:rPr lang="en-US" dirty="0" err="1"/>
              <a:t>addIngredient</a:t>
            </a:r>
            <a:r>
              <a:rPr lang="en-US" dirty="0"/>
              <a:t> as described in the next slide.</a:t>
            </a:r>
          </a:p>
        </p:txBody>
      </p:sp>
    </p:spTree>
    <p:extLst>
      <p:ext uri="{BB962C8B-B14F-4D97-AF65-F5344CB8AC3E}">
        <p14:creationId xmlns:p14="http://schemas.microsoft.com/office/powerpoint/2010/main" val="12072274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F1BE0E-B20C-455E-97B1-089CB5044726}"/>
              </a:ext>
            </a:extLst>
          </p:cNvPr>
          <p:cNvSpPr>
            <a:spLocks noGrp="1"/>
          </p:cNvSpPr>
          <p:nvPr>
            <p:ph type="title"/>
          </p:nvPr>
        </p:nvSpPr>
        <p:spPr/>
        <p:txBody>
          <a:bodyPr/>
          <a:lstStyle/>
          <a:p>
            <a:r>
              <a:rPr lang="en-US" dirty="0"/>
              <a:t>Keyboard input with </a:t>
            </a:r>
            <a:r>
              <a:rPr lang="en-US" dirty="0">
                <a:hlinkClick r:id="rId2"/>
              </a:rPr>
              <a:t>keyboardEvent</a:t>
            </a:r>
            <a:endParaRPr lang="en-US" dirty="0"/>
          </a:p>
        </p:txBody>
      </p:sp>
      <p:sp>
        <p:nvSpPr>
          <p:cNvPr id="3" name="Content Placeholder 2">
            <a:extLst>
              <a:ext uri="{FF2B5EF4-FFF2-40B4-BE49-F238E27FC236}">
                <a16:creationId xmlns:a16="http://schemas.microsoft.com/office/drawing/2014/main" id="{58A171BD-2255-458C-8C3F-159CAA271104}"/>
              </a:ext>
            </a:extLst>
          </p:cNvPr>
          <p:cNvSpPr>
            <a:spLocks noGrp="1"/>
          </p:cNvSpPr>
          <p:nvPr>
            <p:ph idx="1"/>
          </p:nvPr>
        </p:nvSpPr>
        <p:spPr>
          <a:xfrm>
            <a:off x="1066800" y="1813063"/>
            <a:ext cx="10058400" cy="4050792"/>
          </a:xfrm>
        </p:spPr>
        <p:txBody>
          <a:bodyPr>
            <a:normAutofit fontScale="92500" lnSpcReduction="20000"/>
          </a:bodyPr>
          <a:lstStyle/>
          <a:p>
            <a:r>
              <a:rPr lang="en-US" dirty="0"/>
              <a:t>Functions designated as event handlers are automatically passed an event object.</a:t>
            </a:r>
          </a:p>
          <a:p>
            <a:r>
              <a:rPr lang="en-US" dirty="0"/>
              <a:t>You can access that object by providing a parameter as shown (e is the event).</a:t>
            </a:r>
          </a:p>
          <a:p>
            <a:r>
              <a:rPr lang="en-US" dirty="0"/>
              <a:t>In the function, </a:t>
            </a:r>
            <a:r>
              <a:rPr lang="en-US" dirty="0" err="1"/>
              <a:t>e.key</a:t>
            </a:r>
            <a:r>
              <a:rPr lang="en-US" dirty="0"/>
              <a:t> will return the ASCII value of the key typed.</a:t>
            </a:r>
          </a:p>
          <a:p>
            <a:r>
              <a:rPr lang="en-US" dirty="0"/>
              <a:t>All we need to do is see if it is the enter key.</a:t>
            </a:r>
          </a:p>
          <a:p>
            <a:pPr marL="0" indent="0">
              <a:buNone/>
            </a:pPr>
            <a:r>
              <a:rPr lang="en-US" dirty="0"/>
              <a:t>	function </a:t>
            </a:r>
            <a:r>
              <a:rPr lang="en-US" dirty="0" err="1"/>
              <a:t>addIngredient</a:t>
            </a:r>
            <a:r>
              <a:rPr lang="en-US" dirty="0"/>
              <a:t>(e)</a:t>
            </a:r>
          </a:p>
          <a:p>
            <a:pPr marL="0" indent="0">
              <a:buNone/>
            </a:pPr>
            <a:r>
              <a:rPr lang="en-US" dirty="0"/>
              <a:t>	{</a:t>
            </a:r>
          </a:p>
          <a:p>
            <a:pPr marL="0" indent="0">
              <a:buNone/>
            </a:pPr>
            <a:r>
              <a:rPr lang="en-US" dirty="0"/>
              <a:t>		if (</a:t>
            </a:r>
            <a:r>
              <a:rPr lang="en-US" dirty="0" err="1"/>
              <a:t>e.key</a:t>
            </a:r>
            <a:r>
              <a:rPr lang="en-US" dirty="0"/>
              <a:t> == "Enter")</a:t>
            </a:r>
          </a:p>
          <a:p>
            <a:pPr marL="0" indent="0">
              <a:buNone/>
            </a:pPr>
            <a:r>
              <a:rPr lang="en-US" dirty="0"/>
              <a:t>		{</a:t>
            </a:r>
          </a:p>
          <a:p>
            <a:pPr marL="0" indent="0">
              <a:buNone/>
            </a:pPr>
            <a:r>
              <a:rPr lang="en-US" dirty="0"/>
              <a:t>			//We are done so process the value.</a:t>
            </a:r>
          </a:p>
          <a:p>
            <a:pPr marL="0" indent="0">
              <a:buNone/>
            </a:pPr>
            <a:r>
              <a:rPr lang="en-US" dirty="0"/>
              <a:t>		}</a:t>
            </a:r>
          </a:p>
          <a:p>
            <a:pPr marL="0" indent="0">
              <a:buNone/>
            </a:pPr>
            <a:r>
              <a:rPr lang="en-US" dirty="0"/>
              <a:t>	} </a:t>
            </a:r>
          </a:p>
        </p:txBody>
      </p:sp>
    </p:spTree>
    <p:extLst>
      <p:ext uri="{BB962C8B-B14F-4D97-AF65-F5344CB8AC3E}">
        <p14:creationId xmlns:p14="http://schemas.microsoft.com/office/powerpoint/2010/main" val="382228904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40BA73-2782-4106-839F-EA957234D938}"/>
              </a:ext>
            </a:extLst>
          </p:cNvPr>
          <p:cNvSpPr>
            <a:spLocks noGrp="1"/>
          </p:cNvSpPr>
          <p:nvPr>
            <p:ph type="title"/>
          </p:nvPr>
        </p:nvSpPr>
        <p:spPr>
          <a:xfrm>
            <a:off x="1066800" y="93460"/>
            <a:ext cx="10058400" cy="1184680"/>
          </a:xfrm>
        </p:spPr>
        <p:txBody>
          <a:bodyPr/>
          <a:lstStyle/>
          <a:p>
            <a:r>
              <a:rPr lang="en-US" dirty="0"/>
              <a:t>Processing the </a:t>
            </a:r>
            <a:r>
              <a:rPr lang="en-US" dirty="0" err="1"/>
              <a:t>keydown</a:t>
            </a:r>
            <a:r>
              <a:rPr lang="en-US" dirty="0"/>
              <a:t> event</a:t>
            </a:r>
          </a:p>
        </p:txBody>
      </p:sp>
      <p:sp>
        <p:nvSpPr>
          <p:cNvPr id="3" name="Content Placeholder 2">
            <a:extLst>
              <a:ext uri="{FF2B5EF4-FFF2-40B4-BE49-F238E27FC236}">
                <a16:creationId xmlns:a16="http://schemas.microsoft.com/office/drawing/2014/main" id="{BFB91F54-827E-4AE8-8972-2D8DCA8F3F72}"/>
              </a:ext>
            </a:extLst>
          </p:cNvPr>
          <p:cNvSpPr>
            <a:spLocks noGrp="1"/>
          </p:cNvSpPr>
          <p:nvPr>
            <p:ph idx="1"/>
          </p:nvPr>
        </p:nvSpPr>
        <p:spPr>
          <a:xfrm>
            <a:off x="1069848" y="1159283"/>
            <a:ext cx="10487152" cy="5055781"/>
          </a:xfrm>
        </p:spPr>
        <p:txBody>
          <a:bodyPr>
            <a:normAutofit/>
          </a:bodyPr>
          <a:lstStyle/>
          <a:p>
            <a:r>
              <a:rPr lang="en-US" dirty="0"/>
              <a:t>There are four possible inputs that could have been typed.</a:t>
            </a:r>
          </a:p>
          <a:p>
            <a:r>
              <a:rPr lang="en-US" dirty="0"/>
              <a:t>How to tell which one started this event?  We can use </a:t>
            </a:r>
            <a:r>
              <a:rPr lang="en-US" dirty="0" err="1"/>
              <a:t>e.target</a:t>
            </a:r>
            <a:r>
              <a:rPr lang="en-US" dirty="0"/>
              <a:t> and the id.</a:t>
            </a:r>
          </a:p>
          <a:p>
            <a:pPr marL="0" indent="0">
              <a:buNone/>
            </a:pPr>
            <a:r>
              <a:rPr lang="en-US" dirty="0"/>
              <a:t>    function </a:t>
            </a:r>
            <a:r>
              <a:rPr lang="en-US" dirty="0" err="1"/>
              <a:t>addIngredient</a:t>
            </a:r>
            <a:r>
              <a:rPr lang="en-US" dirty="0"/>
              <a:t>(e) {</a:t>
            </a:r>
          </a:p>
          <a:p>
            <a:pPr marL="0" indent="0">
              <a:buNone/>
            </a:pPr>
            <a:r>
              <a:rPr lang="en-US" dirty="0"/>
              <a:t>        if (</a:t>
            </a:r>
            <a:r>
              <a:rPr lang="en-US" dirty="0" err="1"/>
              <a:t>e.key</a:t>
            </a:r>
            <a:r>
              <a:rPr lang="en-US" dirty="0"/>
              <a:t> == "Enter") {  </a:t>
            </a:r>
          </a:p>
          <a:p>
            <a:pPr marL="0" indent="0">
              <a:buNone/>
            </a:pPr>
            <a:r>
              <a:rPr lang="en-US" dirty="0"/>
              <a:t>            if (e.target.id == "</a:t>
            </a:r>
            <a:r>
              <a:rPr lang="en-US" dirty="0" err="1"/>
              <a:t>tbBananas</a:t>
            </a:r>
            <a:r>
              <a:rPr lang="en-US" dirty="0"/>
              <a:t>) { </a:t>
            </a:r>
            <a:r>
              <a:rPr lang="en-US" dirty="0" err="1"/>
              <a:t>ls.bananas</a:t>
            </a:r>
            <a:r>
              <a:rPr lang="en-US" dirty="0"/>
              <a:t> += (+</a:t>
            </a:r>
            <a:r>
              <a:rPr lang="en-US" dirty="0" err="1"/>
              <a:t>e.target.value</a:t>
            </a:r>
            <a:r>
              <a:rPr lang="en-US" dirty="0"/>
              <a:t>); }</a:t>
            </a:r>
          </a:p>
          <a:p>
            <a:pPr marL="0" indent="0">
              <a:buNone/>
            </a:pPr>
            <a:r>
              <a:rPr lang="en-US" dirty="0"/>
              <a:t>            else if (e.target.id == "</a:t>
            </a:r>
            <a:r>
              <a:rPr lang="en-US" dirty="0" err="1"/>
              <a:t>tbWater</a:t>
            </a:r>
            <a:r>
              <a:rPr lang="en-US" dirty="0"/>
              <a:t>") { ls. Water += (+</a:t>
            </a:r>
            <a:r>
              <a:rPr lang="en-US" dirty="0" err="1"/>
              <a:t>e.target.value</a:t>
            </a:r>
            <a:r>
              <a:rPr lang="en-US" dirty="0"/>
              <a:t>); }</a:t>
            </a:r>
          </a:p>
          <a:p>
            <a:pPr marL="0" indent="0">
              <a:buNone/>
            </a:pPr>
            <a:r>
              <a:rPr lang="en-US" dirty="0"/>
              <a:t>            else if (e.target.id == "</a:t>
            </a:r>
            <a:r>
              <a:rPr lang="en-US" dirty="0" err="1"/>
              <a:t>tbSugar</a:t>
            </a:r>
            <a:r>
              <a:rPr lang="en-US" dirty="0"/>
              <a:t>") { ls. Sugar += (+</a:t>
            </a:r>
            <a:r>
              <a:rPr lang="en-US" dirty="0" err="1"/>
              <a:t>e.target.value</a:t>
            </a:r>
            <a:r>
              <a:rPr lang="en-US" dirty="0"/>
              <a:t>); }</a:t>
            </a:r>
          </a:p>
          <a:p>
            <a:pPr marL="0" indent="0">
              <a:buNone/>
            </a:pPr>
            <a:r>
              <a:rPr lang="en-US" dirty="0"/>
              <a:t>            else if (e.target.id == "</a:t>
            </a:r>
            <a:r>
              <a:rPr lang="en-US" dirty="0" err="1"/>
              <a:t>tbEmptyGlasses</a:t>
            </a:r>
            <a:r>
              <a:rPr lang="en-US" dirty="0"/>
              <a:t>") { </a:t>
            </a:r>
            <a:r>
              <a:rPr lang="en-US" dirty="0" err="1"/>
              <a:t>ls.emptyGlasses</a:t>
            </a:r>
            <a:r>
              <a:rPr lang="en-US" dirty="0"/>
              <a:t> += (+</a:t>
            </a:r>
            <a:r>
              <a:rPr lang="en-US" dirty="0" err="1"/>
              <a:t>e.target.value</a:t>
            </a:r>
            <a:r>
              <a:rPr lang="en-US" dirty="0"/>
              <a:t>); }</a:t>
            </a:r>
          </a:p>
          <a:p>
            <a:pPr marL="0" indent="0">
              <a:buNone/>
            </a:pPr>
            <a:r>
              <a:rPr lang="en-US" dirty="0"/>
              <a:t>            alert(</a:t>
            </a:r>
            <a:r>
              <a:rPr lang="en-US" dirty="0" err="1"/>
              <a:t>ls.bananas</a:t>
            </a:r>
            <a:r>
              <a:rPr lang="en-US" dirty="0"/>
              <a:t>)</a:t>
            </a:r>
          </a:p>
          <a:p>
            <a:pPr marL="0" indent="0">
              <a:buNone/>
            </a:pPr>
            <a:r>
              <a:rPr lang="en-US" dirty="0"/>
              <a:t>        } 	 </a:t>
            </a:r>
          </a:p>
          <a:p>
            <a:pPr marL="0" indent="0">
              <a:buNone/>
            </a:pPr>
            <a:r>
              <a:rPr lang="en-US" dirty="0"/>
              <a:t>    }</a:t>
            </a:r>
          </a:p>
          <a:p>
            <a:endParaRPr lang="en-US" dirty="0"/>
          </a:p>
        </p:txBody>
      </p:sp>
    </p:spTree>
    <p:extLst>
      <p:ext uri="{BB962C8B-B14F-4D97-AF65-F5344CB8AC3E}">
        <p14:creationId xmlns:p14="http://schemas.microsoft.com/office/powerpoint/2010/main" val="411214768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A2116E-CAA1-87CB-ED78-2B57E41B69B8}"/>
              </a:ext>
            </a:extLst>
          </p:cNvPr>
          <p:cNvSpPr>
            <a:spLocks noGrp="1"/>
          </p:cNvSpPr>
          <p:nvPr>
            <p:ph type="title"/>
          </p:nvPr>
        </p:nvSpPr>
        <p:spPr>
          <a:xfrm>
            <a:off x="1066800" y="0"/>
            <a:ext cx="10058400" cy="899886"/>
          </a:xfrm>
        </p:spPr>
        <p:txBody>
          <a:bodyPr/>
          <a:lstStyle/>
          <a:p>
            <a:r>
              <a:rPr lang="en-US" dirty="0"/>
              <a:t>Some error checking</a:t>
            </a:r>
          </a:p>
        </p:txBody>
      </p:sp>
      <p:sp>
        <p:nvSpPr>
          <p:cNvPr id="3" name="Content Placeholder 2">
            <a:extLst>
              <a:ext uri="{FF2B5EF4-FFF2-40B4-BE49-F238E27FC236}">
                <a16:creationId xmlns:a16="http://schemas.microsoft.com/office/drawing/2014/main" id="{47C393AA-D5B9-A9D3-6D67-EAD4F67E3DE2}"/>
              </a:ext>
            </a:extLst>
          </p:cNvPr>
          <p:cNvSpPr>
            <a:spLocks noGrp="1"/>
          </p:cNvSpPr>
          <p:nvPr>
            <p:ph idx="1"/>
          </p:nvPr>
        </p:nvSpPr>
        <p:spPr>
          <a:xfrm>
            <a:off x="457200" y="1146629"/>
            <a:ext cx="11125200" cy="5025571"/>
          </a:xfrm>
        </p:spPr>
        <p:txBody>
          <a:bodyPr>
            <a:normAutofit fontScale="85000" lnSpcReduction="20000"/>
          </a:bodyPr>
          <a:lstStyle/>
          <a:p>
            <a:r>
              <a:rPr lang="en-US" dirty="0"/>
              <a:t>We only want digits in the input.  </a:t>
            </a:r>
          </a:p>
          <a:p>
            <a:r>
              <a:rPr lang="en-US" dirty="0"/>
              <a:t>We will use a regular expression to check the input before finishing.</a:t>
            </a:r>
          </a:p>
          <a:p>
            <a:pPr marL="0" indent="0">
              <a:buNone/>
            </a:pPr>
            <a:r>
              <a:rPr lang="en-US" dirty="0"/>
              <a:t>	function </a:t>
            </a:r>
            <a:r>
              <a:rPr lang="en-US" dirty="0" err="1"/>
              <a:t>addIngredient</a:t>
            </a:r>
            <a:r>
              <a:rPr lang="en-US" dirty="0"/>
              <a:t>(e) {</a:t>
            </a:r>
          </a:p>
          <a:p>
            <a:pPr marL="0" indent="0">
              <a:buNone/>
            </a:pPr>
            <a:r>
              <a:rPr lang="en-US" dirty="0"/>
              <a:t>	    if (</a:t>
            </a:r>
            <a:r>
              <a:rPr lang="en-US" dirty="0" err="1"/>
              <a:t>e.key</a:t>
            </a:r>
            <a:r>
              <a:rPr lang="en-US" dirty="0"/>
              <a:t> == "Enter") {  </a:t>
            </a:r>
          </a:p>
          <a:p>
            <a:pPr marL="0" indent="0">
              <a:buNone/>
            </a:pPr>
            <a:r>
              <a:rPr lang="en-US" dirty="0"/>
              <a:t>	        let re = /^[0-9]*$/;   //This is a regular expression for pattern matching</a:t>
            </a:r>
          </a:p>
          <a:p>
            <a:pPr marL="0" indent="0">
              <a:buNone/>
            </a:pPr>
            <a:r>
              <a:rPr lang="en-US" dirty="0"/>
              <a:t>      	        if (</a:t>
            </a:r>
            <a:r>
              <a:rPr lang="en-US" dirty="0" err="1"/>
              <a:t>re.test</a:t>
            </a:r>
            <a:r>
              <a:rPr lang="en-US" dirty="0"/>
              <a:t>(</a:t>
            </a:r>
            <a:r>
              <a:rPr lang="en-US" dirty="0" err="1"/>
              <a:t>e.target.value</a:t>
            </a:r>
            <a:r>
              <a:rPr lang="en-US" dirty="0"/>
              <a:t>)) {	</a:t>
            </a:r>
          </a:p>
          <a:p>
            <a:pPr marL="0" indent="0">
              <a:buNone/>
            </a:pPr>
            <a:r>
              <a:rPr lang="en-US" dirty="0"/>
              <a:t> 		if (e.target.id == "</a:t>
            </a:r>
            <a:r>
              <a:rPr lang="en-US" dirty="0" err="1"/>
              <a:t>tbBananas</a:t>
            </a:r>
            <a:r>
              <a:rPr lang="en-US" dirty="0"/>
              <a:t>) { </a:t>
            </a:r>
            <a:r>
              <a:rPr lang="en-US" dirty="0" err="1"/>
              <a:t>ls.bananas</a:t>
            </a:r>
            <a:r>
              <a:rPr lang="en-US" dirty="0"/>
              <a:t> += (+</a:t>
            </a:r>
            <a:r>
              <a:rPr lang="en-US" dirty="0" err="1"/>
              <a:t>e.target.value</a:t>
            </a:r>
            <a:r>
              <a:rPr lang="en-US" dirty="0"/>
              <a:t>); }</a:t>
            </a:r>
          </a:p>
          <a:p>
            <a:pPr marL="0" indent="0">
              <a:buNone/>
            </a:pPr>
            <a:r>
              <a:rPr lang="en-US" dirty="0"/>
              <a:t>	            	else if (e.target.id == "</a:t>
            </a:r>
            <a:r>
              <a:rPr lang="en-US" dirty="0" err="1"/>
              <a:t>tbWater</a:t>
            </a:r>
            <a:r>
              <a:rPr lang="en-US" dirty="0"/>
              <a:t>") { ls. Water += (+</a:t>
            </a:r>
            <a:r>
              <a:rPr lang="en-US" dirty="0" err="1"/>
              <a:t>e.target.value</a:t>
            </a:r>
            <a:r>
              <a:rPr lang="en-US" dirty="0"/>
              <a:t>); }</a:t>
            </a:r>
          </a:p>
          <a:p>
            <a:pPr marL="0" indent="0">
              <a:buNone/>
            </a:pPr>
            <a:r>
              <a:rPr lang="en-US" dirty="0"/>
              <a:t>		else if (e.target.id == "</a:t>
            </a:r>
            <a:r>
              <a:rPr lang="en-US" dirty="0" err="1"/>
              <a:t>tbSugar</a:t>
            </a:r>
            <a:r>
              <a:rPr lang="en-US" dirty="0"/>
              <a:t>") { ls. Sugar += (+</a:t>
            </a:r>
            <a:r>
              <a:rPr lang="en-US" dirty="0" err="1"/>
              <a:t>e.target.value</a:t>
            </a:r>
            <a:r>
              <a:rPr lang="en-US" dirty="0"/>
              <a:t>); }</a:t>
            </a:r>
          </a:p>
          <a:p>
            <a:pPr marL="0" indent="0">
              <a:buNone/>
            </a:pPr>
            <a:r>
              <a:rPr lang="en-US" dirty="0"/>
              <a:t>	            	else if (e.target.id == "</a:t>
            </a:r>
            <a:r>
              <a:rPr lang="en-US" dirty="0" err="1"/>
              <a:t>tbEmptyGlasses</a:t>
            </a:r>
            <a:r>
              <a:rPr lang="en-US" dirty="0"/>
              <a:t>") { </a:t>
            </a:r>
            <a:r>
              <a:rPr lang="en-US" dirty="0" err="1"/>
              <a:t>ls.emptyGlasses</a:t>
            </a:r>
            <a:r>
              <a:rPr lang="en-US" dirty="0"/>
              <a:t> += (+</a:t>
            </a:r>
            <a:r>
              <a:rPr lang="en-US" dirty="0" err="1"/>
              <a:t>e.target.value</a:t>
            </a:r>
            <a:r>
              <a:rPr lang="en-US" dirty="0"/>
              <a:t>); }	        </a:t>
            </a:r>
          </a:p>
          <a:p>
            <a:pPr marL="0" indent="0">
              <a:buNone/>
            </a:pPr>
            <a:r>
              <a:rPr lang="en-US" dirty="0"/>
              <a:t>	        } else {</a:t>
            </a:r>
          </a:p>
          <a:p>
            <a:pPr marL="0" indent="0">
              <a:buNone/>
            </a:pPr>
            <a:r>
              <a:rPr lang="en-US" dirty="0"/>
              <a:t>		</a:t>
            </a:r>
            <a:r>
              <a:rPr lang="en-US" dirty="0" err="1"/>
              <a:t>e.target.style.backgroundColor</a:t>
            </a:r>
            <a:r>
              <a:rPr lang="en-US" dirty="0"/>
              <a:t>="#FFAAAA";}  //Turn the input red</a:t>
            </a:r>
          </a:p>
          <a:p>
            <a:pPr marL="0" indent="0">
              <a:buNone/>
            </a:pPr>
            <a:r>
              <a:rPr lang="en-US" dirty="0"/>
              <a:t>	        }</a:t>
            </a:r>
          </a:p>
          <a:p>
            <a:pPr marL="0" indent="0">
              <a:buNone/>
            </a:pPr>
            <a:r>
              <a:rPr lang="en-US" dirty="0"/>
              <a:t>                     }</a:t>
            </a:r>
          </a:p>
          <a:p>
            <a:pPr marL="0" indent="0">
              <a:buNone/>
            </a:pPr>
            <a:r>
              <a:rPr lang="en-US" dirty="0"/>
              <a:t>  	}  //We need to change the </a:t>
            </a:r>
            <a:r>
              <a:rPr lang="en-US" dirty="0" err="1"/>
              <a:t>backgroundColor</a:t>
            </a:r>
            <a:r>
              <a:rPr lang="en-US" dirty="0"/>
              <a:t> back to white at some point.</a:t>
            </a:r>
          </a:p>
          <a:p>
            <a:pPr marL="0" indent="0">
              <a:buNone/>
            </a:pPr>
            <a:endParaRPr lang="en-US" dirty="0"/>
          </a:p>
        </p:txBody>
      </p:sp>
    </p:spTree>
    <p:extLst>
      <p:ext uri="{BB962C8B-B14F-4D97-AF65-F5344CB8AC3E}">
        <p14:creationId xmlns:p14="http://schemas.microsoft.com/office/powerpoint/2010/main" val="204630347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6DD0AD-CE92-416D-FA63-EAA6C4C7BDEA}"/>
              </a:ext>
            </a:extLst>
          </p:cNvPr>
          <p:cNvSpPr>
            <a:spLocks noGrp="1"/>
          </p:cNvSpPr>
          <p:nvPr>
            <p:ph type="title"/>
          </p:nvPr>
        </p:nvSpPr>
        <p:spPr>
          <a:xfrm>
            <a:off x="1066800" y="129032"/>
            <a:ext cx="10058400" cy="603939"/>
          </a:xfrm>
        </p:spPr>
        <p:txBody>
          <a:bodyPr>
            <a:normAutofit fontScale="90000"/>
          </a:bodyPr>
          <a:lstStyle/>
          <a:p>
            <a:r>
              <a:rPr lang="en-US" dirty="0"/>
              <a:t>Regular expressions</a:t>
            </a:r>
          </a:p>
        </p:txBody>
      </p:sp>
      <p:sp>
        <p:nvSpPr>
          <p:cNvPr id="3" name="Content Placeholder 2">
            <a:extLst>
              <a:ext uri="{FF2B5EF4-FFF2-40B4-BE49-F238E27FC236}">
                <a16:creationId xmlns:a16="http://schemas.microsoft.com/office/drawing/2014/main" id="{F23AE551-1EEC-E69D-58B3-F0BE09268AA8}"/>
              </a:ext>
            </a:extLst>
          </p:cNvPr>
          <p:cNvSpPr>
            <a:spLocks noGrp="1"/>
          </p:cNvSpPr>
          <p:nvPr>
            <p:ph idx="1"/>
          </p:nvPr>
        </p:nvSpPr>
        <p:spPr>
          <a:xfrm>
            <a:off x="769257" y="732971"/>
            <a:ext cx="10537371" cy="6125029"/>
          </a:xfrm>
        </p:spPr>
        <p:txBody>
          <a:bodyPr>
            <a:normAutofit/>
          </a:bodyPr>
          <a:lstStyle/>
          <a:p>
            <a:r>
              <a:rPr lang="en-US" dirty="0"/>
              <a:t>Create a regular expression this way.   The / act like " in a string to define the bounds of a regular expression.</a:t>
            </a:r>
          </a:p>
          <a:p>
            <a:pPr marL="0" indent="0">
              <a:buNone/>
            </a:pPr>
            <a:r>
              <a:rPr lang="en-US" dirty="0"/>
              <a:t>	    let re = /^[0-9]*$/; </a:t>
            </a:r>
          </a:p>
          <a:p>
            <a:pPr marL="0" indent="0">
              <a:lnSpc>
                <a:spcPct val="100000"/>
              </a:lnSpc>
              <a:spcBef>
                <a:spcPts val="0"/>
              </a:spcBef>
              <a:spcAft>
                <a:spcPts val="600"/>
              </a:spcAft>
              <a:buNone/>
            </a:pPr>
            <a:r>
              <a:rPr lang="en-US" dirty="0"/>
              <a:t>	    </a:t>
            </a:r>
            <a:r>
              <a:rPr lang="en-US" dirty="0" err="1"/>
              <a:t>re.test</a:t>
            </a:r>
            <a:r>
              <a:rPr lang="en-US" dirty="0"/>
              <a:t>(</a:t>
            </a:r>
            <a:r>
              <a:rPr lang="en-US" dirty="0" err="1"/>
              <a:t>e.target.value</a:t>
            </a:r>
            <a:r>
              <a:rPr lang="en-US" dirty="0"/>
              <a:t>); //Returns true if the value matches the pattern.</a:t>
            </a:r>
          </a:p>
          <a:p>
            <a:pPr lvl="1"/>
            <a:r>
              <a:rPr lang="en-US" dirty="0"/>
              <a:t>[] represents a range of characters</a:t>
            </a:r>
          </a:p>
          <a:p>
            <a:pPr lvl="1"/>
            <a:r>
              <a:rPr lang="en-US" dirty="0"/>
              <a:t>[0-9] matches any SINGLE character 0 through 9.</a:t>
            </a:r>
          </a:p>
          <a:p>
            <a:pPr lvl="1"/>
            <a:r>
              <a:rPr lang="en-US" dirty="0"/>
              <a:t>[a-z] matches any SINGLE character a through z.</a:t>
            </a:r>
          </a:p>
          <a:p>
            <a:pPr lvl="1"/>
            <a:r>
              <a:rPr lang="en-US" dirty="0"/>
              <a:t>[0-</a:t>
            </a:r>
            <a:r>
              <a:rPr lang="en-US" dirty="0" err="1"/>
              <a:t>9a</a:t>
            </a:r>
            <a:r>
              <a:rPr lang="en-US" dirty="0"/>
              <a:t>-</a:t>
            </a:r>
            <a:r>
              <a:rPr lang="en-US" dirty="0" err="1"/>
              <a:t>zA</a:t>
            </a:r>
            <a:r>
              <a:rPr lang="en-US" dirty="0"/>
              <a:t>-Z] matches any SINGLE character that is a number or letter.</a:t>
            </a:r>
          </a:p>
          <a:p>
            <a:pPr lvl="1"/>
            <a:r>
              <a:rPr lang="en-US" dirty="0"/>
              <a:t>* after the [] means match zero or more of the previous.  (+ means 1 or more. ? Means 0 or 1.)</a:t>
            </a:r>
          </a:p>
          <a:p>
            <a:pPr lvl="1"/>
            <a:r>
              <a:rPr lang="en-US" dirty="0"/>
              <a:t>[0-9]* means match no digits or any number of digits.  </a:t>
            </a:r>
          </a:p>
          <a:p>
            <a:pPr lvl="1"/>
            <a:r>
              <a:rPr lang="en-US" dirty="0"/>
              <a:t>^ means start of the string.</a:t>
            </a:r>
          </a:p>
          <a:p>
            <a:pPr lvl="1"/>
            <a:r>
              <a:rPr lang="en-US" dirty="0"/>
              <a:t>$ means end of the string.</a:t>
            </a:r>
          </a:p>
          <a:p>
            <a:pPr lvl="1"/>
            <a:r>
              <a:rPr lang="en-US" dirty="0"/>
              <a:t>^[0-9]$ means exactly one digit</a:t>
            </a:r>
          </a:p>
          <a:p>
            <a:pPr lvl="1"/>
            <a:r>
              <a:rPr lang="en-US" dirty="0"/>
              <a:t>^[0-9]*$ means between start and end of string can be zero or more digits</a:t>
            </a:r>
          </a:p>
          <a:p>
            <a:pPr lvl="1"/>
            <a:r>
              <a:rPr lang="en-US" dirty="0"/>
              <a:t>if </a:t>
            </a:r>
            <a:r>
              <a:rPr lang="en-US" dirty="0" err="1"/>
              <a:t>re.test</a:t>
            </a:r>
            <a:r>
              <a:rPr lang="en-US" dirty="0"/>
              <a:t>(</a:t>
            </a:r>
            <a:r>
              <a:rPr lang="en-US" dirty="0" err="1"/>
              <a:t>e.target.value</a:t>
            </a:r>
            <a:r>
              <a:rPr lang="en-US" dirty="0"/>
              <a:t>) returns true it means </a:t>
            </a:r>
            <a:r>
              <a:rPr lang="en-US" dirty="0" err="1"/>
              <a:t>e.target.value</a:t>
            </a:r>
            <a:r>
              <a:rPr lang="en-US" dirty="0"/>
              <a:t> matches the pattern and contains only digits.</a:t>
            </a:r>
          </a:p>
          <a:p>
            <a:endParaRPr lang="en-US" dirty="0"/>
          </a:p>
        </p:txBody>
      </p:sp>
    </p:spTree>
    <p:extLst>
      <p:ext uri="{BB962C8B-B14F-4D97-AF65-F5344CB8AC3E}">
        <p14:creationId xmlns:p14="http://schemas.microsoft.com/office/powerpoint/2010/main" val="271794189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E7A5D8-B539-7A1B-33E7-2DC5BE1A7737}"/>
              </a:ext>
            </a:extLst>
          </p:cNvPr>
          <p:cNvSpPr>
            <a:spLocks noGrp="1"/>
          </p:cNvSpPr>
          <p:nvPr>
            <p:ph type="title"/>
          </p:nvPr>
        </p:nvSpPr>
        <p:spPr/>
        <p:txBody>
          <a:bodyPr/>
          <a:lstStyle/>
          <a:p>
            <a:r>
              <a:rPr lang="en-US" cap="none" dirty="0"/>
              <a:t>The </a:t>
            </a:r>
            <a:r>
              <a:rPr lang="en-US" cap="none" dirty="0" err="1"/>
              <a:t>addBananas</a:t>
            </a:r>
            <a:r>
              <a:rPr lang="en-US" cap="none" dirty="0"/>
              <a:t> Function</a:t>
            </a:r>
          </a:p>
        </p:txBody>
      </p:sp>
      <p:sp>
        <p:nvSpPr>
          <p:cNvPr id="3" name="Content Placeholder 2">
            <a:extLst>
              <a:ext uri="{FF2B5EF4-FFF2-40B4-BE49-F238E27FC236}">
                <a16:creationId xmlns:a16="http://schemas.microsoft.com/office/drawing/2014/main" id="{8D084F9E-0804-AE71-7328-6ABE6E27CF23}"/>
              </a:ext>
            </a:extLst>
          </p:cNvPr>
          <p:cNvSpPr>
            <a:spLocks noGrp="1"/>
          </p:cNvSpPr>
          <p:nvPr>
            <p:ph idx="1"/>
          </p:nvPr>
        </p:nvSpPr>
        <p:spPr>
          <a:xfrm>
            <a:off x="727587" y="2121408"/>
            <a:ext cx="10400661" cy="4050792"/>
          </a:xfrm>
        </p:spPr>
        <p:txBody>
          <a:bodyPr/>
          <a:lstStyle/>
          <a:p>
            <a:pPr marL="0" indent="0">
              <a:buNone/>
            </a:pPr>
            <a:r>
              <a:rPr lang="en-US" dirty="0"/>
              <a:t>//FUNCTION </a:t>
            </a:r>
            <a:r>
              <a:rPr lang="en-US" dirty="0" err="1"/>
              <a:t>addBananas</a:t>
            </a:r>
            <a:r>
              <a:rPr lang="en-US" dirty="0"/>
              <a:t> MUST BE CREATED IN THE </a:t>
            </a:r>
            <a:r>
              <a:rPr lang="en-US" dirty="0" err="1"/>
              <a:t>BananaadeStand</a:t>
            </a:r>
            <a:r>
              <a:rPr lang="en-US" dirty="0"/>
              <a:t> CLASS.</a:t>
            </a:r>
          </a:p>
          <a:p>
            <a:pPr marL="0" indent="0">
              <a:buNone/>
            </a:pPr>
            <a:r>
              <a:rPr lang="en-US" dirty="0" err="1"/>
              <a:t>addBananas</a:t>
            </a:r>
            <a:r>
              <a:rPr lang="en-US" dirty="0"/>
              <a:t>(value) {</a:t>
            </a:r>
          </a:p>
          <a:p>
            <a:pPr marL="0" indent="0">
              <a:buNone/>
            </a:pPr>
            <a:r>
              <a:rPr lang="en-US" dirty="0"/>
              <a:t>	</a:t>
            </a:r>
            <a:r>
              <a:rPr lang="en-US" dirty="0" err="1"/>
              <a:t>this.bananas</a:t>
            </a:r>
            <a:r>
              <a:rPr lang="en-US" dirty="0"/>
              <a:t> += value;   //Update the inventory</a:t>
            </a:r>
          </a:p>
          <a:p>
            <a:pPr marL="0" indent="0">
              <a:buNone/>
            </a:pPr>
            <a:r>
              <a:rPr lang="en-US" dirty="0"/>
              <a:t>	</a:t>
            </a:r>
            <a:r>
              <a:rPr lang="en-US" dirty="0" err="1"/>
              <a:t>this.updateInventory</a:t>
            </a:r>
            <a:r>
              <a:rPr lang="en-US" dirty="0"/>
              <a:t>("Bananas", </a:t>
            </a:r>
            <a:r>
              <a:rPr lang="en-US" dirty="0" err="1"/>
              <a:t>this.bananas</a:t>
            </a:r>
            <a:r>
              <a:rPr lang="en-US" dirty="0"/>
              <a:t>, </a:t>
            </a:r>
            <a:r>
              <a:rPr lang="en-US" dirty="0" err="1"/>
              <a:t>this.minBananas</a:t>
            </a:r>
            <a:r>
              <a:rPr lang="en-US" dirty="0"/>
              <a:t>);</a:t>
            </a:r>
          </a:p>
          <a:p>
            <a:pPr marL="0" indent="0">
              <a:buNone/>
            </a:pPr>
            <a:r>
              <a:rPr lang="en-US" dirty="0"/>
              <a:t>	//add </a:t>
            </a:r>
            <a:r>
              <a:rPr lang="en-US" dirty="0" err="1"/>
              <a:t>updateInventory</a:t>
            </a:r>
            <a:r>
              <a:rPr lang="en-US" dirty="0"/>
              <a:t> to the </a:t>
            </a:r>
            <a:r>
              <a:rPr lang="en-US" dirty="0" err="1"/>
              <a:t>BananaadeStand</a:t>
            </a:r>
            <a:r>
              <a:rPr lang="en-US" dirty="0"/>
              <a:t> class but leave it blank for now.</a:t>
            </a:r>
          </a:p>
          <a:p>
            <a:pPr marL="0" indent="0">
              <a:buNone/>
            </a:pPr>
            <a:r>
              <a:rPr lang="en-US" dirty="0"/>
              <a:t>} </a:t>
            </a:r>
          </a:p>
          <a:p>
            <a:r>
              <a:rPr lang="en-US" dirty="0"/>
              <a:t>Create </a:t>
            </a:r>
            <a:r>
              <a:rPr lang="en-US" dirty="0" err="1"/>
              <a:t>addWater</a:t>
            </a:r>
            <a:r>
              <a:rPr lang="en-US" dirty="0"/>
              <a:t>, </a:t>
            </a:r>
            <a:r>
              <a:rPr lang="en-US" dirty="0" err="1"/>
              <a:t>addSugar</a:t>
            </a:r>
            <a:r>
              <a:rPr lang="en-US" dirty="0"/>
              <a:t>, and </a:t>
            </a:r>
            <a:r>
              <a:rPr lang="en-US" dirty="0" err="1"/>
              <a:t>addEmptyClasses</a:t>
            </a:r>
            <a:r>
              <a:rPr lang="en-US" dirty="0"/>
              <a:t> functions also.</a:t>
            </a:r>
          </a:p>
          <a:p>
            <a:r>
              <a:rPr lang="en-US" dirty="0"/>
              <a:t>Change </a:t>
            </a:r>
            <a:r>
              <a:rPr lang="en-US" dirty="0" err="1"/>
              <a:t>addIngredients</a:t>
            </a:r>
            <a:r>
              <a:rPr lang="en-US" dirty="0"/>
              <a:t> to use these functions. </a:t>
            </a:r>
          </a:p>
        </p:txBody>
      </p:sp>
    </p:spTree>
    <p:extLst>
      <p:ext uri="{BB962C8B-B14F-4D97-AF65-F5344CB8AC3E}">
        <p14:creationId xmlns:p14="http://schemas.microsoft.com/office/powerpoint/2010/main" val="111897591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8DE3CB-554A-48F4-B1BC-86BD570C49BA}"/>
              </a:ext>
            </a:extLst>
          </p:cNvPr>
          <p:cNvSpPr>
            <a:spLocks noGrp="1"/>
          </p:cNvSpPr>
          <p:nvPr>
            <p:ph type="title"/>
          </p:nvPr>
        </p:nvSpPr>
        <p:spPr>
          <a:xfrm>
            <a:off x="1069848" y="91228"/>
            <a:ext cx="10058400" cy="982661"/>
          </a:xfrm>
        </p:spPr>
        <p:txBody>
          <a:bodyPr/>
          <a:lstStyle/>
          <a:p>
            <a:r>
              <a:rPr lang="en-US" dirty="0"/>
              <a:t>Updating the inventory</a:t>
            </a:r>
          </a:p>
        </p:txBody>
      </p:sp>
      <p:sp>
        <p:nvSpPr>
          <p:cNvPr id="3" name="Content Placeholder 2">
            <a:extLst>
              <a:ext uri="{FF2B5EF4-FFF2-40B4-BE49-F238E27FC236}">
                <a16:creationId xmlns:a16="http://schemas.microsoft.com/office/drawing/2014/main" id="{3DED5695-0100-4CA4-99AE-ECF763881BB9}"/>
              </a:ext>
            </a:extLst>
          </p:cNvPr>
          <p:cNvSpPr>
            <a:spLocks noGrp="1"/>
          </p:cNvSpPr>
          <p:nvPr>
            <p:ph idx="1"/>
          </p:nvPr>
        </p:nvSpPr>
        <p:spPr>
          <a:xfrm>
            <a:off x="1069848" y="1073889"/>
            <a:ext cx="10058400" cy="5098311"/>
          </a:xfrm>
        </p:spPr>
        <p:txBody>
          <a:bodyPr>
            <a:normAutofit fontScale="92500" lnSpcReduction="20000"/>
          </a:bodyPr>
          <a:lstStyle/>
          <a:p>
            <a:r>
              <a:rPr lang="en-US" dirty="0"/>
              <a:t>FUNCTION </a:t>
            </a:r>
            <a:r>
              <a:rPr lang="en-US" dirty="0" err="1"/>
              <a:t>updateInvnetory</a:t>
            </a:r>
            <a:r>
              <a:rPr lang="en-US" dirty="0"/>
              <a:t> MUST BE CREATED IN THE </a:t>
            </a:r>
            <a:r>
              <a:rPr lang="en-US" dirty="0" err="1"/>
              <a:t>BananaadeStand</a:t>
            </a:r>
            <a:r>
              <a:rPr lang="en-US" dirty="0"/>
              <a:t> CLASS.</a:t>
            </a:r>
          </a:p>
          <a:p>
            <a:r>
              <a:rPr lang="en-US" dirty="0"/>
              <a:t>The table that displays the inventory needs to be updated any time the inventory changes.</a:t>
            </a:r>
          </a:p>
          <a:p>
            <a:r>
              <a:rPr lang="en-US" dirty="0"/>
              <a:t>There are two ways to do this.  </a:t>
            </a:r>
          </a:p>
          <a:p>
            <a:pPr lvl="1"/>
            <a:r>
              <a:rPr lang="en-US" dirty="0"/>
              <a:t>Wipe out the old HTML and recreate it.</a:t>
            </a:r>
          </a:p>
          <a:p>
            <a:pPr lvl="1"/>
            <a:r>
              <a:rPr lang="en-US" dirty="0"/>
              <a:t>Find the appropriate text and modify it.</a:t>
            </a:r>
          </a:p>
          <a:p>
            <a:pPr lvl="1"/>
            <a:r>
              <a:rPr lang="en-US" dirty="0"/>
              <a:t>We will do the latter.  The former is an option as long as there are few elements.</a:t>
            </a:r>
          </a:p>
          <a:p>
            <a:r>
              <a:rPr lang="en-US" dirty="0"/>
              <a:t>Another thing to accomplish here is if the inventory is too low to make a new batch of </a:t>
            </a:r>
            <a:r>
              <a:rPr lang="en-US" dirty="0" err="1"/>
              <a:t>Bananaade</a:t>
            </a:r>
            <a:r>
              <a:rPr lang="en-US" dirty="0"/>
              <a:t>, we will color that row of the table pink.</a:t>
            </a:r>
          </a:p>
          <a:p>
            <a:r>
              <a:rPr lang="en-US" dirty="0"/>
              <a:t>To find the correct td, we are going to search the table for the label text and then assume that the next sibling td is the value that needs to be updated.</a:t>
            </a:r>
          </a:p>
          <a:p>
            <a:pPr lvl="1"/>
            <a:r>
              <a:rPr lang="en-US" dirty="0"/>
              <a:t>This is a bit  tricky sometimes because blank space between nodes are treated as extra nodes.</a:t>
            </a:r>
          </a:p>
          <a:p>
            <a:r>
              <a:rPr lang="en-US" dirty="0"/>
              <a:t>Our call to </a:t>
            </a:r>
            <a:r>
              <a:rPr lang="en-US" dirty="0" err="1"/>
              <a:t>updateInventory</a:t>
            </a:r>
            <a:r>
              <a:rPr lang="en-US" dirty="0"/>
              <a:t> passes three arguments</a:t>
            </a:r>
          </a:p>
          <a:p>
            <a:pPr lvl="1"/>
            <a:r>
              <a:rPr lang="en-US" dirty="0"/>
              <a:t>A string to search for.  It doesn't have to be the whole value, but it must be unique to the row.</a:t>
            </a:r>
          </a:p>
          <a:p>
            <a:pPr lvl="1"/>
            <a:r>
              <a:rPr lang="en-US" dirty="0"/>
              <a:t>A value to put in the sibling td.</a:t>
            </a:r>
          </a:p>
          <a:p>
            <a:pPr lvl="1"/>
            <a:r>
              <a:rPr lang="en-US" dirty="0"/>
              <a:t>A minimum value for making a new batch of </a:t>
            </a:r>
            <a:r>
              <a:rPr lang="en-US" dirty="0" err="1"/>
              <a:t>Bananaade</a:t>
            </a:r>
            <a:r>
              <a:rPr lang="en-US" dirty="0"/>
              <a:t>.  You should have added these as fields to your </a:t>
            </a:r>
            <a:r>
              <a:rPr lang="en-US" dirty="0" err="1"/>
              <a:t>BananaadeStand</a:t>
            </a:r>
            <a:r>
              <a:rPr lang="en-US" dirty="0"/>
              <a:t> class</a:t>
            </a:r>
          </a:p>
          <a:p>
            <a:endParaRPr lang="en-US" dirty="0"/>
          </a:p>
        </p:txBody>
      </p:sp>
    </p:spTree>
    <p:extLst>
      <p:ext uri="{BB962C8B-B14F-4D97-AF65-F5344CB8AC3E}">
        <p14:creationId xmlns:p14="http://schemas.microsoft.com/office/powerpoint/2010/main" val="392472258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502251-D7AD-42EC-BEBB-08996A6C9184}"/>
              </a:ext>
            </a:extLst>
          </p:cNvPr>
          <p:cNvSpPr>
            <a:spLocks noGrp="1"/>
          </p:cNvSpPr>
          <p:nvPr>
            <p:ph type="title"/>
          </p:nvPr>
        </p:nvSpPr>
        <p:spPr/>
        <p:txBody>
          <a:bodyPr/>
          <a:lstStyle/>
          <a:p>
            <a:r>
              <a:rPr lang="en-US" cap="none" dirty="0" err="1"/>
              <a:t>updateInventory</a:t>
            </a:r>
            <a:r>
              <a:rPr lang="en-US" cap="none"/>
              <a:t>()</a:t>
            </a:r>
            <a:endParaRPr lang="en-US" cap="none" dirty="0"/>
          </a:p>
        </p:txBody>
      </p:sp>
      <p:sp>
        <p:nvSpPr>
          <p:cNvPr id="3" name="Content Placeholder 2">
            <a:extLst>
              <a:ext uri="{FF2B5EF4-FFF2-40B4-BE49-F238E27FC236}">
                <a16:creationId xmlns:a16="http://schemas.microsoft.com/office/drawing/2014/main" id="{E1634EEC-21E9-4C9C-9E3B-2F6BF06882E8}"/>
              </a:ext>
            </a:extLst>
          </p:cNvPr>
          <p:cNvSpPr>
            <a:spLocks noGrp="1"/>
          </p:cNvSpPr>
          <p:nvPr>
            <p:ph idx="1"/>
          </p:nvPr>
        </p:nvSpPr>
        <p:spPr/>
        <p:txBody>
          <a:bodyPr/>
          <a:lstStyle/>
          <a:p>
            <a:r>
              <a:rPr lang="en-US" dirty="0"/>
              <a:t>Get a reference to the table element using </a:t>
            </a:r>
            <a:r>
              <a:rPr lang="en-US" dirty="0" err="1"/>
              <a:t>querySelector</a:t>
            </a:r>
            <a:r>
              <a:rPr lang="en-US" dirty="0"/>
              <a:t>.</a:t>
            </a:r>
          </a:p>
          <a:p>
            <a:r>
              <a:rPr lang="en-US" dirty="0"/>
              <a:t>Search the table element node for all the td elements using the following</a:t>
            </a:r>
          </a:p>
          <a:p>
            <a:pPr marL="0" indent="0">
              <a:buNone/>
            </a:pPr>
            <a:r>
              <a:rPr lang="en-US" dirty="0"/>
              <a:t>	</a:t>
            </a:r>
            <a:r>
              <a:rPr lang="en-US" dirty="0" err="1"/>
              <a:t>table.getElementsByTagName</a:t>
            </a:r>
            <a:r>
              <a:rPr lang="en-US" dirty="0"/>
              <a:t>("td");</a:t>
            </a:r>
          </a:p>
          <a:p>
            <a:r>
              <a:rPr lang="en-US" dirty="0"/>
              <a:t>Loop through the td elements looking for the text string.</a:t>
            </a:r>
          </a:p>
          <a:p>
            <a:r>
              <a:rPr lang="en-US" dirty="0"/>
              <a:t>When you find it</a:t>
            </a:r>
          </a:p>
          <a:p>
            <a:pPr lvl="1"/>
            <a:r>
              <a:rPr lang="en-US" dirty="0"/>
              <a:t>Assume the next element sibling is the td to change, so change it.</a:t>
            </a:r>
          </a:p>
          <a:p>
            <a:pPr lvl="1"/>
            <a:r>
              <a:rPr lang="en-US" dirty="0"/>
              <a:t>If the value set is less than the minimum to make </a:t>
            </a:r>
            <a:r>
              <a:rPr lang="en-US" dirty="0" err="1"/>
              <a:t>Bananaade</a:t>
            </a:r>
            <a:r>
              <a:rPr lang="en-US" dirty="0"/>
              <a:t>, change the background of this element and the next sibling to pink.</a:t>
            </a:r>
          </a:p>
          <a:p>
            <a:pPr lvl="1"/>
            <a:r>
              <a:rPr lang="en-US" dirty="0"/>
              <a:t>If the value is NOT less than the minimum to make </a:t>
            </a:r>
            <a:r>
              <a:rPr lang="en-US" dirty="0" err="1"/>
              <a:t>Bananaade</a:t>
            </a:r>
            <a:r>
              <a:rPr lang="en-US" dirty="0"/>
              <a:t>, change the background of this element and the next sibling to whatever the current background is.</a:t>
            </a:r>
          </a:p>
          <a:p>
            <a:pPr lvl="1"/>
            <a:endParaRPr lang="en-US" dirty="0"/>
          </a:p>
        </p:txBody>
      </p:sp>
    </p:spTree>
    <p:extLst>
      <p:ext uri="{BB962C8B-B14F-4D97-AF65-F5344CB8AC3E}">
        <p14:creationId xmlns:p14="http://schemas.microsoft.com/office/powerpoint/2010/main" val="123928171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C5744A-68DD-43AA-920F-E0760945FF1A}"/>
              </a:ext>
            </a:extLst>
          </p:cNvPr>
          <p:cNvSpPr>
            <a:spLocks noGrp="1"/>
          </p:cNvSpPr>
          <p:nvPr>
            <p:ph type="title"/>
          </p:nvPr>
        </p:nvSpPr>
        <p:spPr>
          <a:xfrm>
            <a:off x="1066800" y="186921"/>
            <a:ext cx="10058400" cy="748745"/>
          </a:xfrm>
        </p:spPr>
        <p:txBody>
          <a:bodyPr>
            <a:normAutofit fontScale="90000"/>
          </a:bodyPr>
          <a:lstStyle/>
          <a:p>
            <a:r>
              <a:rPr lang="en-US" dirty="0"/>
              <a:t>Making the buttons work</a:t>
            </a:r>
          </a:p>
        </p:txBody>
      </p:sp>
      <p:sp>
        <p:nvSpPr>
          <p:cNvPr id="3" name="Content Placeholder 2">
            <a:extLst>
              <a:ext uri="{FF2B5EF4-FFF2-40B4-BE49-F238E27FC236}">
                <a16:creationId xmlns:a16="http://schemas.microsoft.com/office/drawing/2014/main" id="{1A38A7DC-5991-4198-86A9-79F479F8E6E6}"/>
              </a:ext>
            </a:extLst>
          </p:cNvPr>
          <p:cNvSpPr>
            <a:spLocks noGrp="1"/>
          </p:cNvSpPr>
          <p:nvPr>
            <p:ph idx="1"/>
          </p:nvPr>
        </p:nvSpPr>
        <p:spPr>
          <a:xfrm>
            <a:off x="1069848" y="935665"/>
            <a:ext cx="10058400" cy="5236535"/>
          </a:xfrm>
        </p:spPr>
        <p:txBody>
          <a:bodyPr>
            <a:normAutofit fontScale="85000" lnSpcReduction="20000"/>
          </a:bodyPr>
          <a:lstStyle/>
          <a:p>
            <a:r>
              <a:rPr lang="en-US" dirty="0"/>
              <a:t>Complete the following in the </a:t>
            </a:r>
            <a:r>
              <a:rPr lang="en-US" dirty="0" err="1"/>
              <a:t>initEvents</a:t>
            </a:r>
            <a:r>
              <a:rPr lang="en-US" dirty="0"/>
              <a:t> function.</a:t>
            </a:r>
          </a:p>
          <a:p>
            <a:r>
              <a:rPr lang="en-US" dirty="0"/>
              <a:t>Get both buttons</a:t>
            </a:r>
          </a:p>
          <a:p>
            <a:r>
              <a:rPr lang="en-US" dirty="0"/>
              <a:t>Set the onclick to run </a:t>
            </a:r>
            <a:r>
              <a:rPr lang="en-US" dirty="0" err="1"/>
              <a:t>makeBananaade</a:t>
            </a:r>
            <a:r>
              <a:rPr lang="en-US" dirty="0"/>
              <a:t> and </a:t>
            </a:r>
            <a:r>
              <a:rPr lang="en-US" dirty="0" err="1"/>
              <a:t>sellBananaade</a:t>
            </a:r>
            <a:endParaRPr lang="en-US" dirty="0"/>
          </a:p>
          <a:p>
            <a:endParaRPr lang="en-US" dirty="0"/>
          </a:p>
          <a:p>
            <a:pPr marL="0" indent="0">
              <a:buNone/>
            </a:pPr>
            <a:r>
              <a:rPr lang="en-US" dirty="0"/>
              <a:t>	  let buttons = </a:t>
            </a:r>
            <a:r>
              <a:rPr lang="en-US" dirty="0" err="1"/>
              <a:t>document.querySelectorAll</a:t>
            </a:r>
            <a:r>
              <a:rPr lang="en-US" dirty="0"/>
              <a:t>('button');</a:t>
            </a:r>
          </a:p>
          <a:p>
            <a:pPr marL="0" indent="0">
              <a:buNone/>
            </a:pPr>
            <a:endParaRPr lang="en-US" dirty="0"/>
          </a:p>
          <a:p>
            <a:r>
              <a:rPr lang="en-US" dirty="0"/>
              <a:t>We know there are two buttons so just use indexes this time.</a:t>
            </a:r>
          </a:p>
          <a:p>
            <a:pPr marL="0" indent="0">
              <a:buNone/>
            </a:pPr>
            <a:r>
              <a:rPr lang="en-US" dirty="0"/>
              <a:t>    Note the bold text is a problem, it messes up </a:t>
            </a:r>
            <a:r>
              <a:rPr lang="en-US" b="1" i="1" dirty="0"/>
              <a:t>this</a:t>
            </a:r>
            <a:r>
              <a:rPr lang="en-US" dirty="0"/>
              <a:t> in the Bananaade stand.</a:t>
            </a:r>
          </a:p>
          <a:p>
            <a:pPr marL="0" indent="0">
              <a:buNone/>
            </a:pPr>
            <a:r>
              <a:rPr lang="en-US" dirty="0"/>
              <a:t>	  buttons[0].</a:t>
            </a:r>
            <a:r>
              <a:rPr lang="en-US" dirty="0" err="1"/>
              <a:t>addEventListener</a:t>
            </a:r>
            <a:r>
              <a:rPr lang="en-US" dirty="0"/>
              <a:t>('click', </a:t>
            </a:r>
            <a:r>
              <a:rPr lang="en-US" b="1" i="1" dirty="0" err="1"/>
              <a:t>ls.makeBananaade</a:t>
            </a:r>
            <a:r>
              <a:rPr lang="en-US" b="1" i="1" dirty="0"/>
              <a:t>,</a:t>
            </a:r>
            <a:r>
              <a:rPr lang="en-US" dirty="0"/>
              <a:t> false);   </a:t>
            </a:r>
          </a:p>
          <a:p>
            <a:pPr marL="0" indent="0">
              <a:buNone/>
            </a:pPr>
            <a:r>
              <a:rPr lang="en-US" dirty="0"/>
              <a:t>	  buttons[1].</a:t>
            </a:r>
            <a:r>
              <a:rPr lang="en-US" dirty="0" err="1"/>
              <a:t>addEventListener</a:t>
            </a:r>
            <a:r>
              <a:rPr lang="en-US" dirty="0"/>
              <a:t>('click',</a:t>
            </a:r>
            <a:r>
              <a:rPr lang="en-US" dirty="0">
                <a:solidFill>
                  <a:srgbClr val="FF0000"/>
                </a:solidFill>
              </a:rPr>
              <a:t> </a:t>
            </a:r>
            <a:r>
              <a:rPr lang="en-US" b="1" i="1" dirty="0" err="1"/>
              <a:t>ls.sellBananaade</a:t>
            </a:r>
            <a:r>
              <a:rPr lang="en-US" dirty="0"/>
              <a:t>, false); </a:t>
            </a:r>
          </a:p>
          <a:p>
            <a:pPr marL="0" indent="0">
              <a:buNone/>
            </a:pPr>
            <a:endParaRPr lang="en-US" dirty="0"/>
          </a:p>
          <a:p>
            <a:r>
              <a:rPr lang="en-US" dirty="0"/>
              <a:t>A workaround.  Add an anonymous function to call </a:t>
            </a:r>
            <a:r>
              <a:rPr lang="en-US" dirty="0" err="1"/>
              <a:t>makeBananaade</a:t>
            </a:r>
            <a:r>
              <a:rPr lang="en-US" dirty="0"/>
              <a:t>.  The event handler now isn't calling </a:t>
            </a:r>
            <a:r>
              <a:rPr lang="en-US" dirty="0" err="1"/>
              <a:t>makeBananaade</a:t>
            </a:r>
            <a:r>
              <a:rPr lang="en-US" dirty="0"/>
              <a:t>, it is simply calling an anonymous function.</a:t>
            </a:r>
          </a:p>
          <a:p>
            <a:pPr marL="0" indent="0">
              <a:buNone/>
            </a:pPr>
            <a:endParaRPr lang="en-US" dirty="0"/>
          </a:p>
          <a:p>
            <a:pPr marL="0" indent="0">
              <a:buNone/>
            </a:pPr>
            <a:r>
              <a:rPr lang="en-US" dirty="0"/>
              <a:t>	  buttons[0].</a:t>
            </a:r>
            <a:r>
              <a:rPr lang="en-US" dirty="0" err="1"/>
              <a:t>addEventListener</a:t>
            </a:r>
            <a:r>
              <a:rPr lang="en-US" dirty="0"/>
              <a:t>('click', </a:t>
            </a:r>
            <a:r>
              <a:rPr lang="en-US" b="1" i="1" dirty="0"/>
              <a:t>function() { </a:t>
            </a:r>
            <a:r>
              <a:rPr lang="en-US" b="1" i="1" dirty="0" err="1"/>
              <a:t>ls.makeBananaade</a:t>
            </a:r>
            <a:r>
              <a:rPr lang="en-US" b="1" i="1" dirty="0"/>
              <a:t>(); }</a:t>
            </a:r>
            <a:r>
              <a:rPr lang="en-US" dirty="0"/>
              <a:t>, false);</a:t>
            </a:r>
          </a:p>
          <a:p>
            <a:pPr marL="0" indent="0">
              <a:buNone/>
            </a:pPr>
            <a:r>
              <a:rPr lang="en-US" dirty="0"/>
              <a:t>	  buttons[1].</a:t>
            </a:r>
            <a:r>
              <a:rPr lang="en-US" dirty="0" err="1"/>
              <a:t>addEventListener</a:t>
            </a:r>
            <a:r>
              <a:rPr lang="en-US" dirty="0"/>
              <a:t>('click', </a:t>
            </a:r>
            <a:r>
              <a:rPr lang="en-US" b="1" i="1" dirty="0"/>
              <a:t>function() { </a:t>
            </a:r>
            <a:r>
              <a:rPr lang="en-US" b="1" i="1" dirty="0" err="1"/>
              <a:t>ls.sellBananaade</a:t>
            </a:r>
            <a:r>
              <a:rPr lang="en-US" b="1" i="1" dirty="0"/>
              <a:t>(); }</a:t>
            </a:r>
            <a:r>
              <a:rPr lang="en-US" dirty="0"/>
              <a:t>, false);</a:t>
            </a:r>
          </a:p>
          <a:p>
            <a:pPr marL="0" indent="0">
              <a:buNone/>
            </a:pPr>
            <a:endParaRPr lang="en-US" dirty="0"/>
          </a:p>
          <a:p>
            <a:endParaRPr lang="en-US" b="1" dirty="0"/>
          </a:p>
          <a:p>
            <a:endParaRPr lang="en-US" dirty="0"/>
          </a:p>
        </p:txBody>
      </p:sp>
    </p:spTree>
    <p:extLst>
      <p:ext uri="{BB962C8B-B14F-4D97-AF65-F5344CB8AC3E}">
        <p14:creationId xmlns:p14="http://schemas.microsoft.com/office/powerpoint/2010/main" val="195815885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984207-E798-4FF3-9BAB-95231D304E5C}"/>
              </a:ext>
            </a:extLst>
          </p:cNvPr>
          <p:cNvSpPr>
            <a:spLocks noGrp="1"/>
          </p:cNvSpPr>
          <p:nvPr>
            <p:ph type="title"/>
          </p:nvPr>
        </p:nvSpPr>
        <p:spPr/>
        <p:txBody>
          <a:bodyPr/>
          <a:lstStyle/>
          <a:p>
            <a:r>
              <a:rPr lang="en-US" dirty="0"/>
              <a:t>Update after buttons</a:t>
            </a:r>
          </a:p>
        </p:txBody>
      </p:sp>
      <p:sp>
        <p:nvSpPr>
          <p:cNvPr id="3" name="Content Placeholder 2">
            <a:extLst>
              <a:ext uri="{FF2B5EF4-FFF2-40B4-BE49-F238E27FC236}">
                <a16:creationId xmlns:a16="http://schemas.microsoft.com/office/drawing/2014/main" id="{80976338-F61E-41E1-A190-E3647F298FB6}"/>
              </a:ext>
            </a:extLst>
          </p:cNvPr>
          <p:cNvSpPr>
            <a:spLocks noGrp="1"/>
          </p:cNvSpPr>
          <p:nvPr>
            <p:ph idx="1"/>
          </p:nvPr>
        </p:nvSpPr>
        <p:spPr/>
        <p:txBody>
          <a:bodyPr/>
          <a:lstStyle/>
          <a:p>
            <a:r>
              <a:rPr lang="en-US" dirty="0"/>
              <a:t>We need to update ALL the ingredients, not just one specific ingredient.</a:t>
            </a:r>
          </a:p>
          <a:p>
            <a:r>
              <a:rPr lang="en-US" dirty="0"/>
              <a:t>Make an </a:t>
            </a:r>
            <a:r>
              <a:rPr lang="en-US" dirty="0" err="1"/>
              <a:t>updateAllIngredients</a:t>
            </a:r>
            <a:r>
              <a:rPr lang="en-US" dirty="0"/>
              <a:t> function </a:t>
            </a:r>
            <a:r>
              <a:rPr lang="en-US" b="1" dirty="0"/>
              <a:t>INSIDE OF THE </a:t>
            </a:r>
            <a:r>
              <a:rPr lang="en-US" dirty="0" err="1"/>
              <a:t>BananaadeStand</a:t>
            </a:r>
            <a:r>
              <a:rPr lang="en-US" dirty="0"/>
              <a:t> class that calls </a:t>
            </a:r>
            <a:r>
              <a:rPr lang="en-US" dirty="0" err="1"/>
              <a:t>updateIngredients</a:t>
            </a:r>
            <a:r>
              <a:rPr lang="en-US" dirty="0"/>
              <a:t> four times. </a:t>
            </a:r>
          </a:p>
          <a:p>
            <a:pPr lvl="1"/>
            <a:r>
              <a:rPr lang="en-US" dirty="0"/>
              <a:t>Look at the </a:t>
            </a:r>
            <a:r>
              <a:rPr lang="en-US" dirty="0" err="1"/>
              <a:t>addValue</a:t>
            </a:r>
            <a:r>
              <a:rPr lang="en-US" dirty="0"/>
              <a:t> function and see how we call </a:t>
            </a:r>
            <a:r>
              <a:rPr lang="en-US" dirty="0" err="1"/>
              <a:t>updateIngredients</a:t>
            </a:r>
            <a:r>
              <a:rPr lang="en-US" dirty="0"/>
              <a:t> from each individual add.</a:t>
            </a:r>
          </a:p>
          <a:p>
            <a:r>
              <a:rPr lang="en-US" dirty="0"/>
              <a:t>Call </a:t>
            </a:r>
            <a:r>
              <a:rPr lang="en-US" dirty="0" err="1"/>
              <a:t>updateAllIngredients</a:t>
            </a:r>
            <a:r>
              <a:rPr lang="en-US" dirty="0"/>
              <a:t> from the event handler for Make Lemonade.</a:t>
            </a:r>
          </a:p>
          <a:p>
            <a:r>
              <a:rPr lang="en-US" dirty="0"/>
              <a:t>We also need to update the admin section when Sell Lemonade is clicked.</a:t>
            </a:r>
          </a:p>
          <a:p>
            <a:r>
              <a:rPr lang="en-US" dirty="0"/>
              <a:t>Make an </a:t>
            </a:r>
            <a:r>
              <a:rPr lang="en-US" dirty="0" err="1"/>
              <a:t>updateAdmin</a:t>
            </a:r>
            <a:r>
              <a:rPr lang="en-US" dirty="0"/>
              <a:t> function inside the </a:t>
            </a:r>
            <a:r>
              <a:rPr lang="en-US" dirty="0" err="1"/>
              <a:t>BananaadeStand</a:t>
            </a:r>
            <a:r>
              <a:rPr lang="en-US" dirty="0"/>
              <a:t> class.</a:t>
            </a:r>
          </a:p>
          <a:p>
            <a:r>
              <a:rPr lang="en-US" dirty="0"/>
              <a:t>Get all the list items (</a:t>
            </a:r>
            <a:r>
              <a:rPr lang="en-US" dirty="0" err="1"/>
              <a:t>getElementsByTag</a:t>
            </a:r>
            <a:r>
              <a:rPr lang="en-US" dirty="0"/>
              <a:t>) and set the </a:t>
            </a:r>
            <a:r>
              <a:rPr lang="en-US" dirty="0" err="1"/>
              <a:t>textContent</a:t>
            </a:r>
            <a:r>
              <a:rPr lang="en-US" dirty="0"/>
              <a:t> using template literals.</a:t>
            </a:r>
          </a:p>
        </p:txBody>
      </p:sp>
    </p:spTree>
    <p:extLst>
      <p:ext uri="{BB962C8B-B14F-4D97-AF65-F5344CB8AC3E}">
        <p14:creationId xmlns:p14="http://schemas.microsoft.com/office/powerpoint/2010/main" val="373323548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FABFEF-94F3-408A-A1D5-A0FD77E540F2}"/>
              </a:ext>
            </a:extLst>
          </p:cNvPr>
          <p:cNvSpPr>
            <a:spLocks noGrp="1"/>
          </p:cNvSpPr>
          <p:nvPr>
            <p:ph type="title"/>
          </p:nvPr>
        </p:nvSpPr>
        <p:spPr>
          <a:xfrm>
            <a:off x="1069848" y="0"/>
            <a:ext cx="10058400" cy="1127051"/>
          </a:xfrm>
        </p:spPr>
        <p:txBody>
          <a:bodyPr/>
          <a:lstStyle/>
          <a:p>
            <a:r>
              <a:rPr lang="en-US" dirty="0"/>
              <a:t>Add </a:t>
            </a:r>
            <a:r>
              <a:rPr lang="en-US"/>
              <a:t>mouseover</a:t>
            </a:r>
            <a:r>
              <a:rPr lang="en-US" dirty="0"/>
              <a:t> visuals</a:t>
            </a:r>
          </a:p>
        </p:txBody>
      </p:sp>
      <p:sp>
        <p:nvSpPr>
          <p:cNvPr id="3" name="Content Placeholder 2">
            <a:extLst>
              <a:ext uri="{FF2B5EF4-FFF2-40B4-BE49-F238E27FC236}">
                <a16:creationId xmlns:a16="http://schemas.microsoft.com/office/drawing/2014/main" id="{D19F9847-8870-40E6-AD2C-1BD7040ACE33}"/>
              </a:ext>
            </a:extLst>
          </p:cNvPr>
          <p:cNvSpPr>
            <a:spLocks noGrp="1"/>
          </p:cNvSpPr>
          <p:nvPr>
            <p:ph idx="1"/>
          </p:nvPr>
        </p:nvSpPr>
        <p:spPr>
          <a:xfrm>
            <a:off x="1069848" y="1048878"/>
            <a:ext cx="4469715" cy="5372100"/>
          </a:xfrm>
        </p:spPr>
        <p:txBody>
          <a:bodyPr>
            <a:normAutofit fontScale="92500" lnSpcReduction="20000"/>
          </a:bodyPr>
          <a:lstStyle/>
          <a:p>
            <a:r>
              <a:rPr lang="en-US" dirty="0"/>
              <a:t>Use </a:t>
            </a:r>
            <a:r>
              <a:rPr lang="en-US" dirty="0" err="1"/>
              <a:t>mouseover</a:t>
            </a:r>
            <a:r>
              <a:rPr lang="en-US" dirty="0"/>
              <a:t> and </a:t>
            </a:r>
            <a:r>
              <a:rPr lang="en-US" dirty="0" err="1"/>
              <a:t>mouseout</a:t>
            </a:r>
            <a:r>
              <a:rPr lang="en-US" dirty="0"/>
              <a:t> to modify add elements</a:t>
            </a:r>
          </a:p>
          <a:p>
            <a:pPr lvl="1"/>
            <a:r>
              <a:rPr lang="en-US" dirty="0"/>
              <a:t>Image will change to a darker plus sign when the mouse is over the element.</a:t>
            </a:r>
          </a:p>
          <a:p>
            <a:pPr lvl="1"/>
            <a:r>
              <a:rPr lang="en-US" dirty="0"/>
              <a:t>Span text will turn purple when the mouse is over the element.</a:t>
            </a:r>
          </a:p>
          <a:p>
            <a:r>
              <a:rPr lang="en-US" dirty="0"/>
              <a:t>The purple text we could do through CSS, but we're not.  </a:t>
            </a:r>
          </a:p>
          <a:p>
            <a:r>
              <a:rPr lang="en-US" dirty="0"/>
              <a:t>Create a function named </a:t>
            </a:r>
            <a:r>
              <a:rPr lang="en-US" dirty="0" err="1"/>
              <a:t>initImageMouseOver</a:t>
            </a:r>
            <a:r>
              <a:rPr lang="en-US" dirty="0"/>
              <a:t> and call it from </a:t>
            </a:r>
            <a:r>
              <a:rPr lang="en-US" dirty="0" err="1"/>
              <a:t>init.</a:t>
            </a:r>
            <a:endParaRPr lang="en-US" dirty="0"/>
          </a:p>
          <a:p>
            <a:r>
              <a:rPr lang="en-US" dirty="0"/>
              <a:t>Get a collection of span elements.</a:t>
            </a:r>
          </a:p>
          <a:p>
            <a:r>
              <a:rPr lang="en-US" dirty="0"/>
              <a:t>Go through the collection and add event handlers.  We will use anonymous functions instead of creating new functions.</a:t>
            </a:r>
          </a:p>
          <a:p>
            <a:r>
              <a:rPr lang="en-US" dirty="0"/>
              <a:t>Do the same for the images.  Copy the code you created and paste it into the bottom of the function and modify it for the </a:t>
            </a:r>
            <a:r>
              <a:rPr lang="en-US" dirty="0" err="1"/>
              <a:t>img</a:t>
            </a:r>
            <a:r>
              <a:rPr lang="en-US" dirty="0"/>
              <a:t> tags.</a:t>
            </a:r>
          </a:p>
          <a:p>
            <a:endParaRPr lang="en-US" dirty="0"/>
          </a:p>
          <a:p>
            <a:endParaRPr lang="en-US" dirty="0"/>
          </a:p>
        </p:txBody>
      </p:sp>
      <p:sp>
        <p:nvSpPr>
          <p:cNvPr id="4" name="TextBox 3">
            <a:extLst>
              <a:ext uri="{FF2B5EF4-FFF2-40B4-BE49-F238E27FC236}">
                <a16:creationId xmlns:a16="http://schemas.microsoft.com/office/drawing/2014/main" id="{3007F611-C736-430C-ADC8-2FAAC6BC1E39}"/>
              </a:ext>
            </a:extLst>
          </p:cNvPr>
          <p:cNvSpPr txBox="1"/>
          <p:nvPr/>
        </p:nvSpPr>
        <p:spPr>
          <a:xfrm>
            <a:off x="5734382" y="1127051"/>
            <a:ext cx="5994654" cy="4524315"/>
          </a:xfrm>
          <a:prstGeom prst="rect">
            <a:avLst/>
          </a:prstGeom>
          <a:noFill/>
        </p:spPr>
        <p:txBody>
          <a:bodyPr wrap="none" rtlCol="0">
            <a:spAutoFit/>
          </a:bodyPr>
          <a:lstStyle/>
          <a:p>
            <a:r>
              <a:rPr lang="en-US" dirty="0"/>
              <a:t>  let nodes = </a:t>
            </a:r>
            <a:r>
              <a:rPr lang="en-US" dirty="0" err="1"/>
              <a:t>document.querySelectorAll</a:t>
            </a:r>
            <a:r>
              <a:rPr lang="en-US" dirty="0"/>
              <a:t>('span');</a:t>
            </a:r>
          </a:p>
          <a:p>
            <a:r>
              <a:rPr lang="en-US" dirty="0"/>
              <a:t>  for (let </a:t>
            </a:r>
            <a:r>
              <a:rPr lang="en-US" dirty="0" err="1"/>
              <a:t>ele</a:t>
            </a:r>
            <a:r>
              <a:rPr lang="en-US" dirty="0"/>
              <a:t> of nodes) {</a:t>
            </a:r>
          </a:p>
          <a:p>
            <a:r>
              <a:rPr lang="en-US" dirty="0"/>
              <a:t>    </a:t>
            </a:r>
            <a:r>
              <a:rPr lang="en-US" dirty="0" err="1"/>
              <a:t>ele.addEventListener</a:t>
            </a:r>
            <a:r>
              <a:rPr lang="en-US" dirty="0"/>
              <a:t>('</a:t>
            </a:r>
            <a:r>
              <a:rPr lang="en-US" dirty="0" err="1"/>
              <a:t>mouseover</a:t>
            </a:r>
            <a:r>
              <a:rPr lang="en-US" dirty="0"/>
              <a:t>', (e) =&gt; {</a:t>
            </a:r>
          </a:p>
          <a:p>
            <a:r>
              <a:rPr lang="en-US" dirty="0"/>
              <a:t>        //set image to plus_dark.png' using </a:t>
            </a:r>
            <a:r>
              <a:rPr lang="en-US" dirty="0" err="1"/>
              <a:t>nextSibling</a:t>
            </a:r>
            <a:endParaRPr lang="en-US" dirty="0"/>
          </a:p>
          <a:p>
            <a:r>
              <a:rPr lang="en-US" dirty="0"/>
              <a:t>        //set the text to purple </a:t>
            </a:r>
          </a:p>
          <a:p>
            <a:r>
              <a:rPr lang="en-US" dirty="0"/>
              <a:t>    }, false);</a:t>
            </a:r>
          </a:p>
          <a:p>
            <a:r>
              <a:rPr lang="en-US" dirty="0"/>
              <a:t>    </a:t>
            </a:r>
            <a:r>
              <a:rPr lang="en-US" dirty="0" err="1"/>
              <a:t>ele.addEventListener</a:t>
            </a:r>
            <a:r>
              <a:rPr lang="en-US" dirty="0"/>
              <a:t>('</a:t>
            </a:r>
            <a:r>
              <a:rPr lang="en-US" dirty="0" err="1"/>
              <a:t>mouseout</a:t>
            </a:r>
            <a:r>
              <a:rPr lang="en-US" dirty="0"/>
              <a:t>', function (e) {</a:t>
            </a:r>
          </a:p>
          <a:p>
            <a:r>
              <a:rPr lang="en-US" dirty="0"/>
              <a:t>	 //set image to plus_dark.png' using </a:t>
            </a:r>
            <a:r>
              <a:rPr lang="en-US" dirty="0" err="1"/>
              <a:t>nextSibling</a:t>
            </a:r>
            <a:endParaRPr lang="en-US" dirty="0"/>
          </a:p>
          <a:p>
            <a:r>
              <a:rPr lang="en-US" dirty="0"/>
              <a:t>        //set the text to purple     </a:t>
            </a:r>
          </a:p>
          <a:p>
            <a:r>
              <a:rPr lang="en-US" dirty="0"/>
              <a:t>    }, false);</a:t>
            </a:r>
          </a:p>
          <a:p>
            <a:r>
              <a:rPr lang="en-US" dirty="0"/>
              <a:t>  }</a:t>
            </a:r>
          </a:p>
          <a:p>
            <a:r>
              <a:rPr lang="en-US" dirty="0"/>
              <a:t>//Note the difference in the two anonymous functions</a:t>
            </a:r>
          </a:p>
          <a:p>
            <a:r>
              <a:rPr lang="en-US" dirty="0"/>
              <a:t>//above, one using </a:t>
            </a:r>
            <a:r>
              <a:rPr lang="en-US" b="1" i="1" dirty="0"/>
              <a:t>function</a:t>
            </a:r>
            <a:r>
              <a:rPr lang="en-US" dirty="0"/>
              <a:t> one using </a:t>
            </a:r>
            <a:r>
              <a:rPr lang="en-US" b="1" i="1" dirty="0"/>
              <a:t>arrow notation</a:t>
            </a:r>
            <a:r>
              <a:rPr lang="en-US" dirty="0"/>
              <a:t>. </a:t>
            </a:r>
          </a:p>
          <a:p>
            <a:r>
              <a:rPr lang="en-US" dirty="0"/>
              <a:t>//What does the difference mean?</a:t>
            </a:r>
          </a:p>
          <a:p>
            <a:endParaRPr lang="en-US" dirty="0"/>
          </a:p>
          <a:p>
            <a:endParaRPr lang="en-US" dirty="0"/>
          </a:p>
        </p:txBody>
      </p:sp>
    </p:spTree>
    <p:extLst>
      <p:ext uri="{BB962C8B-B14F-4D97-AF65-F5344CB8AC3E}">
        <p14:creationId xmlns:p14="http://schemas.microsoft.com/office/powerpoint/2010/main" val="77284188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E3934F-5AF7-4DF9-92C2-7E32776433B6}"/>
              </a:ext>
            </a:extLst>
          </p:cNvPr>
          <p:cNvSpPr>
            <a:spLocks noGrp="1"/>
          </p:cNvSpPr>
          <p:nvPr>
            <p:ph type="title"/>
          </p:nvPr>
        </p:nvSpPr>
        <p:spPr/>
        <p:txBody>
          <a:bodyPr/>
          <a:lstStyle/>
          <a:p>
            <a:r>
              <a:rPr lang="en-US" dirty="0"/>
              <a:t>More…</a:t>
            </a:r>
          </a:p>
        </p:txBody>
      </p:sp>
      <p:sp>
        <p:nvSpPr>
          <p:cNvPr id="3" name="Content Placeholder 2">
            <a:extLst>
              <a:ext uri="{FF2B5EF4-FFF2-40B4-BE49-F238E27FC236}">
                <a16:creationId xmlns:a16="http://schemas.microsoft.com/office/drawing/2014/main" id="{9B398F5B-6F4E-479A-BD7F-ACD20E191939}"/>
              </a:ext>
            </a:extLst>
          </p:cNvPr>
          <p:cNvSpPr>
            <a:spLocks noGrp="1"/>
          </p:cNvSpPr>
          <p:nvPr>
            <p:ph idx="1"/>
          </p:nvPr>
        </p:nvSpPr>
        <p:spPr>
          <a:xfrm>
            <a:off x="1069848" y="2121408"/>
            <a:ext cx="10058400" cy="2344266"/>
          </a:xfrm>
        </p:spPr>
        <p:txBody>
          <a:bodyPr>
            <a:normAutofit fontScale="92500" lnSpcReduction="10000"/>
          </a:bodyPr>
          <a:lstStyle/>
          <a:p>
            <a:r>
              <a:rPr lang="en-US" dirty="0"/>
              <a:t>Make it so the admin function gets updated when you make or sell </a:t>
            </a:r>
            <a:r>
              <a:rPr lang="en-US" dirty="0" err="1"/>
              <a:t>bananaade</a:t>
            </a:r>
            <a:r>
              <a:rPr lang="en-US"/>
              <a:t>.</a:t>
            </a:r>
          </a:p>
          <a:p>
            <a:r>
              <a:rPr lang="en-US" dirty="0"/>
              <a:t>Make it so that you can change the price of a glass of </a:t>
            </a:r>
            <a:r>
              <a:rPr lang="en-US" dirty="0" err="1"/>
              <a:t>Bananaade</a:t>
            </a:r>
            <a:r>
              <a:rPr lang="en-US" dirty="0"/>
              <a:t>.</a:t>
            </a:r>
          </a:p>
          <a:p>
            <a:r>
              <a:rPr lang="en-US" dirty="0"/>
              <a:t>Add a button for </a:t>
            </a:r>
            <a:r>
              <a:rPr lang="en-US" dirty="0" err="1"/>
              <a:t>sellMoreBananaade</a:t>
            </a:r>
            <a:r>
              <a:rPr lang="en-US" dirty="0"/>
              <a:t>. You will need a number from 0 to 8.</a:t>
            </a:r>
          </a:p>
          <a:p>
            <a:r>
              <a:rPr lang="en-US" dirty="0"/>
              <a:t>Make it look good with CSS.</a:t>
            </a:r>
          </a:p>
          <a:p>
            <a:pPr lvl="1"/>
            <a:r>
              <a:rPr lang="en-US" dirty="0"/>
              <a:t>Put some margins around the buttons</a:t>
            </a:r>
          </a:p>
          <a:p>
            <a:pPr lvl="1"/>
            <a:r>
              <a:rPr lang="en-US" dirty="0"/>
              <a:t>Center the numbers in the inventory table</a:t>
            </a:r>
          </a:p>
          <a:p>
            <a:pPr lvl="1"/>
            <a:r>
              <a:rPr lang="en-US" dirty="0"/>
              <a:t>More, much more.  Make it look good with colors and images and …</a:t>
            </a:r>
          </a:p>
        </p:txBody>
      </p:sp>
    </p:spTree>
    <p:extLst>
      <p:ext uri="{BB962C8B-B14F-4D97-AF65-F5344CB8AC3E}">
        <p14:creationId xmlns:p14="http://schemas.microsoft.com/office/powerpoint/2010/main" val="4144970219"/>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Wood Type">
  <a:themeElements>
    <a:clrScheme name="Wood Type">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Wood Type">
      <a:majorFont>
        <a:latin typeface="Rockwell Condensed" panose="02060603050405020104"/>
        <a:ea typeface=""/>
        <a:cs typeface=""/>
        <a:font script="Grek" typeface="Cambria"/>
        <a:font script="Cyrl" typeface="Cambria"/>
        <a:font script="Jpan" typeface="HG明朝B"/>
        <a:font script="Hang" typeface="바탕"/>
        <a:font script="Hans" typeface="方正姚体"/>
        <a:font script="Hant" typeface="微軟正黑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Rockwell" panose="02060603020205020403"/>
        <a:ea typeface=""/>
        <a:cs typeface=""/>
        <a:font script="Grek" typeface="Cambria"/>
        <a:font script="Cyrl" typeface="Cambria"/>
        <a:font script="Jpan" typeface="HG明朝B"/>
        <a:font script="Hang" typeface="바탕"/>
        <a:font script="Hans" typeface="方正姚体"/>
        <a:font script="Hant" typeface="標楷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Wood Type">
      <a:fillStyleLst>
        <a:solidFill>
          <a:schemeClr val="phClr"/>
        </a:solidFill>
        <a:blipFill rotWithShape="1">
          <a:blip xmlns:r="http://schemas.openxmlformats.org/officeDocument/2006/relationships" r:embed="rId1">
            <a:duotone>
              <a:schemeClr val="phClr">
                <a:tint val="70000"/>
                <a:shade val="63000"/>
              </a:schemeClr>
              <a:schemeClr val="phClr">
                <a:tint val="10000"/>
                <a:satMod val="150000"/>
              </a:schemeClr>
            </a:duotone>
          </a:blip>
          <a:tile tx="0" ty="0" sx="60000" sy="59000" flip="none" algn="tl"/>
        </a:blipFill>
        <a:blipFill rotWithShape="1">
          <a:blip xmlns:r="http://schemas.openxmlformats.org/officeDocument/2006/relationships" r:embed="rId1">
            <a:duotone>
              <a:schemeClr val="phClr">
                <a:shade val="36000"/>
                <a:satMod val="120000"/>
              </a:schemeClr>
              <a:schemeClr val="phClr">
                <a:tint val="40000"/>
              </a:schemeClr>
            </a:duotone>
          </a:blip>
          <a:tile tx="0" ty="0" sx="60000" sy="59000" flip="none" algn="tl"/>
        </a:blip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solidFill>
          <a:schemeClr val="phClr">
            <a:shade val="97000"/>
            <a:satMod val="150000"/>
          </a:schemeClr>
        </a:solidFill>
        <a:blipFill rotWithShape="1">
          <a:blip xmlns:r="http://schemas.openxmlformats.org/officeDocument/2006/relationships" r:embed="rId1">
            <a:duotone>
              <a:schemeClr val="phClr">
                <a:tint val="75000"/>
                <a:shade val="58000"/>
                <a:satMod val="120000"/>
              </a:schemeClr>
              <a:schemeClr val="phClr">
                <a:tint val="50000"/>
                <a:shade val="96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name="Wood Type" id="{7ACABC62-BF99-48CF-A9DC-4DB89C7B13DC}" vid="{142A1326-48AB-42A9-8428-CB14AA30176D}"/>
    </a:ext>
  </a:extLst>
</a:theme>
</file>

<file path=docProps/app.xml><?xml version="1.0" encoding="utf-8"?>
<Properties xmlns="http://schemas.openxmlformats.org/officeDocument/2006/extended-properties" xmlns:vt="http://schemas.openxmlformats.org/officeDocument/2006/docPropsVTypes">
  <Template>Wood Type</Template>
  <TotalTime>1440</TotalTime>
  <Words>3429</Words>
  <Application>Microsoft Office PowerPoint</Application>
  <PresentationFormat>Widescreen</PresentationFormat>
  <Paragraphs>308</Paragraphs>
  <Slides>25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25</vt:i4>
      </vt:variant>
    </vt:vector>
  </HeadingPairs>
  <TitlesOfParts>
    <vt:vector size="29" baseType="lpstr">
      <vt:lpstr>Rockwell</vt:lpstr>
      <vt:lpstr>Rockwell Condensed</vt:lpstr>
      <vt:lpstr>Wingdings</vt:lpstr>
      <vt:lpstr>Wood Type</vt:lpstr>
      <vt:lpstr>The BANANAade Stand</vt:lpstr>
      <vt:lpstr>JavaScript is Complex</vt:lpstr>
      <vt:lpstr>Setting up 1</vt:lpstr>
      <vt:lpstr>Setting up 2</vt:lpstr>
      <vt:lpstr>More changes</vt:lpstr>
      <vt:lpstr>More articles </vt:lpstr>
      <vt:lpstr>Adding ingredients</vt:lpstr>
      <vt:lpstr>Adding controls</vt:lpstr>
      <vt:lpstr>Clickable things</vt:lpstr>
      <vt:lpstr>Now for some javascript</vt:lpstr>
      <vt:lpstr>Hide the input boxes for add ingredients</vt:lpstr>
      <vt:lpstr>Adding ingredients</vt:lpstr>
      <vt:lpstr>showInput</vt:lpstr>
      <vt:lpstr>Getting the input</vt:lpstr>
      <vt:lpstr>Keyboard input with keyboardEvent</vt:lpstr>
      <vt:lpstr>Processing the keydown event</vt:lpstr>
      <vt:lpstr>Some error checking</vt:lpstr>
      <vt:lpstr>Regular expressions</vt:lpstr>
      <vt:lpstr>The addBananas Function</vt:lpstr>
      <vt:lpstr>Updating the inventory</vt:lpstr>
      <vt:lpstr>updateInventory()</vt:lpstr>
      <vt:lpstr>Making the buttons work</vt:lpstr>
      <vt:lpstr>Update after buttons</vt:lpstr>
      <vt:lpstr>Add mouseover visuals</vt:lpstr>
      <vt:lpstr>More…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Lemonade Stand</dc:title>
  <dc:creator>Joel</dc:creator>
  <cp:lastModifiedBy>Joel Swanson</cp:lastModifiedBy>
  <cp:revision>85</cp:revision>
  <dcterms:created xsi:type="dcterms:W3CDTF">2019-10-29T18:15:19Z</dcterms:created>
  <dcterms:modified xsi:type="dcterms:W3CDTF">2025-10-17T16:01:20Z</dcterms:modified>
</cp:coreProperties>
</file>