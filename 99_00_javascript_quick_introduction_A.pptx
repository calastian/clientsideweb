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3" r:id="rId3"/>
    <p:sldId id="284" r:id="rId4"/>
    <p:sldId id="285" r:id="rId5"/>
    <p:sldId id="286" r:id="rId6"/>
    <p:sldId id="287" r:id="rId7"/>
    <p:sldId id="258" r:id="rId8"/>
    <p:sldId id="259" r:id="rId9"/>
    <p:sldId id="261" r:id="rId10"/>
    <p:sldId id="260" r:id="rId11"/>
    <p:sldId id="280" r:id="rId12"/>
    <p:sldId id="273" r:id="rId13"/>
    <p:sldId id="289" r:id="rId14"/>
    <p:sldId id="262" r:id="rId15"/>
    <p:sldId id="279" r:id="rId16"/>
    <p:sldId id="263" r:id="rId17"/>
    <p:sldId id="265" r:id="rId18"/>
    <p:sldId id="282" r:id="rId19"/>
    <p:sldId id="264" r:id="rId20"/>
    <p:sldId id="281" r:id="rId21"/>
    <p:sldId id="269" r:id="rId22"/>
    <p:sldId id="270" r:id="rId23"/>
    <p:sldId id="271" r:id="rId24"/>
    <p:sldId id="288" r:id="rId25"/>
    <p:sldId id="274" r:id="rId26"/>
    <p:sldId id="275" r:id="rId27"/>
    <p:sldId id="272" r:id="rId28"/>
    <p:sldId id="278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6" d="100"/>
          <a:sy n="36" d="100"/>
        </p:scale>
        <p:origin x="48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B4EB5-1B2B-4328-8C31-852A8472E5C8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EA3599DE-5667-4DFA-B984-425EFD7BA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085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B4EB5-1B2B-4328-8C31-852A8472E5C8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599DE-5667-4DFA-B984-425EFD7BA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636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277B4EB5-1B2B-4328-8C31-852A8472E5C8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EA3599DE-5667-4DFA-B984-425EFD7BA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982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B4EB5-1B2B-4328-8C31-852A8472E5C8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599DE-5667-4DFA-B984-425EFD7BA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176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B4EB5-1B2B-4328-8C31-852A8472E5C8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599DE-5667-4DFA-B984-425EFD7BA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297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B4EB5-1B2B-4328-8C31-852A8472E5C8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599DE-5667-4DFA-B984-425EFD7BA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90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B4EB5-1B2B-4328-8C31-852A8472E5C8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599DE-5667-4DFA-B984-425EFD7BA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541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B4EB5-1B2B-4328-8C31-852A8472E5C8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599DE-5667-4DFA-B984-425EFD7BA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012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B4EB5-1B2B-4328-8C31-852A8472E5C8}" type="datetimeFigureOut">
              <a:rPr lang="en-US" smtClean="0"/>
              <a:t>9/19/2025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599DE-5667-4DFA-B984-425EFD7BA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236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B4EB5-1B2B-4328-8C31-852A8472E5C8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599DE-5667-4DFA-B984-425EFD7BA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16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B4EB5-1B2B-4328-8C31-852A8472E5C8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599DE-5667-4DFA-B984-425EFD7BA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666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277B4EB5-1B2B-4328-8C31-852A8472E5C8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EA3599DE-5667-4DFA-B984-425EFD7BA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636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5.gif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5.gif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s://cs.appstate.edu/jas/3440/javascript-and-jquery-code/dom_example.html" TargetMode="Externa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cs.appstate.edu/jas/3440/javascript-and-jquery-code/dom_example_2.htm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JavaScript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Quick Introduction and Assignment</a:t>
            </a:r>
          </a:p>
        </p:txBody>
      </p:sp>
    </p:spTree>
    <p:extLst>
      <p:ext uri="{BB962C8B-B14F-4D97-AF65-F5344CB8AC3E}">
        <p14:creationId xmlns:p14="http://schemas.microsoft.com/office/powerpoint/2010/main" val="1586633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FA9E8D-132D-4F05-9FA4-847DD1A3D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US" dirty="0"/>
              <a:t>The document object model or </a:t>
            </a:r>
            <a:r>
              <a:rPr lang="en-US" dirty="0" err="1"/>
              <a:t>dom</a:t>
            </a:r>
            <a:endParaRPr lang="en-US" dirty="0"/>
          </a:p>
        </p:txBody>
      </p:sp>
      <p:pic>
        <p:nvPicPr>
          <p:cNvPr id="4" name="Picture 3" descr="Document object model tree.">
            <a:extLst>
              <a:ext uri="{FF2B5EF4-FFF2-40B4-BE49-F238E27FC236}">
                <a16:creationId xmlns:a16="http://schemas.microsoft.com/office/drawing/2014/main" id="{2104E275-444E-4D2D-8FFF-BD06248C1C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803" y="2170167"/>
            <a:ext cx="5531197" cy="302736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D0B9E-AF68-43A5-B3B7-6794FD78D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6216" y="2320412"/>
            <a:ext cx="4632031" cy="3851787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Browsers must store web pages.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They must store all the elements and the relationships between those elements.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The easiest way to store this data is as objects stored in a tree 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That tree is called the DOM or sometimes HTML DOM.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These objects are JavaScript objects.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Since they are JavaScript objects it is possible to interact with them using the familiar dot notation.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As objects there are also built-in methods that we can use.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endParaRPr lang="en-US" sz="14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5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8236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FA9E8D-132D-4F05-9FA4-847DD1A3D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US" dirty="0"/>
              <a:t>Using the </a:t>
            </a:r>
            <a:r>
              <a:rPr lang="en-US" dirty="0" err="1"/>
              <a:t>dom</a:t>
            </a:r>
            <a:endParaRPr lang="en-US" dirty="0"/>
          </a:p>
        </p:txBody>
      </p:sp>
      <p:pic>
        <p:nvPicPr>
          <p:cNvPr id="4" name="Picture 3" descr="Document object model tree.">
            <a:extLst>
              <a:ext uri="{FF2B5EF4-FFF2-40B4-BE49-F238E27FC236}">
                <a16:creationId xmlns:a16="http://schemas.microsoft.com/office/drawing/2014/main" id="{5A55FA40-48B4-1BF7-54D1-2A2141A6FD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504" y="2732623"/>
            <a:ext cx="5531197" cy="302736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D0B9E-AF68-43A5-B3B7-6794FD78D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6216" y="2320412"/>
            <a:ext cx="4632031" cy="3851787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/>
              <a:t>JavaScript can change all the HTML elements in the page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/>
              <a:t>JavaScript can change all the HTML attributes in the page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/>
              <a:t>JavaScript can change all the CSS styles in the page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/>
              <a:t>JavaScript can remove existing HTML elements and attributes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/>
              <a:t>JavaScript can add new HTML elements and attributes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/>
              <a:t>JavaScript can react to all existing HTML events in the page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/>
              <a:t>JavaScript can create new HTML events in the page</a:t>
            </a:r>
          </a:p>
          <a:p>
            <a:endParaRPr lang="en-US" sz="140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5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29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359786-9580-433C-AEE4-9E541169C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US" dirty="0"/>
              <a:t>Seeing the html Dom in </a:t>
            </a:r>
            <a:r>
              <a:rPr lang="en-US" dirty="0" err="1"/>
              <a:t>firefox</a:t>
            </a:r>
            <a:endParaRPr lang="en-US" dirty="0"/>
          </a:p>
        </p:txBody>
      </p:sp>
      <p:pic>
        <p:nvPicPr>
          <p:cNvPr id="5" name="Picture 4" descr="DOM view in the Chrome browser.">
            <a:extLst>
              <a:ext uri="{FF2B5EF4-FFF2-40B4-BE49-F238E27FC236}">
                <a16:creationId xmlns:a16="http://schemas.microsoft.com/office/drawing/2014/main" id="{7422A244-32A6-4D0C-AF6E-A59A966E97F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016" r="12677" b="1"/>
          <a:stretch>
            <a:fillRect/>
          </a:stretch>
        </p:blipFill>
        <p:spPr>
          <a:xfrm>
            <a:off x="1007196" y="2265037"/>
            <a:ext cx="5088800" cy="390715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49B86-DA73-4CD3-97E8-99A7F2B85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6216" y="2320412"/>
            <a:ext cx="4632031" cy="3851787"/>
          </a:xfrm>
        </p:spPr>
        <p:txBody>
          <a:bodyPr anchor="ctr">
            <a:normAutofit/>
          </a:bodyPr>
          <a:lstStyle/>
          <a:p>
            <a:r>
              <a:rPr lang="en-US" dirty="0">
                <a:hlinkClick r:id="rId5"/>
              </a:rPr>
              <a:t>Example 1</a:t>
            </a:r>
            <a:endParaRPr lang="en-US" dirty="0"/>
          </a:p>
          <a:p>
            <a:r>
              <a:rPr lang="en-US" dirty="0"/>
              <a:t>Ctrl-Shift-I to bring up web console or use menu (same in Chrome).</a:t>
            </a:r>
          </a:p>
          <a:p>
            <a:r>
              <a:rPr lang="en-US" dirty="0"/>
              <a:t>Right click on the &lt;html&gt; tag and select "Show DOM Properties"</a:t>
            </a:r>
          </a:p>
          <a:p>
            <a:r>
              <a:rPr lang="en-US" dirty="0"/>
              <a:t>DOM will appear in bottom, third pane.</a:t>
            </a:r>
          </a:p>
          <a:p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6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7726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6B66E70-9451-4286-A0C2-6CF108FE8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4B0696-68E2-40ED-B597-4B8738754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9EF1B4-0F49-44D2-AE21-263819BFB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38656" y="0"/>
            <a:ext cx="4653776" cy="6858000"/>
          </a:xfrm>
          <a:prstGeom prst="rect">
            <a:avLst/>
          </a:prstGeom>
          <a:blipFill dpi="0" rotWithShape="1">
            <a:blip r:embed="rId2">
              <a:alphaModFix amt="4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603FF2-0437-469E-92D4-7978FD886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119" y="643466"/>
            <a:ext cx="3348017" cy="5571067"/>
          </a:xfrm>
        </p:spPr>
        <p:txBody>
          <a:bodyPr>
            <a:normAutofit/>
          </a:bodyPr>
          <a:lstStyle/>
          <a:p>
            <a:r>
              <a:rPr lang="en-US" sz="4800">
                <a:solidFill>
                  <a:schemeClr val="tx1"/>
                </a:solidFill>
              </a:rPr>
              <a:t>Items of note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EF9C5-7755-4029-A668-3939F6639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2315" y="643467"/>
            <a:ext cx="4534781" cy="5571066"/>
          </a:xfrm>
        </p:spPr>
        <p:txBody>
          <a:bodyPr anchor="ctr">
            <a:normAutofit/>
          </a:bodyPr>
          <a:lstStyle/>
          <a:p>
            <a:r>
              <a:rPr lang="en-US" sz="1800" dirty="0" err="1"/>
              <a:t>childNodes</a:t>
            </a:r>
            <a:endParaRPr lang="en-US" sz="1800" dirty="0"/>
          </a:p>
          <a:p>
            <a:r>
              <a:rPr lang="en-US" sz="1800" dirty="0"/>
              <a:t>children</a:t>
            </a:r>
          </a:p>
          <a:p>
            <a:r>
              <a:rPr lang="en-US" sz="1800" dirty="0" err="1"/>
              <a:t>classList</a:t>
            </a:r>
            <a:endParaRPr lang="en-US" sz="1800" dirty="0"/>
          </a:p>
          <a:p>
            <a:r>
              <a:rPr lang="en-US" sz="1800" dirty="0" err="1"/>
              <a:t>className</a:t>
            </a:r>
            <a:endParaRPr lang="en-US" sz="1800" dirty="0"/>
          </a:p>
          <a:p>
            <a:r>
              <a:rPr lang="en-US" sz="1800" dirty="0" err="1"/>
              <a:t>clientHeight</a:t>
            </a:r>
            <a:r>
              <a:rPr lang="en-US" sz="1800" dirty="0"/>
              <a:t>, </a:t>
            </a:r>
            <a:r>
              <a:rPr lang="en-US" sz="1800" dirty="0" err="1"/>
              <a:t>clientLeft</a:t>
            </a:r>
            <a:r>
              <a:rPr lang="en-US" sz="1800" dirty="0"/>
              <a:t>, </a:t>
            </a:r>
            <a:r>
              <a:rPr lang="en-US" sz="1800" dirty="0" err="1"/>
              <a:t>clientTop</a:t>
            </a:r>
            <a:r>
              <a:rPr lang="en-US" sz="1800" dirty="0"/>
              <a:t>, </a:t>
            </a:r>
            <a:r>
              <a:rPr lang="en-US" sz="1800" dirty="0" err="1"/>
              <a:t>clientWidth</a:t>
            </a:r>
            <a:endParaRPr lang="en-US" sz="1800" dirty="0"/>
          </a:p>
          <a:p>
            <a:r>
              <a:rPr lang="en-US" sz="1800" dirty="0"/>
              <a:t>Random text nodes</a:t>
            </a:r>
          </a:p>
          <a:p>
            <a:r>
              <a:rPr lang="en-US" sz="1800" dirty="0" err="1"/>
              <a:t>firstChild</a:t>
            </a:r>
            <a:r>
              <a:rPr lang="en-US" sz="1800" dirty="0"/>
              <a:t>, </a:t>
            </a:r>
            <a:r>
              <a:rPr lang="en-US" sz="1800" dirty="0" err="1"/>
              <a:t>firstElementChild</a:t>
            </a:r>
            <a:endParaRPr lang="en-US" sz="1800" dirty="0"/>
          </a:p>
          <a:p>
            <a:r>
              <a:rPr lang="en-US" sz="1800" dirty="0" err="1"/>
              <a:t>lastChild</a:t>
            </a:r>
            <a:r>
              <a:rPr lang="en-US" sz="1800" dirty="0"/>
              <a:t>, </a:t>
            </a:r>
            <a:r>
              <a:rPr lang="en-US" sz="1800" dirty="0" err="1"/>
              <a:t>lastElementChild</a:t>
            </a:r>
            <a:endParaRPr lang="en-US" sz="1800" dirty="0"/>
          </a:p>
          <a:p>
            <a:r>
              <a:rPr lang="en-US" sz="1800" dirty="0" err="1"/>
              <a:t>nextSibling</a:t>
            </a:r>
            <a:r>
              <a:rPr lang="en-US" sz="1800" dirty="0"/>
              <a:t>, </a:t>
            </a:r>
            <a:r>
              <a:rPr lang="en-US" sz="1800" dirty="0" err="1"/>
              <a:t>nextElementSibling</a:t>
            </a:r>
            <a:endParaRPr lang="en-US" sz="1800" dirty="0"/>
          </a:p>
          <a:p>
            <a:r>
              <a:rPr lang="en-US" sz="1800" dirty="0" err="1">
                <a:hlinkClick r:id="rId4"/>
              </a:rPr>
              <a:t>textContent</a:t>
            </a:r>
            <a:r>
              <a:rPr lang="en-US" sz="1800" dirty="0">
                <a:hlinkClick r:id="rId4"/>
              </a:rPr>
              <a:t>, </a:t>
            </a:r>
            <a:r>
              <a:rPr lang="en-US" sz="1800" dirty="0" err="1">
                <a:hlinkClick r:id="rId4"/>
              </a:rPr>
              <a:t>innerHTML</a:t>
            </a:r>
            <a:r>
              <a:rPr lang="en-US" sz="1800" dirty="0">
                <a:hlinkClick r:id="rId4"/>
              </a:rPr>
              <a:t>, </a:t>
            </a:r>
            <a:r>
              <a:rPr lang="en-US" sz="1800" dirty="0" err="1">
                <a:hlinkClick r:id="rId4"/>
              </a:rPr>
              <a:t>innerText</a:t>
            </a:r>
            <a:r>
              <a:rPr lang="en-US" sz="1800" dirty="0">
                <a:hlinkClick r:id="rId4"/>
              </a:rPr>
              <a:t>, </a:t>
            </a:r>
            <a:r>
              <a:rPr lang="en-US" sz="1800" dirty="0" err="1">
                <a:hlinkClick r:id="rId4"/>
              </a:rPr>
              <a:t>outerHTML</a:t>
            </a:r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B69B0BE-E00A-432A-98D1-A47B82C16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401725" y="6229681"/>
            <a:chExt cx="457200" cy="4572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AF8A5ED-19F8-4707-8EEC-7115E6B11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1725" y="6229681"/>
              <a:ext cx="457200" cy="45720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5F50C1C-978D-45B5-B716-7DA91773CD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30918" y="6258874"/>
              <a:ext cx="398813" cy="398815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74633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D544B6-3BEB-403B-9D89-B7AFB18BE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US"/>
              <a:t>Interacting with the html dom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3808B-FE88-48B1-B83B-65D83DD35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320412"/>
            <a:ext cx="10058400" cy="3851787"/>
          </a:xfrm>
        </p:spPr>
        <p:txBody>
          <a:bodyPr>
            <a:normAutofit/>
          </a:bodyPr>
          <a:lstStyle/>
          <a:p>
            <a:r>
              <a:rPr lang="en-US" sz="1700" dirty="0"/>
              <a:t>The "document" object has many methods designed to find and interact with DOM elements.  </a:t>
            </a:r>
          </a:p>
          <a:p>
            <a:r>
              <a:rPr lang="en-US" sz="1700" dirty="0"/>
              <a:t>console.log(</a:t>
            </a:r>
          </a:p>
          <a:p>
            <a:pPr marL="0" indent="0">
              <a:buNone/>
            </a:pPr>
            <a:r>
              <a:rPr lang="en-US" sz="1700" dirty="0"/>
              <a:t>	</a:t>
            </a:r>
            <a:r>
              <a:rPr lang="en-US" sz="1700" dirty="0" err="1"/>
              <a:t>document.getElementsByTagName</a:t>
            </a:r>
            <a:r>
              <a:rPr lang="en-US" sz="1700" dirty="0"/>
              <a:t>("html")[0].</a:t>
            </a:r>
            <a:r>
              <a:rPr lang="en-US" sz="1700" dirty="0" err="1"/>
              <a:t>childElementCount</a:t>
            </a:r>
            <a:endParaRPr lang="en-US" sz="1700" dirty="0"/>
          </a:p>
          <a:p>
            <a:pPr marL="0" indent="0">
              <a:buNone/>
            </a:pPr>
            <a:r>
              <a:rPr lang="en-US" sz="1700" dirty="0"/>
              <a:t>    )</a:t>
            </a:r>
          </a:p>
          <a:p>
            <a:endParaRPr lang="en-US" sz="1700" dirty="0"/>
          </a:p>
          <a:p>
            <a:r>
              <a:rPr lang="en-US" sz="1700" dirty="0" err="1"/>
              <a:t>document.getElementsByTagName</a:t>
            </a:r>
            <a:r>
              <a:rPr lang="en-US" sz="1700" dirty="0"/>
              <a:t>("h1")[0].</a:t>
            </a:r>
            <a:r>
              <a:rPr lang="en-US" sz="1700" dirty="0" err="1"/>
              <a:t>textContent</a:t>
            </a:r>
            <a:r>
              <a:rPr lang="en-US" sz="1700" dirty="0"/>
              <a:t> = "Hi" </a:t>
            </a:r>
          </a:p>
          <a:p>
            <a:r>
              <a:rPr lang="en-US" sz="1700" dirty="0" err="1"/>
              <a:t>document.getElementsByTagName</a:t>
            </a:r>
            <a:r>
              <a:rPr lang="en-US" sz="1700" dirty="0"/>
              <a:t>("a")[0].</a:t>
            </a:r>
            <a:r>
              <a:rPr lang="en-US" sz="1700" dirty="0" err="1"/>
              <a:t>textContent</a:t>
            </a:r>
            <a:r>
              <a:rPr lang="en-US" sz="1700" dirty="0"/>
              <a:t> = "Your link"</a:t>
            </a:r>
          </a:p>
          <a:p>
            <a:r>
              <a:rPr lang="en-US" sz="1700" dirty="0" err="1"/>
              <a:t>document.getElementsByTagName</a:t>
            </a:r>
            <a:r>
              <a:rPr lang="en-US" sz="1700" dirty="0"/>
              <a:t>("a")[0].id = "x"</a:t>
            </a:r>
          </a:p>
          <a:p>
            <a:r>
              <a:rPr lang="en-US" sz="1700" dirty="0" err="1"/>
              <a:t>document.getElementById</a:t>
            </a:r>
            <a:r>
              <a:rPr lang="en-US" sz="1700" dirty="0"/>
              <a:t>("x").href="http://www.google.com"</a:t>
            </a:r>
          </a:p>
          <a:p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endParaRPr lang="en-US" sz="17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2478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document.write</a:t>
            </a:r>
            <a:r>
              <a:rPr lang="en-US" dirty="0"/>
              <a:t>();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document.write() simply writes things to the web page.</a:t>
            </a:r>
          </a:p>
          <a:p>
            <a:r>
              <a:rPr lang="en-US" dirty="0"/>
              <a:t>The following will put the word Hello on the screen as a h1 level header.</a:t>
            </a:r>
          </a:p>
          <a:p>
            <a:pPr marL="0" indent="0">
              <a:buNone/>
            </a:pPr>
            <a:r>
              <a:rPr lang="en-US" dirty="0"/>
              <a:t>	document.write("&lt;h1&gt;Hello&lt;/h1&gt;"); </a:t>
            </a:r>
          </a:p>
          <a:p>
            <a:endParaRPr lang="en-US" dirty="0"/>
          </a:p>
          <a:p>
            <a:r>
              <a:rPr lang="en-US" dirty="0"/>
              <a:t>So why not just put the following in the body?  Why use document.write() to do essentially the same thing?</a:t>
            </a:r>
          </a:p>
          <a:p>
            <a:pPr marL="0" indent="0">
              <a:buNone/>
            </a:pPr>
            <a:r>
              <a:rPr lang="en-US" dirty="0"/>
              <a:t>	&lt;h1&gt;Hello&lt;/h1&gt;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362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use </a:t>
            </a:r>
            <a:r>
              <a:rPr lang="en-US" dirty="0" err="1"/>
              <a:t>document.write</a:t>
            </a:r>
            <a:r>
              <a:rPr lang="en-US" dirty="0"/>
              <a:t>() (NEVER)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you are between the script tags (&lt;script&gt;&lt;/script&gt;) your browser goes into script mode.  </a:t>
            </a:r>
          </a:p>
          <a:p>
            <a:r>
              <a:rPr lang="en-US" b="1" dirty="0"/>
              <a:t>You CANNOT use plain HTML when between the script tags.</a:t>
            </a:r>
          </a:p>
          <a:p>
            <a:r>
              <a:rPr lang="en-US" dirty="0"/>
              <a:t>You MUST use document.write for any HTML you would like to output when you are in script mode.</a:t>
            </a:r>
          </a:p>
          <a:p>
            <a:r>
              <a:rPr lang="en-US" dirty="0"/>
              <a:t>You cannot use </a:t>
            </a:r>
            <a:r>
              <a:rPr lang="en-US" dirty="0" err="1"/>
              <a:t>document.write</a:t>
            </a:r>
            <a:r>
              <a:rPr lang="en-US" dirty="0"/>
              <a:t>() after the web page is rendered or it will overwrite ALL HTML.</a:t>
            </a:r>
          </a:p>
          <a:p>
            <a:r>
              <a:rPr lang="en-US" dirty="0"/>
              <a:t>The </a:t>
            </a:r>
            <a:r>
              <a:rPr lang="en-US" dirty="0" err="1"/>
              <a:t>document.write</a:t>
            </a:r>
            <a:r>
              <a:rPr lang="en-US" dirty="0"/>
              <a:t>() function is VERY limited in its use.  </a:t>
            </a:r>
          </a:p>
          <a:p>
            <a:r>
              <a:rPr lang="en-US" dirty="0"/>
              <a:t>DON’T use </a:t>
            </a:r>
            <a:r>
              <a:rPr lang="en-US" dirty="0" err="1"/>
              <a:t>document.write</a:t>
            </a:r>
            <a:r>
              <a:rPr lang="en-US" dirty="0"/>
              <a:t>() in any of the most basic operations.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196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183757"/>
            <a:ext cx="10058400" cy="1609344"/>
          </a:xfrm>
        </p:spPr>
        <p:txBody>
          <a:bodyPr/>
          <a:lstStyle/>
          <a:p>
            <a:r>
              <a:rPr lang="en-US" dirty="0"/>
              <a:t>These do the same thing.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759" y="1453178"/>
            <a:ext cx="5149241" cy="2555297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&lt;body&gt;</a:t>
            </a:r>
          </a:p>
          <a:p>
            <a:pPr marL="0" indent="0">
              <a:buNone/>
            </a:pPr>
            <a:r>
              <a:rPr lang="en-US" sz="2000" dirty="0"/>
              <a:t>    &lt;script </a:t>
            </a:r>
            <a:r>
              <a:rPr lang="en-US" sz="2000" dirty="0">
                <a:solidFill>
                  <a:srgbClr val="FF0000"/>
                </a:solidFill>
              </a:rPr>
              <a:t>type="text/</a:t>
            </a:r>
            <a:r>
              <a:rPr lang="en-US" sz="2000" dirty="0" err="1">
                <a:solidFill>
                  <a:srgbClr val="FF0000"/>
                </a:solidFill>
              </a:rPr>
              <a:t>javascript</a:t>
            </a:r>
            <a:r>
              <a:rPr lang="en-US" sz="2000" dirty="0">
                <a:solidFill>
                  <a:srgbClr val="FF0000"/>
                </a:solidFill>
              </a:rPr>
              <a:t>"</a:t>
            </a:r>
            <a:r>
              <a:rPr lang="en-US" sz="2000" dirty="0"/>
              <a:t>&gt;</a:t>
            </a:r>
          </a:p>
          <a:p>
            <a:pPr marL="0" indent="0">
              <a:buNone/>
            </a:pPr>
            <a:r>
              <a:rPr lang="en-US" sz="2000" dirty="0"/>
              <a:t>        </a:t>
            </a:r>
            <a:r>
              <a:rPr lang="en-US" sz="2000" dirty="0" err="1"/>
              <a:t>document.write</a:t>
            </a:r>
            <a:r>
              <a:rPr lang="en-US" sz="2000" dirty="0"/>
              <a:t>("&lt;h1&gt;Hello&lt;/h1&gt;");</a:t>
            </a:r>
          </a:p>
          <a:p>
            <a:pPr marL="0" indent="0">
              <a:buNone/>
            </a:pPr>
            <a:r>
              <a:rPr lang="en-US" sz="2000" dirty="0"/>
              <a:t>    &lt;/script&gt;</a:t>
            </a:r>
          </a:p>
          <a:p>
            <a:pPr marL="0" indent="0">
              <a:buNone/>
            </a:pPr>
            <a:r>
              <a:rPr lang="en-US" sz="2000" dirty="0"/>
              <a:t>&lt;/body&gt;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216041" y="1453177"/>
            <a:ext cx="4616302" cy="255529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&lt;body&gt;</a:t>
            </a:r>
          </a:p>
          <a:p>
            <a:pPr marL="0" indent="0">
              <a:buNone/>
            </a:pPr>
            <a:r>
              <a:rPr lang="en-US" sz="2000" dirty="0"/>
              <a:t>    &lt;h1&gt;Hello&lt;/h1&gt;</a:t>
            </a:r>
          </a:p>
          <a:p>
            <a:pPr marL="0" indent="0">
              <a:buNone/>
            </a:pPr>
            <a:r>
              <a:rPr lang="en-US" sz="2000" dirty="0"/>
              <a:t>&lt;/body&gt;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72E6A0-57B9-437B-AC8A-4F25E5A54522}"/>
              </a:ext>
            </a:extLst>
          </p:cNvPr>
          <p:cNvSpPr txBox="1"/>
          <p:nvPr/>
        </p:nvSpPr>
        <p:spPr>
          <a:xfrm>
            <a:off x="804547" y="4250660"/>
            <a:ext cx="100277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Scripting uses </a:t>
            </a:r>
            <a:r>
              <a:rPr lang="en-US" sz="2400" dirty="0" err="1"/>
              <a:t>document.write</a:t>
            </a:r>
            <a:r>
              <a:rPr lang="en-US" sz="2400" dirty="0"/>
              <a:t>() to create parts of the web page.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Anywhere you put a script and use </a:t>
            </a:r>
            <a:r>
              <a:rPr lang="en-US" sz="2400" dirty="0" err="1"/>
              <a:t>document.write</a:t>
            </a:r>
            <a:r>
              <a:rPr lang="en-US" sz="2400" dirty="0"/>
              <a:t>() the text will appear directly there in the HTML.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 show the type because older HTML required it.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But JavaScript is now the default for HTML so type is no longer required.</a:t>
            </a:r>
          </a:p>
        </p:txBody>
      </p:sp>
    </p:spTree>
    <p:extLst>
      <p:ext uri="{BB962C8B-B14F-4D97-AF65-F5344CB8AC3E}">
        <p14:creationId xmlns:p14="http://schemas.microsoft.com/office/powerpoint/2010/main" val="697933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These are errors.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31643"/>
            <a:ext cx="4436165" cy="4351338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sz="2000" dirty="0"/>
              <a:t>Using html (or anything that isn't JavaScript) in a script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&lt;body&gt;</a:t>
            </a:r>
          </a:p>
          <a:p>
            <a:pPr marL="0" indent="0">
              <a:buNone/>
            </a:pPr>
            <a:r>
              <a:rPr lang="en-US" sz="2000" dirty="0"/>
              <a:t>    &lt;script&gt;</a:t>
            </a:r>
          </a:p>
          <a:p>
            <a:pPr marL="0" indent="0">
              <a:buNone/>
            </a:pPr>
            <a:r>
              <a:rPr lang="en-US" sz="2000" dirty="0"/>
              <a:t>        &lt;h1&gt;Hello&lt;/h1&gt;</a:t>
            </a:r>
          </a:p>
          <a:p>
            <a:pPr marL="0" indent="0">
              <a:buNone/>
            </a:pPr>
            <a:r>
              <a:rPr lang="en-US" sz="2000" dirty="0"/>
              <a:t>    &lt;/script&gt;</a:t>
            </a:r>
          </a:p>
          <a:p>
            <a:pPr marL="0" indent="0">
              <a:buNone/>
            </a:pPr>
            <a:r>
              <a:rPr lang="en-US" sz="2000" dirty="0"/>
              <a:t>&lt;/body&gt;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936975" y="1931643"/>
            <a:ext cx="4890051" cy="435133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Using </a:t>
            </a:r>
            <a:r>
              <a:rPr lang="en-US" sz="2000" dirty="0" err="1"/>
              <a:t>document.write</a:t>
            </a:r>
            <a:r>
              <a:rPr lang="en-US" sz="2000" dirty="0"/>
              <a:t> (or any JavaScript) outside of a script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&lt;body&gt;</a:t>
            </a:r>
          </a:p>
          <a:p>
            <a:pPr marL="0" indent="0">
              <a:buNone/>
            </a:pPr>
            <a:r>
              <a:rPr lang="en-US" sz="2000" dirty="0"/>
              <a:t>   </a:t>
            </a:r>
            <a:r>
              <a:rPr lang="en-US" sz="2000" dirty="0" err="1"/>
              <a:t>document.write</a:t>
            </a:r>
            <a:r>
              <a:rPr lang="en-US" sz="2000" dirty="0"/>
              <a:t>("&lt;h1&gt;Hello&lt;/h1&gt;"); </a:t>
            </a:r>
          </a:p>
          <a:p>
            <a:pPr marL="0" indent="0">
              <a:buNone/>
            </a:pPr>
            <a:r>
              <a:rPr lang="en-US" sz="2000" dirty="0"/>
              <a:t>&lt;/body&gt;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258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US" dirty="0"/>
              <a:t>You can have multiple script tags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2320412"/>
            <a:ext cx="10058400" cy="38517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/>
              <a:t>&lt;body&gt;</a:t>
            </a:r>
          </a:p>
          <a:p>
            <a:pPr marL="0" indent="0">
              <a:buNone/>
            </a:pPr>
            <a:r>
              <a:rPr lang="en-US" sz="1400"/>
              <a:t>    … some HTML …</a:t>
            </a:r>
          </a:p>
          <a:p>
            <a:pPr marL="0" indent="0">
              <a:buNone/>
            </a:pPr>
            <a:r>
              <a:rPr lang="en-US" sz="1400"/>
              <a:t>    &lt;script&gt;</a:t>
            </a:r>
          </a:p>
          <a:p>
            <a:pPr marL="0" indent="0">
              <a:buNone/>
            </a:pPr>
            <a:r>
              <a:rPr lang="en-US" sz="1400"/>
              <a:t>        </a:t>
            </a:r>
            <a:r>
              <a:rPr lang="en-US" sz="1400" err="1"/>
              <a:t>document.write</a:t>
            </a:r>
            <a:r>
              <a:rPr lang="en-US" sz="1400"/>
              <a:t>("&lt;h1&gt;Hello&lt;/h1&gt;");</a:t>
            </a:r>
          </a:p>
          <a:p>
            <a:pPr marL="0" indent="0">
              <a:buNone/>
            </a:pPr>
            <a:r>
              <a:rPr lang="en-US" sz="1400"/>
              <a:t>    &lt;/script&gt;</a:t>
            </a:r>
          </a:p>
          <a:p>
            <a:pPr marL="0" indent="0">
              <a:buNone/>
            </a:pPr>
            <a:r>
              <a:rPr lang="en-US" sz="1400"/>
              <a:t>    … some more HTML …</a:t>
            </a:r>
          </a:p>
          <a:p>
            <a:pPr marL="0" indent="0">
              <a:buNone/>
            </a:pPr>
            <a:r>
              <a:rPr lang="en-US" sz="1400"/>
              <a:t>    &lt;script&gt;</a:t>
            </a:r>
          </a:p>
          <a:p>
            <a:pPr marL="0" indent="0">
              <a:buNone/>
            </a:pPr>
            <a:r>
              <a:rPr lang="en-US" sz="1400"/>
              <a:t>        </a:t>
            </a:r>
            <a:r>
              <a:rPr lang="en-US" sz="1400" err="1"/>
              <a:t>document.write</a:t>
            </a:r>
            <a:r>
              <a:rPr lang="en-US" sz="1400"/>
              <a:t>("&lt;h1&gt;Hello&lt;/h1&gt;");</a:t>
            </a:r>
          </a:p>
          <a:p>
            <a:pPr marL="0" indent="0">
              <a:buNone/>
            </a:pPr>
            <a:r>
              <a:rPr lang="en-US" sz="1400"/>
              <a:t>    &lt;/script&gt;</a:t>
            </a:r>
          </a:p>
          <a:p>
            <a:pPr marL="0" indent="0">
              <a:buNone/>
            </a:pPr>
            <a:r>
              <a:rPr lang="en-US" sz="1400"/>
              <a:t> … some more HTML …</a:t>
            </a:r>
          </a:p>
          <a:p>
            <a:pPr marL="0" indent="0">
              <a:buNone/>
            </a:pPr>
            <a:r>
              <a:rPr lang="en-US" sz="1400"/>
              <a:t>&lt;/body&gt;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1168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US" dirty="0"/>
              <a:t>For this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2320412"/>
            <a:ext cx="10058400" cy="38517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Some things needed for this assignment. 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Functions – a function is a set of JavaScript instructions that is grouped together and named.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textContent</a:t>
            </a:r>
            <a:r>
              <a:rPr lang="en-US" dirty="0"/>
              <a:t> – This is how we can change text that is already being displayed on a web page.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setTimeout</a:t>
            </a:r>
            <a:r>
              <a:rPr lang="en-US" dirty="0"/>
              <a:t>() – A built in JavaScript function or event that can call another function after a certain amount of time.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Date() - A build in JavaScript object for time.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getElementById</a:t>
            </a:r>
            <a:r>
              <a:rPr lang="en-US" dirty="0"/>
              <a:t>() - How to get access to the HTML elements from JavaScript</a:t>
            </a:r>
          </a:p>
          <a:p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90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D30690-E47D-4AD1-2738-74592978A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US" dirty="0" err="1"/>
              <a:t>Javascript</a:t>
            </a:r>
            <a:r>
              <a:rPr lang="en-US" dirty="0"/>
              <a:t> output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55F5A5C-CA16-E557-46DE-7D0C7B94C6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9848" y="2320412"/>
            <a:ext cx="10058400" cy="38517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Writing into an HTML element, using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innerHTML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 or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innerText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.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Writing into the HTML output using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document.write()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.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Writing into an alert box, using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window.alert()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.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Writing into the browser console, using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console.log()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.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61579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US" dirty="0"/>
              <a:t>JavaScript Programming and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2320412"/>
            <a:ext cx="10058400" cy="3851787"/>
          </a:xfrm>
        </p:spPr>
        <p:txBody>
          <a:bodyPr>
            <a:normAutofit/>
          </a:bodyPr>
          <a:lstStyle/>
          <a:p>
            <a:r>
              <a:rPr lang="en-US" sz="1700"/>
              <a:t>A program is a series of instructions.</a:t>
            </a:r>
          </a:p>
          <a:p>
            <a:r>
              <a:rPr lang="en-US" sz="1700"/>
              <a:t>Those instructions are executed one at a time from top to bottom in order.</a:t>
            </a:r>
          </a:p>
          <a:p>
            <a:r>
              <a:rPr lang="en-US" sz="1700"/>
              <a:t>Some instructions can jump to other instructions and change the order.  </a:t>
            </a:r>
          </a:p>
          <a:p>
            <a:r>
              <a:rPr lang="en-US" sz="1700"/>
              <a:t>A </a:t>
            </a:r>
            <a:r>
              <a:rPr lang="en-US" sz="1700" b="1"/>
              <a:t>function</a:t>
            </a:r>
            <a:r>
              <a:rPr lang="en-US" sz="1700"/>
              <a:t> is a set of instructions which is set apart and can be executed when needed. </a:t>
            </a:r>
          </a:p>
          <a:p>
            <a:r>
              <a:rPr lang="en-US" sz="1700"/>
              <a:t>A function's instructions WILL NOT be executed unless specifically invoked (told to) by the program.</a:t>
            </a:r>
          </a:p>
          <a:p>
            <a:r>
              <a:rPr lang="en-US" sz="1700"/>
              <a:t>Functions are usually defined in the head section (inside of script tags) or in a separate JavaScript file.</a:t>
            </a:r>
          </a:p>
          <a:p>
            <a:r>
              <a:rPr lang="en-US" sz="1700" b="1"/>
              <a:t>W</a:t>
            </a:r>
            <a:r>
              <a:rPr lang="en-US" sz="1700"/>
              <a:t>e will be using a function which is defined in the head section.</a:t>
            </a:r>
          </a:p>
          <a:p>
            <a:r>
              <a:rPr lang="en-US" sz="1700"/>
              <a:t>Even if you think you know about functions, JavaScript functions are VERY, VERY unlike functions you have used in any other  language.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26375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US" dirty="0"/>
              <a:t>camelCase or Hungarian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2320412"/>
            <a:ext cx="10058400" cy="3851787"/>
          </a:xfrm>
        </p:spPr>
        <p:txBody>
          <a:bodyPr>
            <a:normAutofit/>
          </a:bodyPr>
          <a:lstStyle/>
          <a:p>
            <a:r>
              <a:rPr lang="en-US" sz="1700" dirty="0"/>
              <a:t>It is common in programming languages to name things like variables and functions in a way that describes what they are or what they do.</a:t>
            </a:r>
          </a:p>
          <a:p>
            <a:r>
              <a:rPr lang="en-US" sz="1700" dirty="0"/>
              <a:t>The names sometimes take more of a sentence form.</a:t>
            </a:r>
          </a:p>
          <a:p>
            <a:r>
              <a:rPr lang="en-US" sz="1700" dirty="0"/>
              <a:t>Since spaces are not allowed, the words get pushed together.</a:t>
            </a:r>
          </a:p>
          <a:p>
            <a:r>
              <a:rPr lang="en-US" sz="1700" dirty="0" err="1"/>
              <a:t>Camelcase</a:t>
            </a:r>
            <a:r>
              <a:rPr lang="en-US" sz="1700" dirty="0"/>
              <a:t> notation makes it easier to read, by simply capitalize the first letter of each word.</a:t>
            </a:r>
          </a:p>
          <a:p>
            <a:r>
              <a:rPr lang="en-US" sz="1700" dirty="0"/>
              <a:t>So instead of a function named 		</a:t>
            </a:r>
            <a:r>
              <a:rPr lang="en-US" sz="1700" dirty="0" err="1"/>
              <a:t>averageallgrades</a:t>
            </a:r>
            <a:endParaRPr lang="en-US" sz="1700" dirty="0"/>
          </a:p>
          <a:p>
            <a:r>
              <a:rPr lang="en-US" sz="1700" dirty="0"/>
              <a:t>You get 		</a:t>
            </a:r>
            <a:r>
              <a:rPr lang="en-US" sz="1700"/>
              <a:t>	</a:t>
            </a:r>
            <a:r>
              <a:rPr lang="en-US" sz="1700" dirty="0"/>
              <a:t>	</a:t>
            </a:r>
            <a:r>
              <a:rPr lang="en-US" sz="1700" dirty="0" err="1"/>
              <a:t>averageAllGrades</a:t>
            </a:r>
            <a:r>
              <a:rPr lang="en-US" sz="1700" dirty="0"/>
              <a:t> </a:t>
            </a:r>
          </a:p>
          <a:p>
            <a:r>
              <a:rPr lang="en-US" sz="1700" dirty="0"/>
              <a:t>You should use this notation in your programs.</a:t>
            </a:r>
          </a:p>
          <a:p>
            <a:r>
              <a:rPr lang="en-US" sz="1700" b="1" dirty="0"/>
              <a:t>JavaScript IS case sensitive, so if you mess up the capitalization of ANY variable or function it will simply not work.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46940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How to define a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07818"/>
            <a:ext cx="9621033" cy="5549030"/>
          </a:xfrm>
        </p:spPr>
        <p:txBody>
          <a:bodyPr>
            <a:normAutofit fontScale="92500" lnSpcReduction="10000"/>
          </a:bodyPr>
          <a:lstStyle/>
          <a:p>
            <a:r>
              <a:rPr lang="en-US" sz="1800" dirty="0"/>
              <a:t>Things </a:t>
            </a:r>
            <a:r>
              <a:rPr lang="en-US" sz="1800" u="sng" dirty="0"/>
              <a:t>underlined</a:t>
            </a:r>
            <a:r>
              <a:rPr lang="en-US" sz="1800" dirty="0"/>
              <a:t> below are required and must be exactly as shown.</a:t>
            </a:r>
          </a:p>
          <a:p>
            <a:r>
              <a:rPr lang="en-US" sz="1800" dirty="0"/>
              <a:t>Things </a:t>
            </a:r>
            <a:r>
              <a:rPr lang="en-US" sz="1800" b="1" i="1" dirty="0"/>
              <a:t>italicized and bold</a:t>
            </a:r>
            <a:r>
              <a:rPr lang="en-US" sz="1800" dirty="0"/>
              <a:t> are required but you can change them at need.</a:t>
            </a:r>
          </a:p>
          <a:p>
            <a:pPr marL="0" indent="0">
              <a:buNone/>
            </a:pPr>
            <a:r>
              <a:rPr lang="en-US" sz="1800" u="sng" dirty="0"/>
              <a:t>&lt;head&gt;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u="sng" dirty="0"/>
              <a:t>&lt;meta charset="utf-8"&gt;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u="sng" dirty="0"/>
              <a:t>&lt;title&gt;</a:t>
            </a:r>
            <a:r>
              <a:rPr lang="en-US" b="1" i="1" dirty="0"/>
              <a:t>Time Page</a:t>
            </a:r>
            <a:r>
              <a:rPr lang="en-US" sz="1800" u="sng" dirty="0"/>
              <a:t>&lt;/title&gt;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u="sng" dirty="0"/>
              <a:t>&lt;script&gt;</a:t>
            </a:r>
          </a:p>
          <a:p>
            <a:pPr marL="0" indent="0">
              <a:buNone/>
            </a:pPr>
            <a:r>
              <a:rPr lang="en-US" sz="1800" dirty="0"/>
              <a:t>		</a:t>
            </a:r>
            <a:r>
              <a:rPr lang="en-US" sz="1800" u="sng" dirty="0"/>
              <a:t>function</a:t>
            </a:r>
            <a:r>
              <a:rPr lang="en-US" sz="1800" dirty="0"/>
              <a:t>   </a:t>
            </a:r>
            <a:r>
              <a:rPr lang="en-US" b="1" i="1" dirty="0" err="1"/>
              <a:t>nameOfFunction</a:t>
            </a:r>
            <a:r>
              <a:rPr lang="en-US" sz="1800" u="sng" dirty="0"/>
              <a:t>()</a:t>
            </a:r>
            <a:r>
              <a:rPr lang="en-US" sz="1800" dirty="0"/>
              <a:t>                 </a:t>
            </a:r>
          </a:p>
          <a:p>
            <a:pPr marL="0" indent="0">
              <a:buNone/>
            </a:pPr>
            <a:r>
              <a:rPr lang="en-US" sz="1800" dirty="0"/>
              <a:t>		</a:t>
            </a:r>
            <a:r>
              <a:rPr lang="en-US" sz="1800" u="sng" dirty="0"/>
              <a:t>{</a:t>
            </a:r>
          </a:p>
          <a:p>
            <a:pPr marL="0" indent="0">
              <a:buNone/>
            </a:pPr>
            <a:r>
              <a:rPr lang="en-US" sz="1800" dirty="0"/>
              <a:t>			//Code goes here between { and }.</a:t>
            </a:r>
          </a:p>
          <a:p>
            <a:pPr marL="0" indent="0">
              <a:buNone/>
            </a:pPr>
            <a:r>
              <a:rPr lang="en-US" sz="1800" dirty="0"/>
              <a:t>			//{  and  } defines the start and end of this function's code.</a:t>
            </a:r>
          </a:p>
          <a:p>
            <a:pPr marL="0" indent="0">
              <a:buNone/>
            </a:pPr>
            <a:r>
              <a:rPr lang="en-US" sz="1800" dirty="0"/>
              <a:t>			//Things that start with // are comments and are ignored.</a:t>
            </a:r>
          </a:p>
          <a:p>
            <a:pPr marL="0" indent="0">
              <a:buNone/>
            </a:pPr>
            <a:r>
              <a:rPr lang="en-US" sz="1800" dirty="0"/>
              <a:t>			//You can change </a:t>
            </a:r>
            <a:r>
              <a:rPr lang="en-US" sz="1800" dirty="0" err="1"/>
              <a:t>nameOfFunction</a:t>
            </a:r>
            <a:r>
              <a:rPr lang="en-US" sz="1800" dirty="0"/>
              <a:t> to anything you like.</a:t>
            </a:r>
          </a:p>
          <a:p>
            <a:pPr marL="0" indent="0">
              <a:buNone/>
            </a:pPr>
            <a:r>
              <a:rPr lang="en-US" sz="1800" dirty="0"/>
              <a:t>		</a:t>
            </a:r>
            <a:r>
              <a:rPr lang="en-US" sz="1800" u="sng" dirty="0"/>
              <a:t>}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u="sng" dirty="0"/>
              <a:t>&lt;/script&gt;</a:t>
            </a:r>
          </a:p>
          <a:p>
            <a:pPr marL="0" indent="0">
              <a:buNone/>
            </a:pPr>
            <a:r>
              <a:rPr lang="en-US" sz="1800" u="sng" dirty="0"/>
              <a:t>&lt;/head&gt;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5DF2B0-A06F-444C-AAE6-61B5FD3BEBCC}"/>
              </a:ext>
            </a:extLst>
          </p:cNvPr>
          <p:cNvSpPr txBox="1"/>
          <p:nvPr/>
        </p:nvSpPr>
        <p:spPr>
          <a:xfrm>
            <a:off x="7398185" y="1620012"/>
            <a:ext cx="3508332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Functions can go inside of any script tags but should be grouped together in the head section or,  preferably, in their own file.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9917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US" dirty="0"/>
              <a:t>You can have any number of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2320412"/>
            <a:ext cx="10058400" cy="38517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/>
              <a:t>	&lt;script&gt;</a:t>
            </a:r>
          </a:p>
          <a:p>
            <a:pPr marL="0" indent="0">
              <a:buNone/>
            </a:pPr>
            <a:r>
              <a:rPr lang="en-US" sz="1400"/>
              <a:t>		function   funFunction1()                 </a:t>
            </a:r>
          </a:p>
          <a:p>
            <a:pPr marL="0" indent="0">
              <a:buNone/>
            </a:pPr>
            <a:r>
              <a:rPr lang="en-US" sz="1400"/>
              <a:t>		{</a:t>
            </a:r>
          </a:p>
          <a:p>
            <a:pPr marL="0" indent="0">
              <a:buNone/>
            </a:pPr>
            <a:r>
              <a:rPr lang="en-US" sz="1400"/>
              <a:t>			//Code for funFunction1.</a:t>
            </a:r>
          </a:p>
          <a:p>
            <a:pPr marL="0" indent="0">
              <a:buNone/>
            </a:pPr>
            <a:r>
              <a:rPr lang="en-US" sz="1400"/>
              <a:t>		}</a:t>
            </a:r>
          </a:p>
          <a:p>
            <a:pPr marL="0" indent="0">
              <a:buNone/>
            </a:pPr>
            <a:endParaRPr lang="en-US" sz="1400"/>
          </a:p>
          <a:p>
            <a:pPr marL="0" indent="0">
              <a:buNone/>
            </a:pPr>
            <a:r>
              <a:rPr lang="en-US" sz="1400"/>
              <a:t>		function anotherFunFunction()</a:t>
            </a:r>
          </a:p>
          <a:p>
            <a:pPr marL="0" indent="0">
              <a:buNone/>
            </a:pPr>
            <a:r>
              <a:rPr lang="en-US" sz="1400"/>
              <a:t>		{</a:t>
            </a:r>
          </a:p>
          <a:p>
            <a:pPr marL="0" indent="0">
              <a:buNone/>
            </a:pPr>
            <a:r>
              <a:rPr lang="en-US" sz="1400"/>
              <a:t>			//Code for anotherFunFunction.</a:t>
            </a:r>
          </a:p>
          <a:p>
            <a:pPr marL="0" indent="0">
              <a:buNone/>
            </a:pPr>
            <a:r>
              <a:rPr lang="en-US" sz="1400"/>
              <a:t>		}</a:t>
            </a:r>
          </a:p>
          <a:p>
            <a:pPr marL="0" indent="0">
              <a:buNone/>
            </a:pPr>
            <a:r>
              <a:rPr lang="en-US" sz="1400"/>
              <a:t>	&lt;/script&gt;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57765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US" dirty="0"/>
              <a:t>External </a:t>
            </a:r>
            <a:r>
              <a:rPr lang="en-US" dirty="0" err="1"/>
              <a:t>javascript</a:t>
            </a:r>
            <a:r>
              <a:rPr lang="en-US" dirty="0"/>
              <a:t>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2320412"/>
            <a:ext cx="10058400" cy="38517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/>
              <a:t>&lt;head&gt;</a:t>
            </a:r>
          </a:p>
          <a:p>
            <a:pPr marL="0" indent="0">
              <a:buNone/>
            </a:pPr>
            <a:r>
              <a:rPr lang="en-US" sz="1700"/>
              <a:t>   &lt;meta charset="utf-8"&gt;</a:t>
            </a:r>
          </a:p>
          <a:p>
            <a:pPr marL="0" indent="0">
              <a:buNone/>
            </a:pPr>
            <a:r>
              <a:rPr lang="en-US" sz="1700"/>
              <a:t>   &lt;title&gt;Time&lt;/title&gt;</a:t>
            </a:r>
          </a:p>
          <a:p>
            <a:pPr marL="0" indent="0">
              <a:buNone/>
            </a:pPr>
            <a:r>
              <a:rPr lang="en-US" sz="1700"/>
              <a:t>   &lt;script src="../scripts/exercise16.js"&gt;&lt;/script&gt;</a:t>
            </a:r>
          </a:p>
          <a:p>
            <a:pPr marL="0" indent="0">
              <a:buNone/>
            </a:pPr>
            <a:r>
              <a:rPr lang="en-US" sz="1700"/>
              <a:t>&lt;/head&gt;</a:t>
            </a:r>
          </a:p>
          <a:p>
            <a:pPr marL="0" indent="0">
              <a:buNone/>
            </a:pPr>
            <a:endParaRPr lang="en-US" sz="1700"/>
          </a:p>
          <a:p>
            <a:r>
              <a:rPr lang="en-US" sz="1700"/>
              <a:t>Create a scripts directory at the same level as exercises, styles, images, and media.</a:t>
            </a:r>
          </a:p>
          <a:p>
            <a:r>
              <a:rPr lang="en-US" sz="1700"/>
              <a:t>Note that if you specify a JS file, the script tags MUST be empty.</a:t>
            </a:r>
          </a:p>
          <a:p>
            <a:r>
              <a:rPr lang="en-US" sz="1700"/>
              <a:t>The JavaScript file should ONLY contain JavaScript.  It should not have HTML or &lt;script&gt; tags.</a:t>
            </a:r>
          </a:p>
          <a:p>
            <a:r>
              <a:rPr lang="en-US" sz="1700"/>
              <a:t>For this assignment copy ONLY the function updateTime() to exercise16.js.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71573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105672"/>
            <a:ext cx="10515600" cy="1325563"/>
          </a:xfrm>
        </p:spPr>
        <p:txBody>
          <a:bodyPr/>
          <a:lstStyle/>
          <a:p>
            <a:r>
              <a:rPr lang="en-US" dirty="0"/>
              <a:t>Run or Execute a Function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66530" y="1431235"/>
            <a:ext cx="5502967" cy="474572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&lt;head&gt;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    &lt;script </a:t>
            </a:r>
            <a:r>
              <a:rPr lang="en-US" sz="1800" dirty="0" err="1"/>
              <a:t>src</a:t>
            </a:r>
            <a:r>
              <a:rPr lang="en-US" sz="1800" dirty="0"/>
              <a:t>="../scripts/exercise16.js"&gt;&lt;/script&gt;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&lt;/head&gt;</a:t>
            </a:r>
          </a:p>
          <a:p>
            <a:pPr marL="0" indent="0">
              <a:buNone/>
            </a:pPr>
            <a:r>
              <a:rPr lang="en-US" sz="1800" dirty="0"/>
              <a:t>&lt;body&gt;</a:t>
            </a:r>
          </a:p>
          <a:p>
            <a:pPr marL="0" indent="0">
              <a:buNone/>
            </a:pPr>
            <a:r>
              <a:rPr lang="en-US" sz="1800" dirty="0"/>
              <a:t>    &lt;script&gt; </a:t>
            </a:r>
            <a:r>
              <a:rPr lang="en-US" sz="1800" dirty="0" err="1"/>
              <a:t>updateTime</a:t>
            </a:r>
            <a:r>
              <a:rPr lang="en-US" sz="1800" dirty="0"/>
              <a:t>(); &lt;/script&gt;</a:t>
            </a:r>
          </a:p>
          <a:p>
            <a:pPr marL="0" indent="0">
              <a:buNone/>
            </a:pPr>
            <a:r>
              <a:rPr lang="en-US" sz="1800" dirty="0"/>
              <a:t>&lt;/body&gt;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68888" y="1431235"/>
            <a:ext cx="5085522" cy="4745728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sz="2000" dirty="0"/>
              <a:t>The code in </a:t>
            </a:r>
            <a:r>
              <a:rPr lang="en-US" sz="2000" dirty="0" err="1"/>
              <a:t>updateTime</a:t>
            </a:r>
            <a:r>
              <a:rPr lang="en-US" sz="2000" dirty="0"/>
              <a:t>() will get executed from the body section.</a:t>
            </a:r>
          </a:p>
          <a:p>
            <a:r>
              <a:rPr lang="en-US" sz="2000" dirty="0"/>
              <a:t>Note a </a:t>
            </a:r>
            <a:r>
              <a:rPr lang="en-US" sz="2000" b="1" i="1" dirty="0"/>
              <a:t>type</a:t>
            </a:r>
            <a:r>
              <a:rPr lang="en-US" sz="2000" dirty="0"/>
              <a:t> is not required in the script tag in the body section.  JavaScript is assumed if there is no type.</a:t>
            </a:r>
          </a:p>
          <a:p>
            <a:r>
              <a:rPr lang="en-US" sz="2000" dirty="0"/>
              <a:t>Of course, the code to the left is an example, you would definitely STILL NEED to put in a meta tag and a title, which was left out for brevity.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114579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E90283-86CD-4713-9E45-2B6C09ECE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US" dirty="0"/>
              <a:t>Getting the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92931-0FA3-4448-8994-BC5BFF5B3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320412"/>
            <a:ext cx="10058400" cy="3851787"/>
          </a:xfrm>
        </p:spPr>
        <p:txBody>
          <a:bodyPr>
            <a:normAutofit/>
          </a:bodyPr>
          <a:lstStyle/>
          <a:p>
            <a:r>
              <a:rPr lang="en-US" sz="1700"/>
              <a:t>JavaScript has built in classes like Date(), Math(), and String().</a:t>
            </a:r>
          </a:p>
          <a:p>
            <a:r>
              <a:rPr lang="en-US" sz="1700"/>
              <a:t>The Date() object has many functions for time related information</a:t>
            </a:r>
          </a:p>
          <a:p>
            <a:pPr marL="0" indent="0">
              <a:buNone/>
            </a:pPr>
            <a:r>
              <a:rPr lang="en-US" sz="1700"/>
              <a:t>	let currentDate = new Date();</a:t>
            </a:r>
          </a:p>
          <a:p>
            <a:r>
              <a:rPr lang="en-US" sz="1700"/>
              <a:t>A new Date object is created at the time the code is executed.  </a:t>
            </a:r>
          </a:p>
          <a:p>
            <a:r>
              <a:rPr lang="en-US" sz="1700"/>
              <a:t>That date's information can be referenced with the currentData object.</a:t>
            </a:r>
          </a:p>
          <a:p>
            <a:r>
              <a:rPr lang="en-US" sz="1700"/>
              <a:t>Note that the time and date are locked in when the code is executed.  It will not change.  You must create a new Date object if you want to update the time.</a:t>
            </a:r>
          </a:p>
          <a:p>
            <a:r>
              <a:rPr lang="en-US" sz="1700"/>
              <a:t>Get the hour that the Date object was created using the reference variable</a:t>
            </a:r>
          </a:p>
          <a:p>
            <a:pPr marL="0" indent="0">
              <a:buNone/>
            </a:pPr>
            <a:r>
              <a:rPr lang="en-US" sz="1700"/>
              <a:t>	let hours = currentDate.getHours();</a:t>
            </a:r>
          </a:p>
          <a:p>
            <a:r>
              <a:rPr lang="en-US" sz="1700"/>
              <a:t>You must do the same for minutes and seconds.</a:t>
            </a:r>
          </a:p>
          <a:p>
            <a:endParaRPr lang="en-US" sz="1700"/>
          </a:p>
          <a:p>
            <a:endParaRPr lang="en-US" sz="17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86292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US" cap="none" dirty="0" err="1"/>
              <a:t>textContent</a:t>
            </a:r>
            <a:endParaRPr lang="en-US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2320412"/>
            <a:ext cx="10058400" cy="38517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When using any element which contains text, like </a:t>
            </a:r>
            <a:r>
              <a:rPr lang="en-US"/>
              <a:t>the XX:XX </a:t>
            </a:r>
            <a:r>
              <a:rPr lang="en-US" dirty="0"/>
              <a:t>below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&lt;h1 id="</a:t>
            </a:r>
            <a:r>
              <a:rPr lang="en-US" dirty="0" err="1"/>
              <a:t>timeheader</a:t>
            </a:r>
            <a:r>
              <a:rPr lang="en-US"/>
              <a:t>" &gt;XX:XX&lt;/</a:t>
            </a:r>
            <a:r>
              <a:rPr lang="en-US" dirty="0"/>
              <a:t>h1&gt;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/>
              <a:t>The XX:XX is </a:t>
            </a:r>
            <a:r>
              <a:rPr lang="en-US" dirty="0"/>
              <a:t>called the </a:t>
            </a:r>
            <a:r>
              <a:rPr lang="en-US" b="1" i="1" dirty="0" err="1"/>
              <a:t>textContent</a:t>
            </a:r>
            <a:r>
              <a:rPr lang="en-US" b="1" i="1" dirty="0"/>
              <a:t> </a:t>
            </a:r>
            <a:r>
              <a:rPr lang="en-US" dirty="0"/>
              <a:t>(case </a:t>
            </a:r>
            <a:r>
              <a:rPr lang="en-US" b="1" dirty="0"/>
              <a:t>IS VERY</a:t>
            </a:r>
            <a:r>
              <a:rPr lang="en-US" dirty="0"/>
              <a:t> important here)</a:t>
            </a:r>
            <a:r>
              <a:rPr lang="en-US" b="1" i="1" dirty="0"/>
              <a:t>.</a:t>
            </a:r>
          </a:p>
          <a:p>
            <a:pPr marL="0" indent="0">
              <a:buNone/>
            </a:pPr>
            <a:endParaRPr lang="en-US" b="1" i="1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16387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US" cap="none" dirty="0"/>
              <a:t>Changing </a:t>
            </a:r>
            <a:r>
              <a:rPr lang="en-US" cap="none" dirty="0" err="1"/>
              <a:t>textContent</a:t>
            </a:r>
            <a:endParaRPr lang="en-US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2320412"/>
            <a:ext cx="10058400" cy="38517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dirty="0"/>
              <a:t>The &lt;h1&gt; is in the body of the web page as shown on the last slide.</a:t>
            </a:r>
          </a:p>
          <a:p>
            <a:pPr marL="0" indent="0">
              <a:buNone/>
            </a:pPr>
            <a:r>
              <a:rPr lang="en-US" sz="1900" dirty="0"/>
              <a:t>The function is in the head section.</a:t>
            </a:r>
          </a:p>
          <a:p>
            <a:pPr marL="0" indent="0">
              <a:buNone/>
            </a:pPr>
            <a:r>
              <a:rPr lang="en-US" sz="1900" dirty="0"/>
              <a:t>To change the </a:t>
            </a:r>
            <a:r>
              <a:rPr lang="en-US" sz="1900" dirty="0" err="1"/>
              <a:t>textContent</a:t>
            </a:r>
            <a:r>
              <a:rPr lang="en-US" sz="1900" dirty="0"/>
              <a:t> you have to first find the correct element.</a:t>
            </a:r>
          </a:p>
          <a:p>
            <a:pPr marL="0" indent="0">
              <a:buNone/>
            </a:pPr>
            <a:r>
              <a:rPr lang="en-US" sz="1900" dirty="0"/>
              <a:t>Do this inside of the function in the head section</a:t>
            </a:r>
          </a:p>
          <a:p>
            <a:pPr marL="0" indent="0">
              <a:buNone/>
            </a:pPr>
            <a:r>
              <a:rPr lang="en-US" sz="1900" dirty="0"/>
              <a:t>        let </a:t>
            </a:r>
            <a:r>
              <a:rPr lang="en-US" sz="1900" dirty="0" err="1"/>
              <a:t>th</a:t>
            </a:r>
            <a:r>
              <a:rPr lang="en-US" sz="1900" dirty="0"/>
              <a:t> = </a:t>
            </a:r>
            <a:r>
              <a:rPr lang="en-US" sz="1900" dirty="0" err="1"/>
              <a:t>document.getElementById</a:t>
            </a:r>
            <a:r>
              <a:rPr lang="en-US" sz="1900" dirty="0"/>
              <a:t>("</a:t>
            </a:r>
            <a:r>
              <a:rPr lang="en-US" sz="1900" dirty="0" err="1"/>
              <a:t>timeheader</a:t>
            </a:r>
            <a:r>
              <a:rPr lang="en-US" sz="1900" dirty="0"/>
              <a:t>");  //Find the correct element with ID.</a:t>
            </a:r>
          </a:p>
          <a:p>
            <a:pPr marL="0" indent="0">
              <a:buNone/>
            </a:pPr>
            <a:r>
              <a:rPr lang="en-US" sz="1900" dirty="0"/>
              <a:t>        </a:t>
            </a:r>
            <a:r>
              <a:rPr lang="en-US" sz="1900" dirty="0" err="1"/>
              <a:t>th.textContent</a:t>
            </a:r>
            <a:r>
              <a:rPr lang="en-US" sz="1900" dirty="0"/>
              <a:t> = "Something";	//Change the text on the element.</a:t>
            </a:r>
          </a:p>
          <a:p>
            <a:pPr marL="0" indent="0">
              <a:buNone/>
            </a:pPr>
            <a:r>
              <a:rPr lang="en-US" sz="1900" dirty="0"/>
              <a:t>The above will replace the XX:XX from the previous slide as it appears on the web page with the word Something.</a:t>
            </a:r>
          </a:p>
          <a:p>
            <a:pPr marL="0" indent="0">
              <a:buNone/>
            </a:pPr>
            <a:r>
              <a:rPr lang="en-US" sz="1900" dirty="0"/>
              <a:t>We want to replace XX:XX with the updated time.  SEE NEXT SLIDE.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82376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US" dirty="0" err="1"/>
              <a:t>FORMAtting</a:t>
            </a:r>
            <a:r>
              <a:rPr lang="en-US" dirty="0"/>
              <a:t> the correct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2320412"/>
            <a:ext cx="10058400" cy="38517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Once you have hours and minutes you can create the time like this:</a:t>
            </a:r>
          </a:p>
          <a:p>
            <a:pPr marL="0" indent="0">
              <a:buNone/>
            </a:pPr>
            <a:r>
              <a:rPr lang="en-US"/>
              <a:t>        </a:t>
            </a:r>
            <a:r>
              <a:rPr lang="en-US" err="1"/>
              <a:t>th.textContent</a:t>
            </a:r>
            <a:r>
              <a:rPr lang="en-US"/>
              <a:t> = hours + ":" + minutes;</a:t>
            </a:r>
          </a:p>
          <a:p>
            <a:pPr marL="0" indent="0">
              <a:buNone/>
            </a:pPr>
            <a:r>
              <a:rPr lang="en-US"/>
              <a:t>A string is one or more characters  like  the colon above (":").</a:t>
            </a:r>
          </a:p>
          <a:p>
            <a:pPr marL="0" indent="0">
              <a:buNone/>
            </a:pPr>
            <a:r>
              <a:rPr lang="en-US"/>
              <a:t>Variables hours and minutes are numbers, not strings.</a:t>
            </a:r>
          </a:p>
          <a:p>
            <a:pPr marL="0" indent="0">
              <a:buNone/>
            </a:pPr>
            <a:r>
              <a:rPr lang="en-US"/>
              <a:t>When you add a number variable to a string it pushes the values together instead of adding.</a:t>
            </a:r>
          </a:p>
          <a:p>
            <a:pPr marL="0" indent="0">
              <a:buNone/>
            </a:pPr>
            <a:r>
              <a:rPr lang="en-US"/>
              <a:t>So if hours is 5 and minutes is 36, then hours + ":" + minutes would be "5:36"</a:t>
            </a:r>
          </a:p>
          <a:p>
            <a:pPr marL="0" indent="0">
              <a:buNone/>
            </a:pPr>
            <a:r>
              <a:rPr lang="en-US"/>
              <a:t>        </a:t>
            </a:r>
            <a:r>
              <a:rPr lang="en-US" err="1"/>
              <a:t>th.textContent</a:t>
            </a:r>
            <a:r>
              <a:rPr lang="en-US"/>
              <a:t> = hours + ":" + minutes;</a:t>
            </a:r>
          </a:p>
          <a:p>
            <a:pPr marL="0" indent="0">
              <a:buNone/>
            </a:pPr>
            <a:r>
              <a:rPr lang="en-US"/>
              <a:t>will update the web page with the correct time.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2655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9D4837-C97A-494C-ADF8-A64D7B76D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US" dirty="0"/>
              <a:t>Alternatives to </a:t>
            </a:r>
            <a:r>
              <a:rPr lang="en-US"/>
              <a:t>textcontent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80AD5-1546-4E6B-9753-6A663EC31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320412"/>
            <a:ext cx="10058400" cy="3851787"/>
          </a:xfrm>
        </p:spPr>
        <p:txBody>
          <a:bodyPr>
            <a:normAutofit/>
          </a:bodyPr>
          <a:lstStyle/>
          <a:p>
            <a:r>
              <a:rPr lang="en-US" dirty="0"/>
              <a:t>Any of the following would work.</a:t>
            </a:r>
          </a:p>
          <a:p>
            <a:pPr lvl="1"/>
            <a:r>
              <a:rPr lang="en-US" dirty="0" err="1"/>
              <a:t>th.textContent</a:t>
            </a:r>
            <a:r>
              <a:rPr lang="en-US" dirty="0"/>
              <a:t>=time;  //Best</a:t>
            </a:r>
          </a:p>
          <a:p>
            <a:pPr lvl="1"/>
            <a:r>
              <a:rPr lang="en-US" dirty="0" err="1"/>
              <a:t>th.innerHTML</a:t>
            </a:r>
            <a:r>
              <a:rPr lang="en-US" dirty="0"/>
              <a:t> = time;  //Not really safe since it parses html</a:t>
            </a:r>
          </a:p>
          <a:p>
            <a:pPr lvl="1"/>
            <a:r>
              <a:rPr lang="en-US" dirty="0" err="1"/>
              <a:t>th.firstChild.nodeValue</a:t>
            </a:r>
            <a:r>
              <a:rPr lang="en-US" dirty="0"/>
              <a:t> = time;  //Works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89253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US" dirty="0"/>
              <a:t>An issue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2320412"/>
            <a:ext cx="10058400" cy="3851787"/>
          </a:xfrm>
        </p:spPr>
        <p:txBody>
          <a:bodyPr>
            <a:normAutofit/>
          </a:bodyPr>
          <a:lstStyle/>
          <a:p>
            <a:r>
              <a:rPr lang="en-US" dirty="0"/>
              <a:t>There is a small issue that leaves me unsatisfied with the assignment as is.</a:t>
            </a:r>
          </a:p>
          <a:p>
            <a:r>
              <a:rPr lang="en-US" dirty="0"/>
              <a:t>If the time is 5 hours, 5 minutes, and 5 seconds the display looks like this:</a:t>
            </a:r>
          </a:p>
          <a:p>
            <a:pPr marL="0" indent="0">
              <a:buNone/>
            </a:pPr>
            <a:r>
              <a:rPr lang="en-US" dirty="0"/>
              <a:t>	5:5:5 (which isn't very time-like)</a:t>
            </a:r>
          </a:p>
          <a:p>
            <a:endParaRPr lang="en-US" dirty="0"/>
          </a:p>
          <a:p>
            <a:r>
              <a:rPr lang="en-US" dirty="0"/>
              <a:t>I would prefer this with leading zeros for minutes and seconds:</a:t>
            </a:r>
          </a:p>
          <a:p>
            <a:pPr marL="0" indent="0">
              <a:buNone/>
            </a:pPr>
            <a:r>
              <a:rPr lang="en-US" dirty="0"/>
              <a:t>	5:05:05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46036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US" dirty="0"/>
              <a:t>The problem is 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2320412"/>
            <a:ext cx="10058400" cy="3851787"/>
          </a:xfrm>
        </p:spPr>
        <p:txBody>
          <a:bodyPr>
            <a:normAutofit/>
          </a:bodyPr>
          <a:lstStyle/>
          <a:p>
            <a:r>
              <a:rPr lang="en-US" dirty="0"/>
              <a:t>The problem is leading zeros are never displayed on numbers.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th.textContent</a:t>
            </a:r>
            <a:r>
              <a:rPr lang="en-US" dirty="0"/>
              <a:t> </a:t>
            </a:r>
            <a:r>
              <a:rPr lang="en-US"/>
              <a:t>= hours </a:t>
            </a:r>
            <a:r>
              <a:rPr lang="en-US" dirty="0"/>
              <a:t>+ ":" </a:t>
            </a:r>
            <a:r>
              <a:rPr lang="en-US"/>
              <a:t>+ minutes;</a:t>
            </a:r>
            <a:endParaRPr lang="en-US" dirty="0"/>
          </a:p>
          <a:p>
            <a:r>
              <a:rPr lang="en-US"/>
              <a:t>Variables hours and minutes </a:t>
            </a:r>
            <a:r>
              <a:rPr lang="en-US" dirty="0"/>
              <a:t>hold numbers.</a:t>
            </a:r>
          </a:p>
          <a:p>
            <a:r>
              <a:rPr lang="en-US" dirty="0"/>
              <a:t>So if hours and minutes are 5 JavaScript does this: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th.textContent</a:t>
            </a:r>
            <a:r>
              <a:rPr lang="en-US" dirty="0"/>
              <a:t> = 5 + ":" + 5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Which turns into "5:5" and that doesn't look very good for a time.</a:t>
            </a:r>
          </a:p>
          <a:p>
            <a:r>
              <a:rPr lang="en-US" dirty="0"/>
              <a:t>YOU MUST ALSO HAVE SECONDS!!!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66136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US" dirty="0"/>
              <a:t>Making the page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2320412"/>
            <a:ext cx="10058400" cy="3851787"/>
          </a:xfrm>
        </p:spPr>
        <p:txBody>
          <a:bodyPr>
            <a:normAutofit/>
          </a:bodyPr>
          <a:lstStyle/>
          <a:p>
            <a:r>
              <a:rPr lang="en-US" sz="1300"/>
              <a:t>setTimout("function_name", time_in_milliseconds ) </a:t>
            </a:r>
          </a:p>
          <a:p>
            <a:pPr marL="457200" lvl="1" indent="0">
              <a:buNone/>
            </a:pPr>
            <a:r>
              <a:rPr lang="en-US" sz="1300"/>
              <a:t>A built-in function/event which tells the browser to wait a certain amount of time and then run the named function.</a:t>
            </a:r>
          </a:p>
          <a:p>
            <a:pPr marL="0" indent="0">
              <a:buNone/>
            </a:pPr>
            <a:r>
              <a:rPr lang="en-US" sz="1300"/>
              <a:t>		</a:t>
            </a:r>
          </a:p>
          <a:p>
            <a:r>
              <a:rPr lang="en-US" sz="1300"/>
              <a:t>This instruction tells the browser to wait 1 second then run updateTime();</a:t>
            </a:r>
          </a:p>
          <a:p>
            <a:endParaRPr lang="en-US" sz="1300"/>
          </a:p>
          <a:p>
            <a:pPr marL="0" indent="0">
              <a:buNone/>
            </a:pPr>
            <a:r>
              <a:rPr lang="en-US" sz="1300"/>
              <a:t>	setTimeout("updateTime", 1000);</a:t>
            </a:r>
          </a:p>
          <a:p>
            <a:endParaRPr lang="en-US" sz="1300"/>
          </a:p>
          <a:p>
            <a:r>
              <a:rPr lang="en-US" sz="1300"/>
              <a:t>Note that we are NOT running updateTime here.  We are passing a reference to a function as if updateTime is simply a variable.   So, you SHOULD NOT include the (); when using a function as an argument.</a:t>
            </a:r>
          </a:p>
          <a:p>
            <a:endParaRPr lang="en-US" sz="1300"/>
          </a:p>
          <a:p>
            <a:r>
              <a:rPr lang="en-US" sz="1300"/>
              <a:t>If you put this code at the bottom of updateTime, every time updateTime runs, it will reschedule itself to run again in 1 second.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13279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US" dirty="0"/>
              <a:t>Turn in the assignment.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2320412"/>
            <a:ext cx="10058400" cy="3851787"/>
          </a:xfrm>
        </p:spPr>
        <p:txBody>
          <a:bodyPr>
            <a:normAutofit/>
          </a:bodyPr>
          <a:lstStyle/>
          <a:p>
            <a:r>
              <a:rPr lang="en-US" dirty="0"/>
              <a:t>Name your files exercise16.html and exercise16.js. </a:t>
            </a:r>
          </a:p>
          <a:p>
            <a:r>
              <a:rPr lang="en-US" dirty="0"/>
              <a:t>Validate the HTML file (You don’t validate JavaScript).</a:t>
            </a:r>
          </a:p>
          <a:p>
            <a:r>
              <a:rPr lang="en-US" dirty="0"/>
              <a:t>Upload to AsULearn.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8640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649</TotalTime>
  <Words>2314</Words>
  <Application>Microsoft Office PowerPoint</Application>
  <PresentationFormat>Widescreen</PresentationFormat>
  <Paragraphs>253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Arial Unicode MS</vt:lpstr>
      <vt:lpstr>Calibri</vt:lpstr>
      <vt:lpstr>Rockwell</vt:lpstr>
      <vt:lpstr>Rockwell Condensed</vt:lpstr>
      <vt:lpstr>Rockwell Extra Bold</vt:lpstr>
      <vt:lpstr>Wingdings</vt:lpstr>
      <vt:lpstr>Wood Type</vt:lpstr>
      <vt:lpstr>JavaScript</vt:lpstr>
      <vt:lpstr>The document object model or dom</vt:lpstr>
      <vt:lpstr>Using the dom</vt:lpstr>
      <vt:lpstr>Seeing the html Dom in firefox</vt:lpstr>
      <vt:lpstr>Items of note</vt:lpstr>
      <vt:lpstr>Interacting with the html dom</vt:lpstr>
      <vt:lpstr>document.write();</vt:lpstr>
      <vt:lpstr>When to use document.write() (NEVER) </vt:lpstr>
      <vt:lpstr>These do the same thing.</vt:lpstr>
      <vt:lpstr>These are errors.</vt:lpstr>
      <vt:lpstr>You can have multiple script tags</vt:lpstr>
      <vt:lpstr>For this Assignment</vt:lpstr>
      <vt:lpstr>Javascript output</vt:lpstr>
      <vt:lpstr>JavaScript Programming and Functions</vt:lpstr>
      <vt:lpstr>camelCase or Hungarian notation</vt:lpstr>
      <vt:lpstr>How to define a function</vt:lpstr>
      <vt:lpstr>You can have any number of functions</vt:lpstr>
      <vt:lpstr>External javascript files</vt:lpstr>
      <vt:lpstr>Run or Execute a Function</vt:lpstr>
      <vt:lpstr>Getting the time</vt:lpstr>
      <vt:lpstr>textContent</vt:lpstr>
      <vt:lpstr>Changing textContent</vt:lpstr>
      <vt:lpstr>FORMAtting the correct time</vt:lpstr>
      <vt:lpstr>Alternatives to textcontent</vt:lpstr>
      <vt:lpstr>An issue</vt:lpstr>
      <vt:lpstr>The problem is …</vt:lpstr>
      <vt:lpstr>Making the page update</vt:lpstr>
      <vt:lpstr>Turn in the assignment.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4</dc:title>
  <dc:creator>Joel</dc:creator>
  <cp:lastModifiedBy>Joel Swanson</cp:lastModifiedBy>
  <cp:revision>74</cp:revision>
  <dcterms:created xsi:type="dcterms:W3CDTF">2017-02-07T13:25:50Z</dcterms:created>
  <dcterms:modified xsi:type="dcterms:W3CDTF">2025-09-19T14:53:34Z</dcterms:modified>
</cp:coreProperties>
</file>