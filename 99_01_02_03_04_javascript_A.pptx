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382" r:id="rId3"/>
    <p:sldId id="344" r:id="rId4"/>
    <p:sldId id="258" r:id="rId5"/>
    <p:sldId id="320" r:id="rId6"/>
    <p:sldId id="321" r:id="rId7"/>
    <p:sldId id="257" r:id="rId8"/>
    <p:sldId id="341" r:id="rId9"/>
    <p:sldId id="380" r:id="rId10"/>
    <p:sldId id="260" r:id="rId11"/>
    <p:sldId id="261" r:id="rId12"/>
    <p:sldId id="262" r:id="rId13"/>
    <p:sldId id="345" r:id="rId14"/>
    <p:sldId id="263" r:id="rId15"/>
    <p:sldId id="387" r:id="rId16"/>
    <p:sldId id="264" r:id="rId17"/>
    <p:sldId id="389" r:id="rId18"/>
    <p:sldId id="265" r:id="rId19"/>
    <p:sldId id="266" r:id="rId20"/>
    <p:sldId id="348" r:id="rId21"/>
    <p:sldId id="322" r:id="rId22"/>
    <p:sldId id="384" r:id="rId23"/>
    <p:sldId id="349" r:id="rId24"/>
    <p:sldId id="267" r:id="rId25"/>
    <p:sldId id="268" r:id="rId26"/>
    <p:sldId id="269" r:id="rId27"/>
    <p:sldId id="323" r:id="rId28"/>
    <p:sldId id="342" r:id="rId29"/>
    <p:sldId id="325" r:id="rId30"/>
    <p:sldId id="326" r:id="rId31"/>
    <p:sldId id="324" r:id="rId32"/>
    <p:sldId id="327" r:id="rId33"/>
    <p:sldId id="390" r:id="rId34"/>
    <p:sldId id="391" r:id="rId35"/>
    <p:sldId id="328" r:id="rId36"/>
    <p:sldId id="329" r:id="rId37"/>
    <p:sldId id="330" r:id="rId38"/>
    <p:sldId id="331" r:id="rId39"/>
    <p:sldId id="353" r:id="rId40"/>
    <p:sldId id="332" r:id="rId41"/>
    <p:sldId id="337" r:id="rId42"/>
    <p:sldId id="339" r:id="rId43"/>
    <p:sldId id="392" r:id="rId44"/>
    <p:sldId id="375" r:id="rId45"/>
    <p:sldId id="340" r:id="rId46"/>
    <p:sldId id="283" r:id="rId47"/>
    <p:sldId id="319" r:id="rId48"/>
    <p:sldId id="354" r:id="rId49"/>
    <p:sldId id="355" r:id="rId50"/>
    <p:sldId id="356" r:id="rId51"/>
    <p:sldId id="386" r:id="rId52"/>
    <p:sldId id="357" r:id="rId53"/>
    <p:sldId id="359" r:id="rId54"/>
    <p:sldId id="360" r:id="rId55"/>
    <p:sldId id="351" r:id="rId56"/>
    <p:sldId id="362" r:id="rId57"/>
    <p:sldId id="363" r:id="rId58"/>
    <p:sldId id="361" r:id="rId59"/>
    <p:sldId id="383" r:id="rId60"/>
    <p:sldId id="364" r:id="rId61"/>
    <p:sldId id="365" r:id="rId62"/>
    <p:sldId id="372" r:id="rId63"/>
    <p:sldId id="373" r:id="rId64"/>
    <p:sldId id="395" r:id="rId65"/>
    <p:sldId id="374" r:id="rId66"/>
    <p:sldId id="366" r:id="rId67"/>
    <p:sldId id="378" r:id="rId68"/>
    <p:sldId id="379" r:id="rId69"/>
    <p:sldId id="393" r:id="rId70"/>
    <p:sldId id="367" r:id="rId71"/>
    <p:sldId id="368" r:id="rId72"/>
    <p:sldId id="369" r:id="rId73"/>
    <p:sldId id="370" r:id="rId74"/>
    <p:sldId id="388" r:id="rId75"/>
    <p:sldId id="381" r:id="rId76"/>
    <p:sldId id="377" r:id="rId77"/>
    <p:sldId id="397" r:id="rId78"/>
    <p:sldId id="317" r:id="rId79"/>
    <p:sldId id="371" r:id="rId80"/>
    <p:sldId id="270" r:id="rId81"/>
    <p:sldId id="333" r:id="rId82"/>
    <p:sldId id="334" r:id="rId83"/>
    <p:sldId id="336" r:id="rId84"/>
    <p:sldId id="350" r:id="rId85"/>
    <p:sldId id="394" r:id="rId8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300"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8465157-A2B9-4B22-8A5A-EA3E8984E930}"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E1816DF-F2AE-468A-83F8-5A8CBF4154A1}" type="slidenum">
              <a:rPr lang="en-US" smtClean="0"/>
              <a:t>‹#›</a:t>
            </a:fld>
            <a:endParaRPr lang="en-US"/>
          </a:p>
        </p:txBody>
      </p:sp>
    </p:spTree>
    <p:extLst>
      <p:ext uri="{BB962C8B-B14F-4D97-AF65-F5344CB8AC3E}">
        <p14:creationId xmlns:p14="http://schemas.microsoft.com/office/powerpoint/2010/main" val="30498184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465157-A2B9-4B22-8A5A-EA3E8984E930}"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1816DF-F2AE-468A-83F8-5A8CBF4154A1}" type="slidenum">
              <a:rPr lang="en-US" smtClean="0"/>
              <a:t>‹#›</a:t>
            </a:fld>
            <a:endParaRPr lang="en-US"/>
          </a:p>
        </p:txBody>
      </p:sp>
    </p:spTree>
    <p:extLst>
      <p:ext uri="{BB962C8B-B14F-4D97-AF65-F5344CB8AC3E}">
        <p14:creationId xmlns:p14="http://schemas.microsoft.com/office/powerpoint/2010/main" val="1784638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98465157-A2B9-4B22-8A5A-EA3E8984E930}" type="datetimeFigureOut">
              <a:rPr lang="en-US" smtClean="0"/>
              <a:t>9/29/2025</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E1816DF-F2AE-468A-83F8-5A8CBF4154A1}" type="slidenum">
              <a:rPr lang="en-US" smtClean="0"/>
              <a:t>‹#›</a:t>
            </a:fld>
            <a:endParaRPr lang="en-US"/>
          </a:p>
        </p:txBody>
      </p:sp>
    </p:spTree>
    <p:extLst>
      <p:ext uri="{BB962C8B-B14F-4D97-AF65-F5344CB8AC3E}">
        <p14:creationId xmlns:p14="http://schemas.microsoft.com/office/powerpoint/2010/main" val="27953161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8465157-A2B9-4B22-8A5A-EA3E8984E930}" type="datetimeFigureOut">
              <a:rPr lang="en-US" smtClean="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1816DF-F2AE-468A-83F8-5A8CBF4154A1}" type="slidenum">
              <a:rPr lang="en-US" smtClean="0"/>
              <a:t>‹#›</a:t>
            </a:fld>
            <a:endParaRPr lang="en-US"/>
          </a:p>
        </p:txBody>
      </p:sp>
    </p:spTree>
    <p:extLst>
      <p:ext uri="{BB962C8B-B14F-4D97-AF65-F5344CB8AC3E}">
        <p14:creationId xmlns:p14="http://schemas.microsoft.com/office/powerpoint/2010/main" val="17012969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8465157-A2B9-4B22-8A5A-EA3E8984E930}" type="datetimeFigureOut">
              <a:rPr lang="en-US" smtClean="0"/>
              <a:t>9/29/2025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E1816DF-F2AE-468A-83F8-5A8CBF4154A1}" type="slidenum">
              <a:rPr lang="en-US" smtClean="0"/>
              <a:t>‹#›</a:t>
            </a:fld>
            <a:endParaRPr lang="en-US"/>
          </a:p>
        </p:txBody>
      </p:sp>
    </p:spTree>
    <p:extLst>
      <p:ext uri="{BB962C8B-B14F-4D97-AF65-F5344CB8AC3E}">
        <p14:creationId xmlns:p14="http://schemas.microsoft.com/office/powerpoint/2010/main" val="2367766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8465157-A2B9-4B22-8A5A-EA3E8984E930}" type="datetimeFigureOut">
              <a:rPr lang="en-US" smtClean="0"/>
              <a:t>9/29/2025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1816DF-F2AE-468A-83F8-5A8CBF4154A1}" type="slidenum">
              <a:rPr lang="en-US" smtClean="0"/>
              <a:t>‹#›</a:t>
            </a:fld>
            <a:endParaRPr lang="en-US"/>
          </a:p>
        </p:txBody>
      </p:sp>
    </p:spTree>
    <p:extLst>
      <p:ext uri="{BB962C8B-B14F-4D97-AF65-F5344CB8AC3E}">
        <p14:creationId xmlns:p14="http://schemas.microsoft.com/office/powerpoint/2010/main" val="29948184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465157-A2B9-4B22-8A5A-EA3E8984E930}" type="datetimeFigureOut">
              <a:rPr lang="en-US" smtClean="0"/>
              <a:t>9/29/2025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E1816DF-F2AE-468A-83F8-5A8CBF4154A1}" type="slidenum">
              <a:rPr lang="en-US" smtClean="0"/>
              <a:t>‹#›</a:t>
            </a:fld>
            <a:endParaRPr lang="en-US"/>
          </a:p>
        </p:txBody>
      </p:sp>
    </p:spTree>
    <p:extLst>
      <p:ext uri="{BB962C8B-B14F-4D97-AF65-F5344CB8AC3E}">
        <p14:creationId xmlns:p14="http://schemas.microsoft.com/office/powerpoint/2010/main" val="4026033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8465157-A2B9-4B22-8A5A-EA3E8984E930}" type="datetimeFigureOut">
              <a:rPr lang="en-US" smtClean="0"/>
              <a:t>9/29/2025</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E1816DF-F2AE-468A-83F8-5A8CBF4154A1}" type="slidenum">
              <a:rPr lang="en-US" smtClean="0"/>
              <a:t>‹#›</a:t>
            </a:fld>
            <a:endParaRPr lang="en-US"/>
          </a:p>
        </p:txBody>
      </p:sp>
    </p:spTree>
    <p:extLst>
      <p:ext uri="{BB962C8B-B14F-4D97-AF65-F5344CB8AC3E}">
        <p14:creationId xmlns:p14="http://schemas.microsoft.com/office/powerpoint/2010/main" val="2751134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8465157-A2B9-4B22-8A5A-EA3E8984E930}" type="datetimeFigureOut">
              <a:rPr lang="en-US" smtClean="0"/>
              <a:t>9/29/2025</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E1816DF-F2AE-468A-83F8-5A8CBF4154A1}" type="slidenum">
              <a:rPr lang="en-US" smtClean="0"/>
              <a:t>‹#›</a:t>
            </a:fld>
            <a:endParaRPr lang="en-US"/>
          </a:p>
        </p:txBody>
      </p:sp>
    </p:spTree>
    <p:extLst>
      <p:ext uri="{BB962C8B-B14F-4D97-AF65-F5344CB8AC3E}">
        <p14:creationId xmlns:p14="http://schemas.microsoft.com/office/powerpoint/2010/main" val="1066985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465157-A2B9-4B22-8A5A-EA3E8984E930}"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1816DF-F2AE-468A-83F8-5A8CBF4154A1}" type="slidenum">
              <a:rPr lang="en-US" smtClean="0"/>
              <a:t>‹#›</a:t>
            </a:fld>
            <a:endParaRPr lang="en-US"/>
          </a:p>
        </p:txBody>
      </p:sp>
    </p:spTree>
    <p:extLst>
      <p:ext uri="{BB962C8B-B14F-4D97-AF65-F5344CB8AC3E}">
        <p14:creationId xmlns:p14="http://schemas.microsoft.com/office/powerpoint/2010/main" val="24697402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465157-A2B9-4B22-8A5A-EA3E8984E930}"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1816DF-F2AE-468A-83F8-5A8CBF4154A1}" type="slidenum">
              <a:rPr lang="en-US" smtClean="0"/>
              <a:t>‹#›</a:t>
            </a:fld>
            <a:endParaRPr lang="en-US"/>
          </a:p>
        </p:txBody>
      </p:sp>
    </p:spTree>
    <p:extLst>
      <p:ext uri="{BB962C8B-B14F-4D97-AF65-F5344CB8AC3E}">
        <p14:creationId xmlns:p14="http://schemas.microsoft.com/office/powerpoint/2010/main" val="14540029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98465157-A2B9-4B22-8A5A-EA3E8984E930}" type="datetimeFigureOut">
              <a:rPr lang="en-US" smtClean="0"/>
              <a:t>9/29/2025</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E1816DF-F2AE-468A-83F8-5A8CBF4154A1}" type="slidenum">
              <a:rPr lang="en-US" smtClean="0"/>
              <a:t>‹#›</a:t>
            </a:fld>
            <a:endParaRPr lang="en-US"/>
          </a:p>
        </p:txBody>
      </p:sp>
    </p:spTree>
    <p:extLst>
      <p:ext uri="{BB962C8B-B14F-4D97-AF65-F5344CB8AC3E}">
        <p14:creationId xmlns:p14="http://schemas.microsoft.com/office/powerpoint/2010/main" val="31265200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javascript.info/ninja-code" TargetMode="External"/><Relationship Id="rId2" Type="http://schemas.openxmlformats.org/officeDocument/2006/relationships/hyperlink" Target="https://developer.mozilla.org/en-US/docs/Web/JavaScript/A_re-introduction_to_JavaScript"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developer.mozilla.org/en-US/docs/Web/JavaScript/Reference/Classes" TargetMode="External"/><Relationship Id="rId2" Type="http://schemas.openxmlformats.org/officeDocument/2006/relationships/hyperlink" Target="https://developer.mozilla.org/en-US/docs/Web/JavaScript/Inheritance_and_the_prototype_chain"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en.wikipedia.org/wiki/Ecma_International#cite_note-1" TargetMode="External"/><Relationship Id="rId2" Type="http://schemas.openxmlformats.org/officeDocument/2006/relationships/hyperlink" Target="https://en.wikipedia.org/wiki/Standards_organization" TargetMode="External"/><Relationship Id="rId1" Type="http://schemas.openxmlformats.org/officeDocument/2006/relationships/slideLayout" Target="../slideLayouts/slideLayout2.xml"/><Relationship Id="rId5" Type="http://schemas.openxmlformats.org/officeDocument/2006/relationships/hyperlink" Target="https://en.wikipedia.org/wiki/Geneva" TargetMode="External"/><Relationship Id="rId4" Type="http://schemas.openxmlformats.org/officeDocument/2006/relationships/hyperlink" Target="https://en.wikipedia.org/wiki/Acrony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couchdb.apache.org/" TargetMode="External"/><Relationship Id="rId2" Type="http://schemas.openxmlformats.org/officeDocument/2006/relationships/hyperlink" Target="http://nodejs.org/" TargetMode="External"/><Relationship Id="rId1" Type="http://schemas.openxmlformats.org/officeDocument/2006/relationships/slideLayout" Target="../slideLayouts/slideLayout2.xml"/><Relationship Id="rId4" Type="http://schemas.openxmlformats.org/officeDocument/2006/relationships/hyperlink" Target="http://www.gnome.org/"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hyperlink" Target="https://www.w3schools.com/jsref/jsref_toprecision.asp" TargetMode="External"/><Relationship Id="rId3" Type="http://schemas.openxmlformats.org/officeDocument/2006/relationships/hyperlink" Target="https://www.w3schools.com/jsref/jsref_isinteger.asp" TargetMode="External"/><Relationship Id="rId7" Type="http://schemas.openxmlformats.org/officeDocument/2006/relationships/hyperlink" Target="https://www.w3schools.com/jsref/jsref_tofixed.asp" TargetMode="External"/><Relationship Id="rId2" Type="http://schemas.openxmlformats.org/officeDocument/2006/relationships/hyperlink" Target="https://www.w3schools.com/jsref/jsref_isfinite_number.asp" TargetMode="External"/><Relationship Id="rId1" Type="http://schemas.openxmlformats.org/officeDocument/2006/relationships/slideLayout" Target="../slideLayouts/slideLayout2.xml"/><Relationship Id="rId6" Type="http://schemas.openxmlformats.org/officeDocument/2006/relationships/hyperlink" Target="https://www.w3schools.com/jsref/jsref_toexponential.asp" TargetMode="External"/><Relationship Id="rId5" Type="http://schemas.openxmlformats.org/officeDocument/2006/relationships/hyperlink" Target="https://www.w3schools.com/jsref/jsref_issafeinteger.asp" TargetMode="External"/><Relationship Id="rId10" Type="http://schemas.openxmlformats.org/officeDocument/2006/relationships/hyperlink" Target="https://www.w3schools.com/jsref/jsref_valueof_number.asp" TargetMode="External"/><Relationship Id="rId4" Type="http://schemas.openxmlformats.org/officeDocument/2006/relationships/hyperlink" Target="https://www.w3schools.com/jsref/jsref_isnan_number.asp" TargetMode="External"/><Relationship Id="rId9" Type="http://schemas.openxmlformats.org/officeDocument/2006/relationships/hyperlink" Target="https://www.w3schools.com/jsref/jsref_tostring_number.asp"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hyperlink" Target="https://cs.appstate.edu/~jas/3440/problem_with_this.html" TargetMode="Externa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8" Type="http://schemas.openxmlformats.org/officeDocument/2006/relationships/hyperlink" Target="https://www.w3schools.com/js/js_performance.asp" TargetMode="External"/><Relationship Id="rId3" Type="http://schemas.microsoft.com/office/2007/relationships/hdphoto" Target="../media/hdphoto2.wdp"/><Relationship Id="rId7" Type="http://schemas.openxmlformats.org/officeDocument/2006/relationships/hyperlink" Target="https://www.w3schools.com/js/js_mistakes.asp" TargetMode="Externa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hyperlink" Target="https://www.w3schools.com/js/js_best_practices.asp" TargetMode="External"/><Relationship Id="rId5" Type="http://schemas.openxmlformats.org/officeDocument/2006/relationships/hyperlink" Target="https://www.w3schools.com/js/js_conventions.asp" TargetMode="External"/><Relationship Id="rId4" Type="http://schemas.openxmlformats.org/officeDocument/2006/relationships/hyperlink" Target="https://www.w3schools.com/js/js_debugging.asp" TargetMode="External"/><Relationship Id="rId9"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JavaScript</a:t>
            </a:r>
          </a:p>
        </p:txBody>
      </p:sp>
      <p:sp>
        <p:nvSpPr>
          <p:cNvPr id="3" name="Subtitle 2"/>
          <p:cNvSpPr>
            <a:spLocks noGrp="1"/>
          </p:cNvSpPr>
          <p:nvPr>
            <p:ph type="subTitle" idx="1"/>
          </p:nvPr>
        </p:nvSpPr>
        <p:spPr/>
        <p:txBody>
          <a:bodyPr/>
          <a:lstStyle/>
          <a:p>
            <a:r>
              <a:rPr lang="en-US" dirty="0"/>
              <a:t>JavaScript </a:t>
            </a:r>
            <a:r>
              <a:rPr lang="en-US"/>
              <a:t>is Weird</a:t>
            </a:r>
            <a:endParaRPr lang="en-US" dirty="0"/>
          </a:p>
        </p:txBody>
      </p:sp>
    </p:spTree>
    <p:extLst>
      <p:ext uri="{BB962C8B-B14F-4D97-AF65-F5344CB8AC3E}">
        <p14:creationId xmlns:p14="http://schemas.microsoft.com/office/powerpoint/2010/main" val="42733894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Notes</a:t>
            </a:r>
          </a:p>
        </p:txBody>
      </p:sp>
      <p:sp>
        <p:nvSpPr>
          <p:cNvPr id="3" name="Content Placeholder 2"/>
          <p:cNvSpPr>
            <a:spLocks noGrp="1"/>
          </p:cNvSpPr>
          <p:nvPr>
            <p:ph idx="1"/>
          </p:nvPr>
        </p:nvSpPr>
        <p:spPr/>
        <p:txBody>
          <a:bodyPr/>
          <a:lstStyle/>
          <a:p>
            <a:r>
              <a:rPr lang="en-US" dirty="0"/>
              <a:t>Mostly taken from the Mozilla Development Network's page titled "A re-introduction to JavaScript"</a:t>
            </a:r>
          </a:p>
          <a:p>
            <a:pPr lvl="1"/>
            <a:r>
              <a:rPr lang="en-US" dirty="0">
                <a:hlinkClick r:id="rId2"/>
              </a:rPr>
              <a:t>https://developer.mozilla.org/en-US/docs/Web/JavaScript/A_re-introduction_to_JavaScript</a:t>
            </a:r>
            <a:endParaRPr lang="en-US" dirty="0"/>
          </a:p>
          <a:p>
            <a:r>
              <a:rPr lang="en-US" dirty="0"/>
              <a:t>This is a good reference because it assumes you know how to program and focus' on the things that are odd about JavaScript.</a:t>
            </a:r>
          </a:p>
          <a:p>
            <a:r>
              <a:rPr lang="en-US" dirty="0"/>
              <a:t>Are you a coding ninja?  </a:t>
            </a:r>
          </a:p>
          <a:p>
            <a:pPr lvl="1"/>
            <a:r>
              <a:rPr lang="en-US" dirty="0">
                <a:hlinkClick r:id="rId3"/>
              </a:rPr>
              <a:t>Find out</a:t>
            </a:r>
            <a:r>
              <a:rPr lang="en-US" dirty="0"/>
              <a:t>  (Please note the sarcasm)</a:t>
            </a:r>
          </a:p>
          <a:p>
            <a:endParaRPr lang="en-US" dirty="0"/>
          </a:p>
        </p:txBody>
      </p:sp>
    </p:spTree>
    <p:extLst>
      <p:ext uri="{BB962C8B-B14F-4D97-AF65-F5344CB8AC3E}">
        <p14:creationId xmlns:p14="http://schemas.microsoft.com/office/powerpoint/2010/main" val="11650782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Browser Console</a:t>
            </a:r>
          </a:p>
        </p:txBody>
      </p:sp>
      <p:sp>
        <p:nvSpPr>
          <p:cNvPr id="3" name="Content Placeholder 2"/>
          <p:cNvSpPr>
            <a:spLocks noGrp="1"/>
          </p:cNvSpPr>
          <p:nvPr>
            <p:ph idx="1"/>
          </p:nvPr>
        </p:nvSpPr>
        <p:spPr>
          <a:xfrm>
            <a:off x="1063752" y="1881963"/>
            <a:ext cx="8610600" cy="3964172"/>
          </a:xfrm>
        </p:spPr>
        <p:txBody>
          <a:bodyPr>
            <a:normAutofit/>
          </a:bodyPr>
          <a:lstStyle/>
          <a:p>
            <a:r>
              <a:rPr lang="en-US" dirty="0"/>
              <a:t>Access to the Console</a:t>
            </a:r>
          </a:p>
          <a:p>
            <a:pPr lvl="1"/>
            <a:r>
              <a:rPr lang="en-US" dirty="0"/>
              <a:t>Hamburger Menu (top right)… More Tools… Developer Tools</a:t>
            </a:r>
          </a:p>
          <a:p>
            <a:pPr lvl="1"/>
            <a:r>
              <a:rPr lang="en-US" dirty="0"/>
              <a:t>Ctrl + Shift + J (Windows / Linux) or </a:t>
            </a:r>
            <a:r>
              <a:rPr lang="en-US" dirty="0" err="1"/>
              <a:t>Cmd</a:t>
            </a:r>
            <a:r>
              <a:rPr lang="en-US" dirty="0"/>
              <a:t> + Opt + J (Mac)</a:t>
            </a:r>
          </a:p>
          <a:p>
            <a:r>
              <a:rPr lang="en-US" dirty="0"/>
              <a:t>What it contains</a:t>
            </a:r>
          </a:p>
          <a:p>
            <a:pPr lvl="1"/>
            <a:r>
              <a:rPr lang="en-US" dirty="0"/>
              <a:t>Errors, JS interpreter</a:t>
            </a:r>
          </a:p>
          <a:p>
            <a:r>
              <a:rPr lang="en-US" dirty="0"/>
              <a:t>Uses</a:t>
            </a:r>
          </a:p>
          <a:p>
            <a:pPr lvl="1"/>
            <a:r>
              <a:rPr lang="en-US" b="1" dirty="0"/>
              <a:t>Debugging</a:t>
            </a:r>
          </a:p>
          <a:p>
            <a:pPr lvl="1"/>
            <a:r>
              <a:rPr lang="en-US" dirty="0"/>
              <a:t>Testing expressions</a:t>
            </a:r>
          </a:p>
          <a:p>
            <a:endParaRPr lang="en-US" dirty="0"/>
          </a:p>
        </p:txBody>
      </p:sp>
    </p:spTree>
    <p:extLst>
      <p:ext uri="{BB962C8B-B14F-4D97-AF65-F5344CB8AC3E}">
        <p14:creationId xmlns:p14="http://schemas.microsoft.com/office/powerpoint/2010/main" val="423802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t>
            </a:r>
            <a:r>
              <a:rPr lang="en-US" dirty="0" err="1"/>
              <a:t>javascript</a:t>
            </a:r>
            <a:endParaRPr lang="en-US" dirty="0"/>
          </a:p>
        </p:txBody>
      </p:sp>
      <p:sp>
        <p:nvSpPr>
          <p:cNvPr id="3" name="Content Placeholder 2"/>
          <p:cNvSpPr>
            <a:spLocks noGrp="1"/>
          </p:cNvSpPr>
          <p:nvPr>
            <p:ph idx="1"/>
          </p:nvPr>
        </p:nvSpPr>
        <p:spPr/>
        <p:txBody>
          <a:bodyPr/>
          <a:lstStyle/>
          <a:p>
            <a:r>
              <a:rPr lang="en-US" dirty="0"/>
              <a:t>JavaScript is a multi-paradigm, dynamic language with types and operators, standard built-in objects, and methods. </a:t>
            </a:r>
          </a:p>
          <a:p>
            <a:r>
              <a:rPr lang="en-US" dirty="0"/>
              <a:t>Its syntax is based on the Java and C languages — many structures from those languages apply to JavaScript as well. </a:t>
            </a:r>
          </a:p>
          <a:p>
            <a:r>
              <a:rPr lang="en-US" dirty="0"/>
              <a:t>JavaScript supports object-oriented programming with object prototypes, instead of classes (see more about </a:t>
            </a:r>
            <a:r>
              <a:rPr lang="en-US" dirty="0">
                <a:hlinkClick r:id="rId2" tooltip="prototypical inheritance"/>
              </a:rPr>
              <a:t>prototypical inheritance</a:t>
            </a:r>
            <a:r>
              <a:rPr lang="en-US" dirty="0"/>
              <a:t> and ES2015 </a:t>
            </a:r>
            <a:r>
              <a:rPr lang="en-US" dirty="0">
                <a:hlinkClick r:id="rId3"/>
              </a:rPr>
              <a:t>classes</a:t>
            </a:r>
            <a:r>
              <a:rPr lang="en-US" dirty="0"/>
              <a:t>). </a:t>
            </a:r>
          </a:p>
          <a:p>
            <a:r>
              <a:rPr lang="en-US" dirty="0"/>
              <a:t>JavaScript also supports functional programming — because they are objects, functions may be stored in variables and passed around like any other object.</a:t>
            </a:r>
          </a:p>
        </p:txBody>
      </p:sp>
    </p:spTree>
    <p:extLst>
      <p:ext uri="{BB962C8B-B14F-4D97-AF65-F5344CB8AC3E}">
        <p14:creationId xmlns:p14="http://schemas.microsoft.com/office/powerpoint/2010/main" val="860377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F46BD-44DC-4A89-B02C-0705906E32E4}"/>
              </a:ext>
            </a:extLst>
          </p:cNvPr>
          <p:cNvSpPr>
            <a:spLocks noGrp="1"/>
          </p:cNvSpPr>
          <p:nvPr>
            <p:ph type="title"/>
          </p:nvPr>
        </p:nvSpPr>
        <p:spPr/>
        <p:txBody>
          <a:bodyPr/>
          <a:lstStyle/>
          <a:p>
            <a:r>
              <a:rPr lang="en-US" dirty="0" err="1"/>
              <a:t>Javascript</a:t>
            </a:r>
            <a:r>
              <a:rPr lang="en-US" dirty="0"/>
              <a:t> and </a:t>
            </a:r>
            <a:r>
              <a:rPr lang="en-US" dirty="0" err="1"/>
              <a:t>ecmaScript</a:t>
            </a:r>
            <a:endParaRPr lang="en-US" dirty="0"/>
          </a:p>
        </p:txBody>
      </p:sp>
      <p:sp>
        <p:nvSpPr>
          <p:cNvPr id="3" name="Content Placeholder 2">
            <a:extLst>
              <a:ext uri="{FF2B5EF4-FFF2-40B4-BE49-F238E27FC236}">
                <a16:creationId xmlns:a16="http://schemas.microsoft.com/office/drawing/2014/main" id="{40136AC5-9B5E-4017-A342-6398B280953D}"/>
              </a:ext>
            </a:extLst>
          </p:cNvPr>
          <p:cNvSpPr>
            <a:spLocks noGrp="1"/>
          </p:cNvSpPr>
          <p:nvPr>
            <p:ph idx="1"/>
          </p:nvPr>
        </p:nvSpPr>
        <p:spPr/>
        <p:txBody>
          <a:bodyPr>
            <a:normAutofit fontScale="92500" lnSpcReduction="10000"/>
          </a:bodyPr>
          <a:lstStyle/>
          <a:p>
            <a:r>
              <a:rPr lang="en-US" dirty="0"/>
              <a:t>ECMAScript is the standard for JavaScript.</a:t>
            </a:r>
          </a:p>
          <a:p>
            <a:r>
              <a:rPr lang="en-US" dirty="0"/>
              <a:t>The terms ECMAScript and JavaScript are often used interchangeably.</a:t>
            </a:r>
          </a:p>
          <a:p>
            <a:r>
              <a:rPr lang="en-US" dirty="0"/>
              <a:t>ECMAScript 2015 is the latest.</a:t>
            </a:r>
          </a:p>
          <a:p>
            <a:r>
              <a:rPr lang="en-US" dirty="0"/>
              <a:t>Also known as ECMAScript 6 or simply </a:t>
            </a:r>
            <a:r>
              <a:rPr lang="en-US" dirty="0" err="1"/>
              <a:t>ES6</a:t>
            </a:r>
            <a:r>
              <a:rPr lang="en-US" dirty="0"/>
              <a:t>.</a:t>
            </a:r>
          </a:p>
          <a:p>
            <a:r>
              <a:rPr lang="en-US" dirty="0"/>
              <a:t>JavaScript IS NOT Java.</a:t>
            </a:r>
          </a:p>
          <a:p>
            <a:r>
              <a:rPr lang="en-US" sz="1700" dirty="0" err="1"/>
              <a:t>Ecma</a:t>
            </a:r>
            <a:r>
              <a:rPr lang="en-US" sz="1700" dirty="0"/>
              <a:t> is a </a:t>
            </a:r>
            <a:r>
              <a:rPr lang="en-US" sz="1700" dirty="0">
                <a:hlinkClick r:id="rId2" tooltip="Standards organization"/>
              </a:rPr>
              <a:t>standards organization</a:t>
            </a:r>
            <a:r>
              <a:rPr lang="en-US" sz="1700" dirty="0"/>
              <a:t> for information and communication systems.</a:t>
            </a:r>
            <a:r>
              <a:rPr lang="en-US" sz="1700" baseline="30000" dirty="0">
                <a:hlinkClick r:id="rId3"/>
              </a:rPr>
              <a:t>[1]</a:t>
            </a:r>
            <a:r>
              <a:rPr lang="en-US" sz="1700" dirty="0"/>
              <a:t> It acquired its current name in 1994, when the European Computer Manufacturers Association (ECMA) changed its name to reflect the organization's global reach and activities. As a consequence, the name is no longer considered an </a:t>
            </a:r>
            <a:r>
              <a:rPr lang="en-US" sz="1700" dirty="0">
                <a:hlinkClick r:id="rId4" tooltip="Acronym"/>
              </a:rPr>
              <a:t>acronym</a:t>
            </a:r>
            <a:r>
              <a:rPr lang="en-US" sz="1700" dirty="0"/>
              <a:t> and no longer uses full capitalization. </a:t>
            </a:r>
          </a:p>
          <a:p>
            <a:r>
              <a:rPr lang="en-US" sz="1700" dirty="0"/>
              <a:t>The organization was founded in 1961 to standardize computer systems in Europe. Membership is open to large and small companies worldwide that produce, market or develop computer or communication systems, and have interest and experience in the areas addressed by the group's technical bodies. It is located in </a:t>
            </a:r>
            <a:r>
              <a:rPr lang="en-US" sz="1700" dirty="0">
                <a:hlinkClick r:id="rId5" tooltip="Geneva"/>
              </a:rPr>
              <a:t>Geneva</a:t>
            </a:r>
            <a:r>
              <a:rPr lang="en-US" sz="1700" dirty="0"/>
              <a:t>. </a:t>
            </a:r>
          </a:p>
          <a:p>
            <a:endParaRPr lang="en-US" dirty="0"/>
          </a:p>
        </p:txBody>
      </p:sp>
    </p:spTree>
    <p:extLst>
      <p:ext uri="{BB962C8B-B14F-4D97-AF65-F5344CB8AC3E}">
        <p14:creationId xmlns:p14="http://schemas.microsoft.com/office/powerpoint/2010/main" val="37468532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58132-B128-4483-90F9-E9CA8A4FCEC8}"/>
              </a:ext>
            </a:extLst>
          </p:cNvPr>
          <p:cNvSpPr>
            <a:spLocks noGrp="1"/>
          </p:cNvSpPr>
          <p:nvPr>
            <p:ph type="title"/>
          </p:nvPr>
        </p:nvSpPr>
        <p:spPr>
          <a:xfrm>
            <a:off x="1069848" y="43381"/>
            <a:ext cx="10058400" cy="642419"/>
          </a:xfrm>
        </p:spPr>
        <p:txBody>
          <a:bodyPr>
            <a:normAutofit fontScale="90000"/>
          </a:bodyPr>
          <a:lstStyle/>
          <a:p>
            <a:r>
              <a:rPr lang="en-US" dirty="0"/>
              <a:t>History</a:t>
            </a:r>
          </a:p>
        </p:txBody>
      </p:sp>
      <p:sp>
        <p:nvSpPr>
          <p:cNvPr id="3" name="Content Placeholder 2">
            <a:extLst>
              <a:ext uri="{FF2B5EF4-FFF2-40B4-BE49-F238E27FC236}">
                <a16:creationId xmlns:a16="http://schemas.microsoft.com/office/drawing/2014/main" id="{00417C95-03EF-4DF6-A492-F9FC783DED44}"/>
              </a:ext>
            </a:extLst>
          </p:cNvPr>
          <p:cNvSpPr>
            <a:spLocks noGrp="1"/>
          </p:cNvSpPr>
          <p:nvPr>
            <p:ph idx="1"/>
          </p:nvPr>
        </p:nvSpPr>
        <p:spPr>
          <a:xfrm>
            <a:off x="1069848" y="1063256"/>
            <a:ext cx="10058400" cy="5108944"/>
          </a:xfrm>
        </p:spPr>
        <p:txBody>
          <a:bodyPr>
            <a:normAutofit/>
          </a:bodyPr>
          <a:lstStyle/>
          <a:p>
            <a:r>
              <a:rPr lang="en-US" dirty="0"/>
              <a:t>JavaScript was created in 1995 by Brendan </a:t>
            </a:r>
            <a:r>
              <a:rPr lang="en-US" dirty="0" err="1"/>
              <a:t>Eich</a:t>
            </a:r>
            <a:r>
              <a:rPr lang="en-US" dirty="0"/>
              <a:t> while he was an engineer at Netscape. JavaScript was first released with Netscape 2 early in 1996. It was originally going to be called </a:t>
            </a:r>
            <a:r>
              <a:rPr lang="en-US" dirty="0" err="1"/>
              <a:t>LiveScript</a:t>
            </a:r>
            <a:r>
              <a:rPr lang="en-US" dirty="0"/>
              <a:t>, but it was renamed in an ill-fated marketing decision that attempted to capitalize on the popularity of Sun Microsystem's Java language — despite the two having very little in common. This has been a source of confusion ever since.</a:t>
            </a:r>
          </a:p>
          <a:p>
            <a:endParaRPr lang="en-US" dirty="0"/>
          </a:p>
          <a:p>
            <a:r>
              <a:rPr lang="en-US" dirty="0"/>
              <a:t>Several months later, </a:t>
            </a:r>
            <a:r>
              <a:rPr lang="en-US" b="1" dirty="0"/>
              <a:t>Microsoft released JScript </a:t>
            </a:r>
            <a:r>
              <a:rPr lang="en-US" dirty="0"/>
              <a:t>with Internet Explorer 3. It was a mostly-compatible JavaScript work-alike. Several months after that, Netscape submitted JavaScript to </a:t>
            </a:r>
            <a:r>
              <a:rPr lang="en-US" dirty="0" err="1"/>
              <a:t>Ecma</a:t>
            </a:r>
            <a:r>
              <a:rPr lang="en-US" dirty="0"/>
              <a:t> International, a European standards organization, which resulted in the first edition of the ECMAScript standard that year. The standard received a significant update as ECMAScript edition 3 in 1999, and it has stayed pretty much stable ever since. The fourth edition was abandoned, due to political differences concerning language complexity. Many parts of the fourth edition formed the basis for ECMAScript edition 5, published in December of 2009, and for the 6th major edition of the standard, published in June of 2015.</a:t>
            </a:r>
          </a:p>
        </p:txBody>
      </p:sp>
    </p:spTree>
    <p:extLst>
      <p:ext uri="{BB962C8B-B14F-4D97-AF65-F5344CB8AC3E}">
        <p14:creationId xmlns:p14="http://schemas.microsoft.com/office/powerpoint/2010/main" val="513367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66800" y="0"/>
            <a:ext cx="10058400" cy="1609344"/>
          </a:xfrm>
        </p:spPr>
        <p:txBody>
          <a:bodyPr/>
          <a:lstStyle/>
          <a:p>
            <a:r>
              <a:rPr lang="en-US" dirty="0"/>
              <a:t>IO</a:t>
            </a:r>
          </a:p>
        </p:txBody>
      </p:sp>
      <p:sp>
        <p:nvSpPr>
          <p:cNvPr id="3" name="Content Placeholder 2"/>
          <p:cNvSpPr>
            <a:spLocks noGrp="1"/>
          </p:cNvSpPr>
          <p:nvPr>
            <p:ph idx="1"/>
          </p:nvPr>
        </p:nvSpPr>
        <p:spPr>
          <a:xfrm>
            <a:off x="1069848" y="1222744"/>
            <a:ext cx="10058400" cy="4615823"/>
          </a:xfrm>
        </p:spPr>
        <p:txBody>
          <a:bodyPr>
            <a:normAutofit/>
          </a:bodyPr>
          <a:lstStyle/>
          <a:p>
            <a:r>
              <a:rPr lang="en-US" dirty="0"/>
              <a:t>Unlike most programming languages, the JavaScript language has no concept of operating system level input or output.   </a:t>
            </a:r>
          </a:p>
          <a:p>
            <a:r>
              <a:rPr lang="en-US" dirty="0"/>
              <a:t>It is designed to run as a scripting language in a host environment, and it is up to the host environment to provide mechanisms for communicating with the outside world.   </a:t>
            </a:r>
          </a:p>
          <a:p>
            <a:r>
              <a:rPr lang="en-US" dirty="0"/>
              <a:t>Even console output requires running a special JavaScript console before output can be seen.</a:t>
            </a:r>
          </a:p>
          <a:p>
            <a:r>
              <a:rPr lang="en-US" dirty="0"/>
              <a:t>The most common host environment is the browser</a:t>
            </a:r>
          </a:p>
          <a:p>
            <a:r>
              <a:rPr lang="en-US" dirty="0"/>
              <a:t>JavaScript interpreters can also be found in a huge list of other places, including Adobe Acrobat, Adobe Photoshop, SVG images, Yahoo's Widget engine, server-side environments such as </a:t>
            </a:r>
            <a:r>
              <a:rPr lang="en-US" dirty="0">
                <a:hlinkClick r:id="rId2"/>
              </a:rPr>
              <a:t>Node.js</a:t>
            </a:r>
            <a:r>
              <a:rPr lang="en-US" dirty="0"/>
              <a:t>, NoSQL databases like the open source </a:t>
            </a:r>
            <a:r>
              <a:rPr lang="en-US" dirty="0">
                <a:hlinkClick r:id="rId3"/>
              </a:rPr>
              <a:t>Apache CouchDB</a:t>
            </a:r>
            <a:r>
              <a:rPr lang="en-US" dirty="0"/>
              <a:t>, embedded computers, complete desktop environments like </a:t>
            </a:r>
            <a:r>
              <a:rPr lang="en-US" dirty="0">
                <a:hlinkClick r:id="rId4"/>
              </a:rPr>
              <a:t>GNOME</a:t>
            </a:r>
            <a:r>
              <a:rPr lang="en-US" dirty="0"/>
              <a:t> (one of the most popular GUIs for GNU/Linux operating systems), and others.</a:t>
            </a:r>
          </a:p>
        </p:txBody>
      </p:sp>
    </p:spTree>
    <p:extLst>
      <p:ext uri="{BB962C8B-B14F-4D97-AF65-F5344CB8AC3E}">
        <p14:creationId xmlns:p14="http://schemas.microsoft.com/office/powerpoint/2010/main" val="14790679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JavaScript Display Possibilities</a:t>
            </a:r>
          </a:p>
        </p:txBody>
      </p:sp>
      <p:sp>
        <p:nvSpPr>
          <p:cNvPr id="3" name="Content Placeholder 2"/>
          <p:cNvSpPr>
            <a:spLocks noGrp="1"/>
          </p:cNvSpPr>
          <p:nvPr>
            <p:ph idx="1"/>
          </p:nvPr>
        </p:nvSpPr>
        <p:spPr>
          <a:xfrm>
            <a:off x="1069848" y="1853514"/>
            <a:ext cx="10058400" cy="4318686"/>
          </a:xfrm>
        </p:spPr>
        <p:txBody>
          <a:bodyPr/>
          <a:lstStyle/>
          <a:p>
            <a:endParaRPr lang="en-US" dirty="0"/>
          </a:p>
          <a:p>
            <a:r>
              <a:rPr lang="en-US" dirty="0"/>
              <a:t>JavaScript can "display" data in different ways:</a:t>
            </a:r>
          </a:p>
          <a:p>
            <a:pPr lvl="1"/>
            <a:r>
              <a:rPr lang="en-US" dirty="0"/>
              <a:t>Writing into an HTML element, using </a:t>
            </a:r>
            <a:r>
              <a:rPr lang="en-US" dirty="0" err="1"/>
              <a:t>textContent</a:t>
            </a:r>
            <a:r>
              <a:rPr lang="en-US" dirty="0"/>
              <a:t>.</a:t>
            </a:r>
          </a:p>
          <a:p>
            <a:pPr lvl="1"/>
            <a:r>
              <a:rPr lang="en-US" dirty="0"/>
              <a:t>Writing into the HTML output using </a:t>
            </a:r>
            <a:r>
              <a:rPr lang="en-US" dirty="0" err="1"/>
              <a:t>document.write</a:t>
            </a:r>
            <a:r>
              <a:rPr lang="en-US" dirty="0"/>
              <a:t>().</a:t>
            </a:r>
          </a:p>
          <a:p>
            <a:pPr lvl="1"/>
            <a:r>
              <a:rPr lang="en-US" dirty="0"/>
              <a:t>Writing into an alert box, using </a:t>
            </a:r>
            <a:r>
              <a:rPr lang="en-US" dirty="0" err="1"/>
              <a:t>window.alert</a:t>
            </a:r>
            <a:r>
              <a:rPr lang="en-US" dirty="0"/>
              <a:t>().</a:t>
            </a:r>
          </a:p>
          <a:p>
            <a:pPr lvl="1"/>
            <a:r>
              <a:rPr lang="en-US" dirty="0"/>
              <a:t>Writing into the browser console, using console.log().</a:t>
            </a:r>
          </a:p>
          <a:p>
            <a:r>
              <a:rPr lang="en-US" dirty="0"/>
              <a:t>Using </a:t>
            </a:r>
            <a:r>
              <a:rPr lang="en-US" dirty="0" err="1"/>
              <a:t>document.write</a:t>
            </a:r>
            <a:r>
              <a:rPr lang="en-US" dirty="0"/>
              <a:t>() after an HTML document is loaded, will </a:t>
            </a:r>
            <a:r>
              <a:rPr lang="en-US" b="1" dirty="0"/>
              <a:t>delete all existing HTML</a:t>
            </a:r>
            <a:r>
              <a:rPr lang="en-US" dirty="0"/>
              <a:t>:</a:t>
            </a:r>
          </a:p>
        </p:txBody>
      </p:sp>
    </p:spTree>
    <p:extLst>
      <p:ext uri="{BB962C8B-B14F-4D97-AF65-F5344CB8AC3E}">
        <p14:creationId xmlns:p14="http://schemas.microsoft.com/office/powerpoint/2010/main" val="15385746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DC112-5185-471C-AC70-18A9BFE15DB2}"/>
              </a:ext>
            </a:extLst>
          </p:cNvPr>
          <p:cNvSpPr>
            <a:spLocks noGrp="1"/>
          </p:cNvSpPr>
          <p:nvPr>
            <p:ph type="title"/>
          </p:nvPr>
        </p:nvSpPr>
        <p:spPr/>
        <p:txBody>
          <a:bodyPr/>
          <a:lstStyle/>
          <a:p>
            <a:r>
              <a:rPr lang="en-US" dirty="0"/>
              <a:t>Where to put </a:t>
            </a:r>
            <a:r>
              <a:rPr lang="en-US" dirty="0" err="1"/>
              <a:t>javascript</a:t>
            </a:r>
            <a:endParaRPr lang="en-US" dirty="0"/>
          </a:p>
        </p:txBody>
      </p:sp>
      <p:sp>
        <p:nvSpPr>
          <p:cNvPr id="3" name="Content Placeholder 2">
            <a:extLst>
              <a:ext uri="{FF2B5EF4-FFF2-40B4-BE49-F238E27FC236}">
                <a16:creationId xmlns:a16="http://schemas.microsoft.com/office/drawing/2014/main" id="{8F616531-7912-4238-843C-41032906A2EF}"/>
              </a:ext>
            </a:extLst>
          </p:cNvPr>
          <p:cNvSpPr>
            <a:spLocks noGrp="1"/>
          </p:cNvSpPr>
          <p:nvPr>
            <p:ph idx="1"/>
          </p:nvPr>
        </p:nvSpPr>
        <p:spPr/>
        <p:txBody>
          <a:bodyPr/>
          <a:lstStyle/>
          <a:p>
            <a:r>
              <a:rPr lang="en-US" dirty="0"/>
              <a:t>Put ALL your JavaScript code in a JavaScript file with a .</a:t>
            </a:r>
            <a:r>
              <a:rPr lang="en-US" dirty="0" err="1"/>
              <a:t>js</a:t>
            </a:r>
            <a:r>
              <a:rPr lang="en-US" dirty="0"/>
              <a:t> extension.</a:t>
            </a:r>
          </a:p>
          <a:p>
            <a:r>
              <a:rPr lang="en-US" dirty="0"/>
              <a:t>Include that code in your HTML in a single script in the head section of your web page</a:t>
            </a:r>
          </a:p>
          <a:p>
            <a:r>
              <a:rPr lang="en-US" dirty="0"/>
              <a:t>Use the DEFER attribute to make sure the code loads asynchronously.  Defer also makes it so the code doesn't run until the web elements have been processed.</a:t>
            </a:r>
          </a:p>
          <a:p>
            <a:pPr marL="0" indent="0">
              <a:buNone/>
            </a:pPr>
            <a:r>
              <a:rPr lang="en-US" dirty="0"/>
              <a:t>	        &lt;script </a:t>
            </a:r>
            <a:r>
              <a:rPr lang="en-US" b="1" dirty="0"/>
              <a:t>defer</a:t>
            </a:r>
            <a:r>
              <a:rPr lang="en-US" dirty="0"/>
              <a:t> </a:t>
            </a:r>
            <a:r>
              <a:rPr lang="en-US" dirty="0" err="1"/>
              <a:t>src</a:t>
            </a:r>
            <a:r>
              <a:rPr lang="en-US" dirty="0"/>
              <a:t>="../scripts/myJavaScript.js"&gt;&lt;/script&gt;</a:t>
            </a:r>
          </a:p>
          <a:p>
            <a:r>
              <a:rPr lang="en-US" dirty="0"/>
              <a:t>Put all your classes and JavaScript functions at the TOP of the JavaScript file.</a:t>
            </a:r>
          </a:p>
          <a:p>
            <a:r>
              <a:rPr lang="en-US" dirty="0"/>
              <a:t>Put any immediately runnable code at the bottom of your JavaScript file.</a:t>
            </a:r>
          </a:p>
        </p:txBody>
      </p:sp>
    </p:spTree>
    <p:extLst>
      <p:ext uri="{BB962C8B-B14F-4D97-AF65-F5344CB8AC3E}">
        <p14:creationId xmlns:p14="http://schemas.microsoft.com/office/powerpoint/2010/main" val="13390477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69848" y="102498"/>
            <a:ext cx="10058400" cy="1609344"/>
          </a:xfrm>
        </p:spPr>
        <p:txBody>
          <a:bodyPr/>
          <a:lstStyle/>
          <a:p>
            <a:r>
              <a:rPr lang="en-US" dirty="0"/>
              <a:t>types</a:t>
            </a:r>
          </a:p>
        </p:txBody>
      </p:sp>
      <p:sp>
        <p:nvSpPr>
          <p:cNvPr id="3" name="Content Placeholder 2"/>
          <p:cNvSpPr>
            <a:spLocks noGrp="1"/>
          </p:cNvSpPr>
          <p:nvPr>
            <p:ph idx="1"/>
          </p:nvPr>
        </p:nvSpPr>
        <p:spPr>
          <a:xfrm>
            <a:off x="1069848" y="1260389"/>
            <a:ext cx="10058400" cy="4911811"/>
          </a:xfrm>
        </p:spPr>
        <p:txBody>
          <a:bodyPr>
            <a:normAutofit/>
          </a:bodyPr>
          <a:lstStyle/>
          <a:p>
            <a:r>
              <a:rPr lang="en-US" dirty="0"/>
              <a:t>Number</a:t>
            </a:r>
          </a:p>
          <a:p>
            <a:r>
              <a:rPr lang="en-US" dirty="0"/>
              <a:t>String</a:t>
            </a:r>
          </a:p>
          <a:p>
            <a:r>
              <a:rPr lang="en-US" dirty="0"/>
              <a:t>Boolean</a:t>
            </a:r>
          </a:p>
          <a:p>
            <a:r>
              <a:rPr lang="en-US" dirty="0"/>
              <a:t>Symbol (new in ES2015)</a:t>
            </a:r>
          </a:p>
          <a:p>
            <a:r>
              <a:rPr lang="en-US" dirty="0"/>
              <a:t>Object</a:t>
            </a:r>
          </a:p>
          <a:p>
            <a:pPr lvl="1"/>
            <a:r>
              <a:rPr lang="en-US" dirty="0"/>
              <a:t>Function</a:t>
            </a:r>
          </a:p>
          <a:p>
            <a:pPr lvl="1"/>
            <a:r>
              <a:rPr lang="en-US" dirty="0"/>
              <a:t>Array</a:t>
            </a:r>
          </a:p>
          <a:p>
            <a:pPr lvl="1"/>
            <a:r>
              <a:rPr lang="en-US" dirty="0"/>
              <a:t>Date</a:t>
            </a:r>
          </a:p>
          <a:p>
            <a:pPr lvl="1"/>
            <a:r>
              <a:rPr lang="en-US" dirty="0" err="1"/>
              <a:t>RegExp</a:t>
            </a:r>
            <a:endParaRPr lang="en-US" dirty="0"/>
          </a:p>
          <a:p>
            <a:pPr lvl="1"/>
            <a:r>
              <a:rPr lang="en-US" dirty="0" err="1"/>
              <a:t>BigInt</a:t>
            </a:r>
            <a:endParaRPr lang="en-US" dirty="0"/>
          </a:p>
          <a:p>
            <a:r>
              <a:rPr lang="en-US" dirty="0"/>
              <a:t>null</a:t>
            </a:r>
          </a:p>
          <a:p>
            <a:r>
              <a:rPr lang="en-US" dirty="0"/>
              <a:t>undefined</a:t>
            </a:r>
          </a:p>
          <a:p>
            <a:endParaRPr lang="en-US" dirty="0"/>
          </a:p>
        </p:txBody>
      </p:sp>
      <p:sp>
        <p:nvSpPr>
          <p:cNvPr id="4" name="TextBox 3">
            <a:extLst>
              <a:ext uri="{FF2B5EF4-FFF2-40B4-BE49-F238E27FC236}">
                <a16:creationId xmlns:a16="http://schemas.microsoft.com/office/drawing/2014/main" id="{48F1FA7E-FEA7-4F85-90F9-B3699761C101}"/>
              </a:ext>
            </a:extLst>
          </p:cNvPr>
          <p:cNvSpPr txBox="1"/>
          <p:nvPr/>
        </p:nvSpPr>
        <p:spPr>
          <a:xfrm>
            <a:off x="5486400" y="3059668"/>
            <a:ext cx="4330288" cy="369332"/>
          </a:xfrm>
          <a:prstGeom prst="rect">
            <a:avLst/>
          </a:prstGeom>
          <a:noFill/>
        </p:spPr>
        <p:txBody>
          <a:bodyPr wrap="none" rtlCol="0">
            <a:spAutoFit/>
          </a:bodyPr>
          <a:lstStyle/>
          <a:p>
            <a:r>
              <a:rPr lang="en-US" dirty="0"/>
              <a:t>Note what is missing: char.  int.  double.</a:t>
            </a:r>
          </a:p>
        </p:txBody>
      </p:sp>
    </p:spTree>
    <p:extLst>
      <p:ext uri="{BB962C8B-B14F-4D97-AF65-F5344CB8AC3E}">
        <p14:creationId xmlns:p14="http://schemas.microsoft.com/office/powerpoint/2010/main" val="26913108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Numbers</a:t>
            </a:r>
          </a:p>
        </p:txBody>
      </p:sp>
      <p:sp>
        <p:nvSpPr>
          <p:cNvPr id="3" name="Content Placeholder 2"/>
          <p:cNvSpPr>
            <a:spLocks noGrp="1"/>
          </p:cNvSpPr>
          <p:nvPr>
            <p:ph idx="1"/>
          </p:nvPr>
        </p:nvSpPr>
        <p:spPr/>
        <p:txBody>
          <a:bodyPr/>
          <a:lstStyle/>
          <a:p>
            <a:r>
              <a:rPr lang="en-US" dirty="0"/>
              <a:t>All numbers are stored as floating point.</a:t>
            </a:r>
          </a:p>
          <a:p>
            <a:r>
              <a:rPr lang="en-US" dirty="0"/>
              <a:t>In practice, integer values are treated as 32-bit </a:t>
            </a:r>
            <a:r>
              <a:rPr lang="en-US" dirty="0" err="1"/>
              <a:t>ints</a:t>
            </a:r>
            <a:r>
              <a:rPr lang="en-US" dirty="0"/>
              <a:t>, and some implementations even store it that way until they are asked to perform an instruction that's valid on a Number but not on a 32-bit integer. This can be important for bit-wise operations</a:t>
            </a:r>
          </a:p>
          <a:p>
            <a:r>
              <a:rPr lang="en-US" dirty="0"/>
              <a:t>Watch out for things like </a:t>
            </a:r>
          </a:p>
          <a:p>
            <a:pPr marL="0" indent="0">
              <a:buNone/>
            </a:pPr>
            <a:r>
              <a:rPr lang="en-US" dirty="0"/>
              <a:t>	0.1 + 0.2 == 0.30000000000000004;</a:t>
            </a:r>
          </a:p>
        </p:txBody>
      </p:sp>
    </p:spTree>
    <p:extLst>
      <p:ext uri="{BB962C8B-B14F-4D97-AF65-F5344CB8AC3E}">
        <p14:creationId xmlns:p14="http://schemas.microsoft.com/office/powerpoint/2010/main" val="2545284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Variables Types</a:t>
            </a:r>
          </a:p>
        </p:txBody>
      </p:sp>
      <p:sp>
        <p:nvSpPr>
          <p:cNvPr id="3" name="Content Placeholder 2"/>
          <p:cNvSpPr>
            <a:spLocks noGrp="1"/>
          </p:cNvSpPr>
          <p:nvPr>
            <p:ph idx="1"/>
          </p:nvPr>
        </p:nvSpPr>
        <p:spPr/>
        <p:txBody>
          <a:bodyPr/>
          <a:lstStyle/>
          <a:p>
            <a:r>
              <a:rPr lang="en-US" dirty="0"/>
              <a:t>Variables are not assigned a type</a:t>
            </a:r>
          </a:p>
          <a:p>
            <a:r>
              <a:rPr lang="en-US" dirty="0"/>
              <a:t>The data in the variable is typed</a:t>
            </a:r>
          </a:p>
          <a:p>
            <a:r>
              <a:rPr lang="en-US" dirty="0"/>
              <a:t>You can look at it as if the variable type changes to fit the data (dynamic)</a:t>
            </a:r>
          </a:p>
          <a:p>
            <a:pPr marL="0" indent="0">
              <a:buNone/>
            </a:pPr>
            <a:r>
              <a:rPr lang="es-ES" dirty="0"/>
              <a:t>	</a:t>
            </a:r>
            <a:r>
              <a:rPr lang="es-ES" dirty="0" err="1"/>
              <a:t>let</a:t>
            </a:r>
            <a:r>
              <a:rPr lang="es-ES" dirty="0"/>
              <a:t> x = "5";  	//</a:t>
            </a:r>
            <a:r>
              <a:rPr lang="es-ES" dirty="0" err="1"/>
              <a:t>Started</a:t>
            </a:r>
            <a:r>
              <a:rPr lang="es-ES" dirty="0"/>
              <a:t> as </a:t>
            </a:r>
            <a:r>
              <a:rPr lang="es-ES" dirty="0" err="1"/>
              <a:t>string</a:t>
            </a:r>
            <a:endParaRPr lang="es-ES" dirty="0"/>
          </a:p>
          <a:p>
            <a:pPr marL="0" indent="0">
              <a:buNone/>
            </a:pPr>
            <a:r>
              <a:rPr lang="es-ES" dirty="0"/>
              <a:t>	x = 5;		//</a:t>
            </a:r>
            <a:r>
              <a:rPr lang="es-ES" dirty="0" err="1"/>
              <a:t>Changed</a:t>
            </a:r>
            <a:r>
              <a:rPr lang="es-ES" dirty="0"/>
              <a:t> to </a:t>
            </a:r>
            <a:r>
              <a:rPr lang="es-ES" dirty="0" err="1"/>
              <a:t>number</a:t>
            </a:r>
            <a:endParaRPr lang="es-ES" dirty="0"/>
          </a:p>
          <a:p>
            <a:pPr marL="0" indent="0">
              <a:buNone/>
            </a:pPr>
            <a:r>
              <a:rPr lang="es-ES" dirty="0"/>
              <a:t>	y = 7;		//</a:t>
            </a:r>
            <a:r>
              <a:rPr lang="es-ES" dirty="0" err="1"/>
              <a:t>Not</a:t>
            </a:r>
            <a:r>
              <a:rPr lang="es-ES" dirty="0"/>
              <a:t> </a:t>
            </a:r>
            <a:r>
              <a:rPr lang="es-ES" dirty="0" err="1"/>
              <a:t>even</a:t>
            </a:r>
            <a:r>
              <a:rPr lang="es-ES" dirty="0"/>
              <a:t> </a:t>
            </a:r>
            <a:r>
              <a:rPr lang="es-ES" dirty="0" err="1"/>
              <a:t>defined</a:t>
            </a:r>
            <a:endParaRPr lang="es-ES" dirty="0"/>
          </a:p>
          <a:p>
            <a:pPr marL="0" indent="0">
              <a:buNone/>
            </a:pPr>
            <a:r>
              <a:rPr lang="es-ES" dirty="0"/>
              <a:t>	</a:t>
            </a:r>
            <a:r>
              <a:rPr lang="es-ES" dirty="0" err="1"/>
              <a:t>let</a:t>
            </a:r>
            <a:r>
              <a:rPr lang="es-ES" dirty="0"/>
              <a:t> z = x + y;	//Works as </a:t>
            </a:r>
            <a:r>
              <a:rPr lang="es-ES" dirty="0" err="1"/>
              <a:t>expected</a:t>
            </a:r>
            <a:endParaRPr lang="es-ES" dirty="0"/>
          </a:p>
          <a:p>
            <a:pPr marL="0" indent="0">
              <a:buNone/>
            </a:pPr>
            <a:r>
              <a:rPr lang="es-ES" dirty="0"/>
              <a:t>	</a:t>
            </a:r>
            <a:r>
              <a:rPr lang="es-ES" dirty="0" err="1"/>
              <a:t>document.write</a:t>
            </a:r>
            <a:r>
              <a:rPr lang="es-ES" dirty="0"/>
              <a:t>(z);</a:t>
            </a:r>
            <a:endParaRPr lang="en-US" dirty="0"/>
          </a:p>
        </p:txBody>
      </p:sp>
    </p:spTree>
    <p:extLst>
      <p:ext uri="{BB962C8B-B14F-4D97-AF65-F5344CB8AC3E}">
        <p14:creationId xmlns:p14="http://schemas.microsoft.com/office/powerpoint/2010/main" val="210931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B4666-134F-478A-AFB0-B9652CAA8E81}"/>
              </a:ext>
            </a:extLst>
          </p:cNvPr>
          <p:cNvSpPr>
            <a:spLocks noGrp="1"/>
          </p:cNvSpPr>
          <p:nvPr>
            <p:ph type="title"/>
          </p:nvPr>
        </p:nvSpPr>
        <p:spPr/>
        <p:txBody>
          <a:bodyPr/>
          <a:lstStyle/>
          <a:p>
            <a:r>
              <a:rPr lang="en-US" dirty="0" err="1"/>
              <a:t>Javascript</a:t>
            </a:r>
            <a:r>
              <a:rPr lang="en-US" dirty="0"/>
              <a:t> is different</a:t>
            </a:r>
          </a:p>
        </p:txBody>
      </p:sp>
      <p:sp>
        <p:nvSpPr>
          <p:cNvPr id="3" name="Content Placeholder 2">
            <a:extLst>
              <a:ext uri="{FF2B5EF4-FFF2-40B4-BE49-F238E27FC236}">
                <a16:creationId xmlns:a16="http://schemas.microsoft.com/office/drawing/2014/main" id="{906D03DE-E3E5-4949-9C98-45EDD4B2DADE}"/>
              </a:ext>
            </a:extLst>
          </p:cNvPr>
          <p:cNvSpPr>
            <a:spLocks noGrp="1"/>
          </p:cNvSpPr>
          <p:nvPr>
            <p:ph idx="1"/>
          </p:nvPr>
        </p:nvSpPr>
        <p:spPr/>
        <p:txBody>
          <a:bodyPr>
            <a:normAutofit/>
          </a:bodyPr>
          <a:lstStyle/>
          <a:p>
            <a:r>
              <a:rPr lang="en-US" dirty="0"/>
              <a:t>JavaScript is unlike Java in a lot of ways.</a:t>
            </a:r>
          </a:p>
          <a:p>
            <a:r>
              <a:rPr lang="en-US" dirty="0"/>
              <a:t>There are some very weird parts that we will discuss later.</a:t>
            </a:r>
          </a:p>
          <a:p>
            <a:r>
              <a:rPr lang="en-US" dirty="0"/>
              <a:t>Variables are not strongly typed.  (What the typing might be is a bit confusing, but it is definitely NOT strongly typed.)</a:t>
            </a:r>
          </a:p>
          <a:p>
            <a:pPr marL="0" indent="0">
              <a:buNone/>
            </a:pPr>
            <a:r>
              <a:rPr lang="en-US" dirty="0"/>
              <a:t>      let x = 5;</a:t>
            </a:r>
          </a:p>
          <a:p>
            <a:pPr marL="0" indent="0">
              <a:buNone/>
            </a:pPr>
            <a:r>
              <a:rPr lang="en-US" dirty="0"/>
              <a:t>      let y = "5";</a:t>
            </a:r>
          </a:p>
          <a:p>
            <a:pPr marL="0" indent="0">
              <a:buNone/>
            </a:pPr>
            <a:r>
              <a:rPr lang="en-US" dirty="0"/>
              <a:t>      if (x == y) </a:t>
            </a:r>
            <a:r>
              <a:rPr lang="en-US" dirty="0" err="1"/>
              <a:t>console.log</a:t>
            </a:r>
            <a:r>
              <a:rPr lang="en-US" dirty="0"/>
              <a:t>("Equal");</a:t>
            </a:r>
          </a:p>
          <a:p>
            <a:pPr marL="0" indent="0">
              <a:buNone/>
            </a:pPr>
            <a:r>
              <a:rPr lang="en-US" dirty="0"/>
              <a:t>      else </a:t>
            </a:r>
            <a:r>
              <a:rPr lang="en-US" dirty="0" err="1"/>
              <a:t>console.log</a:t>
            </a:r>
            <a:r>
              <a:rPr lang="en-US" dirty="0"/>
              <a:t>("Not Equal");</a:t>
            </a:r>
          </a:p>
          <a:p>
            <a:r>
              <a:rPr lang="en-US" dirty="0"/>
              <a:t>Use === to compare without converting.</a:t>
            </a:r>
          </a:p>
        </p:txBody>
      </p:sp>
    </p:spTree>
    <p:extLst>
      <p:ext uri="{BB962C8B-B14F-4D97-AF65-F5344CB8AC3E}">
        <p14:creationId xmlns:p14="http://schemas.microsoft.com/office/powerpoint/2010/main" val="11140769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conversion to number</a:t>
            </a:r>
          </a:p>
        </p:txBody>
      </p:sp>
      <p:sp>
        <p:nvSpPr>
          <p:cNvPr id="3" name="Content Placeholder 2"/>
          <p:cNvSpPr>
            <a:spLocks noGrp="1"/>
          </p:cNvSpPr>
          <p:nvPr>
            <p:ph idx="1"/>
          </p:nvPr>
        </p:nvSpPr>
        <p:spPr/>
        <p:txBody>
          <a:bodyPr>
            <a:normAutofit fontScale="92500" lnSpcReduction="20000"/>
          </a:bodyPr>
          <a:lstStyle/>
          <a:p>
            <a:r>
              <a:rPr lang="en-US" dirty="0"/>
              <a:t>You can use the unary + operator to convert values to numbers:</a:t>
            </a:r>
          </a:p>
          <a:p>
            <a:endParaRPr lang="en-US" dirty="0"/>
          </a:p>
          <a:p>
            <a:pPr marL="0" indent="0">
              <a:buNone/>
            </a:pPr>
            <a:r>
              <a:rPr lang="en-US" dirty="0"/>
              <a:t>	x = + '42';   // 42</a:t>
            </a:r>
          </a:p>
          <a:p>
            <a:pPr marL="0" indent="0">
              <a:buNone/>
            </a:pPr>
            <a:r>
              <a:rPr lang="en-US" dirty="0"/>
              <a:t>	y = + '010';  // 10</a:t>
            </a:r>
          </a:p>
          <a:p>
            <a:pPr marL="0" indent="0">
              <a:buNone/>
            </a:pPr>
            <a:r>
              <a:rPr lang="en-US" dirty="0"/>
              <a:t>	z = + '0x10'; // 16</a:t>
            </a:r>
          </a:p>
          <a:p>
            <a:pPr marL="0" indent="0">
              <a:buNone/>
            </a:pPr>
            <a:endParaRPr lang="en-US" dirty="0"/>
          </a:p>
          <a:p>
            <a:pPr marL="0" indent="0">
              <a:buNone/>
            </a:pPr>
            <a:r>
              <a:rPr lang="en-US" dirty="0" err="1"/>
              <a:t>parseInt</a:t>
            </a:r>
            <a:r>
              <a:rPr lang="en-US" dirty="0"/>
              <a:t>(string, base) </a:t>
            </a:r>
          </a:p>
          <a:p>
            <a:pPr marL="0" indent="0">
              <a:buNone/>
            </a:pPr>
            <a:r>
              <a:rPr lang="en-US" dirty="0"/>
              <a:t>	let m = </a:t>
            </a:r>
            <a:r>
              <a:rPr lang="en-US" dirty="0" err="1"/>
              <a:t>parseInt</a:t>
            </a:r>
            <a:r>
              <a:rPr lang="en-US" dirty="0"/>
              <a:t>('AB', 16);</a:t>
            </a:r>
          </a:p>
          <a:p>
            <a:pPr marL="0" indent="0">
              <a:buNone/>
            </a:pPr>
            <a:endParaRPr lang="en-US" dirty="0"/>
          </a:p>
          <a:p>
            <a:pPr marL="0" indent="0">
              <a:buNone/>
            </a:pPr>
            <a:r>
              <a:rPr lang="en-US" dirty="0" err="1"/>
              <a:t>parseFloat</a:t>
            </a:r>
            <a:r>
              <a:rPr lang="en-US" dirty="0"/>
              <a:t>(string)</a:t>
            </a:r>
          </a:p>
          <a:p>
            <a:pPr marL="0" indent="0">
              <a:buNone/>
            </a:pPr>
            <a:r>
              <a:rPr lang="en-US" dirty="0"/>
              <a:t>	let n = </a:t>
            </a:r>
            <a:r>
              <a:rPr lang="en-US" dirty="0" err="1"/>
              <a:t>parseFloat</a:t>
            </a:r>
            <a:r>
              <a:rPr lang="en-US" dirty="0"/>
              <a:t>("2.333");</a:t>
            </a:r>
          </a:p>
        </p:txBody>
      </p:sp>
    </p:spTree>
    <p:extLst>
      <p:ext uri="{BB962C8B-B14F-4D97-AF65-F5344CB8AC3E}">
        <p14:creationId xmlns:p14="http://schemas.microsoft.com/office/powerpoint/2010/main" val="23212129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Automatic conversion</a:t>
            </a:r>
          </a:p>
        </p:txBody>
      </p:sp>
      <p:sp>
        <p:nvSpPr>
          <p:cNvPr id="3" name="Content Placeholder 2"/>
          <p:cNvSpPr>
            <a:spLocks noGrp="1"/>
          </p:cNvSpPr>
          <p:nvPr>
            <p:ph idx="1"/>
          </p:nvPr>
        </p:nvSpPr>
        <p:spPr/>
        <p:txBody>
          <a:bodyPr/>
          <a:lstStyle/>
          <a:p>
            <a:r>
              <a:rPr lang="en-US" dirty="0"/>
              <a:t>Console.log("6" / "5"); //1.2</a:t>
            </a:r>
          </a:p>
          <a:p>
            <a:r>
              <a:rPr lang="en-US" dirty="0"/>
              <a:t>Console.log("6" * "5"); //30</a:t>
            </a:r>
          </a:p>
          <a:p>
            <a:r>
              <a:rPr lang="en-US" dirty="0"/>
              <a:t>Console.log("6" - "5"); //1</a:t>
            </a:r>
          </a:p>
          <a:p>
            <a:r>
              <a:rPr lang="en-US" dirty="0"/>
              <a:t>Console.log("6" + "5"); //65??</a:t>
            </a:r>
          </a:p>
          <a:p>
            <a:endParaRPr lang="en-US" dirty="0"/>
          </a:p>
          <a:p>
            <a:endParaRPr lang="en-US" dirty="0"/>
          </a:p>
        </p:txBody>
      </p:sp>
    </p:spTree>
    <p:extLst>
      <p:ext uri="{BB962C8B-B14F-4D97-AF65-F5344CB8AC3E}">
        <p14:creationId xmlns:p14="http://schemas.microsoft.com/office/powerpoint/2010/main" val="15944945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Infinity and </a:t>
            </a:r>
            <a:r>
              <a:rPr lang="en-US" dirty="0" err="1"/>
              <a:t>NaN</a:t>
            </a:r>
            <a:endParaRPr lang="en-US" dirty="0"/>
          </a:p>
        </p:txBody>
      </p:sp>
      <p:sp>
        <p:nvSpPr>
          <p:cNvPr id="3" name="Content Placeholder 2"/>
          <p:cNvSpPr>
            <a:spLocks noGrp="1"/>
          </p:cNvSpPr>
          <p:nvPr>
            <p:ph idx="1"/>
          </p:nvPr>
        </p:nvSpPr>
        <p:spPr/>
        <p:txBody>
          <a:bodyPr>
            <a:normAutofit fontScale="70000" lnSpcReduction="20000"/>
          </a:bodyPr>
          <a:lstStyle/>
          <a:p>
            <a:r>
              <a:rPr lang="en-US" dirty="0"/>
              <a:t>A special value called </a:t>
            </a:r>
            <a:r>
              <a:rPr lang="en-US" dirty="0" err="1"/>
              <a:t>NaN</a:t>
            </a:r>
            <a:r>
              <a:rPr lang="en-US" dirty="0"/>
              <a:t> (short for "Not a Number") is returned if the string is non-numeric:</a:t>
            </a:r>
          </a:p>
          <a:p>
            <a:r>
              <a:rPr lang="en-US" dirty="0" err="1"/>
              <a:t>parseInt</a:t>
            </a:r>
            <a:r>
              <a:rPr lang="en-US" dirty="0"/>
              <a:t>('hello', 10); // </a:t>
            </a:r>
            <a:r>
              <a:rPr lang="en-US" dirty="0" err="1"/>
              <a:t>NaN</a:t>
            </a:r>
            <a:endParaRPr lang="en-US" dirty="0"/>
          </a:p>
          <a:p>
            <a:r>
              <a:rPr lang="en-US" dirty="0" err="1"/>
              <a:t>NaN</a:t>
            </a:r>
            <a:r>
              <a:rPr lang="en-US" dirty="0"/>
              <a:t> is toxic: if you provide it as an operand to any mathematical operation, the result will also be </a:t>
            </a:r>
            <a:r>
              <a:rPr lang="en-US" dirty="0" err="1"/>
              <a:t>NaN</a:t>
            </a:r>
            <a:r>
              <a:rPr lang="en-US" dirty="0"/>
              <a:t>:</a:t>
            </a:r>
          </a:p>
          <a:p>
            <a:r>
              <a:rPr lang="en-US" dirty="0" err="1"/>
              <a:t>NaN</a:t>
            </a:r>
            <a:r>
              <a:rPr lang="en-US" dirty="0"/>
              <a:t> + 5; // </a:t>
            </a:r>
            <a:r>
              <a:rPr lang="en-US" dirty="0" err="1"/>
              <a:t>NaN</a:t>
            </a:r>
            <a:endParaRPr lang="en-US" dirty="0"/>
          </a:p>
          <a:p>
            <a:r>
              <a:rPr lang="en-US" dirty="0"/>
              <a:t>You can test for </a:t>
            </a:r>
            <a:r>
              <a:rPr lang="en-US" dirty="0" err="1"/>
              <a:t>NaN</a:t>
            </a:r>
            <a:r>
              <a:rPr lang="en-US" dirty="0"/>
              <a:t> using the built-in </a:t>
            </a:r>
            <a:r>
              <a:rPr lang="en-US" dirty="0" err="1"/>
              <a:t>isNaN</a:t>
            </a:r>
            <a:r>
              <a:rPr lang="en-US" dirty="0"/>
              <a:t>() function:</a:t>
            </a:r>
          </a:p>
          <a:p>
            <a:r>
              <a:rPr lang="en-US" dirty="0" err="1"/>
              <a:t>isNaN</a:t>
            </a:r>
            <a:r>
              <a:rPr lang="en-US" dirty="0"/>
              <a:t>(</a:t>
            </a:r>
            <a:r>
              <a:rPr lang="en-US" dirty="0" err="1"/>
              <a:t>NaN</a:t>
            </a:r>
            <a:r>
              <a:rPr lang="en-US" dirty="0"/>
              <a:t>); // true</a:t>
            </a:r>
          </a:p>
          <a:p>
            <a:r>
              <a:rPr lang="en-US" dirty="0"/>
              <a:t>JavaScript also has the special values Infinity and -Infinity:</a:t>
            </a:r>
          </a:p>
          <a:p>
            <a:r>
              <a:rPr lang="en-US" dirty="0"/>
              <a:t>1 / 0; //  Infinity</a:t>
            </a:r>
          </a:p>
          <a:p>
            <a:r>
              <a:rPr lang="en-US" dirty="0"/>
              <a:t>-1 / 0; // -Infinity</a:t>
            </a:r>
          </a:p>
          <a:p>
            <a:r>
              <a:rPr lang="en-US" dirty="0"/>
              <a:t>You can test for Infinity, -Infinity and </a:t>
            </a:r>
            <a:r>
              <a:rPr lang="en-US" dirty="0" err="1"/>
              <a:t>NaN</a:t>
            </a:r>
            <a:r>
              <a:rPr lang="en-US" dirty="0"/>
              <a:t> values using the built-in </a:t>
            </a:r>
            <a:r>
              <a:rPr lang="en-US" dirty="0" err="1"/>
              <a:t>isFinite</a:t>
            </a:r>
            <a:r>
              <a:rPr lang="en-US" dirty="0"/>
              <a:t>() function:</a:t>
            </a:r>
          </a:p>
          <a:p>
            <a:r>
              <a:rPr lang="en-US" dirty="0" err="1"/>
              <a:t>isFinite</a:t>
            </a:r>
            <a:r>
              <a:rPr lang="en-US" dirty="0"/>
              <a:t>(1 / 0); // false</a:t>
            </a:r>
          </a:p>
          <a:p>
            <a:r>
              <a:rPr lang="en-US" dirty="0" err="1"/>
              <a:t>isFinite</a:t>
            </a:r>
            <a:r>
              <a:rPr lang="en-US" dirty="0"/>
              <a:t>(-Infinity); // false</a:t>
            </a:r>
          </a:p>
          <a:p>
            <a:r>
              <a:rPr lang="en-US" dirty="0" err="1"/>
              <a:t>isFinite</a:t>
            </a:r>
            <a:r>
              <a:rPr lang="en-US" dirty="0"/>
              <a:t>(</a:t>
            </a:r>
            <a:r>
              <a:rPr lang="en-US" dirty="0" err="1"/>
              <a:t>NaN</a:t>
            </a:r>
            <a:r>
              <a:rPr lang="en-US" dirty="0"/>
              <a:t>); // false</a:t>
            </a:r>
          </a:p>
        </p:txBody>
      </p:sp>
    </p:spTree>
    <p:extLst>
      <p:ext uri="{BB962C8B-B14F-4D97-AF65-F5344CB8AC3E}">
        <p14:creationId xmlns:p14="http://schemas.microsoft.com/office/powerpoint/2010/main" val="19297029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6C59A-FCC1-765B-342C-E344DF49B804}"/>
              </a:ext>
            </a:extLst>
          </p:cNvPr>
          <p:cNvSpPr>
            <a:spLocks noGrp="1"/>
          </p:cNvSpPr>
          <p:nvPr>
            <p:ph type="title"/>
          </p:nvPr>
        </p:nvSpPr>
        <p:spPr/>
        <p:txBody>
          <a:bodyPr/>
          <a:lstStyle/>
          <a:p>
            <a:r>
              <a:rPr lang="en-US" dirty="0"/>
              <a:t>Fun </a:t>
            </a:r>
            <a:r>
              <a:rPr lang="en-US"/>
              <a:t>with nan</a:t>
            </a:r>
            <a:endParaRPr lang="en-US" dirty="0"/>
          </a:p>
        </p:txBody>
      </p:sp>
      <p:sp>
        <p:nvSpPr>
          <p:cNvPr id="3" name="Content Placeholder 2">
            <a:extLst>
              <a:ext uri="{FF2B5EF4-FFF2-40B4-BE49-F238E27FC236}">
                <a16:creationId xmlns:a16="http://schemas.microsoft.com/office/drawing/2014/main" id="{AE3D211E-D074-0707-8D7C-5B3F6A7C126A}"/>
              </a:ext>
            </a:extLst>
          </p:cNvPr>
          <p:cNvSpPr>
            <a:spLocks noGrp="1"/>
          </p:cNvSpPr>
          <p:nvPr>
            <p:ph idx="1"/>
          </p:nvPr>
        </p:nvSpPr>
        <p:spPr/>
        <p:txBody>
          <a:bodyPr/>
          <a:lstStyle/>
          <a:p>
            <a:pPr marL="0" indent="0">
              <a:buNone/>
            </a:pPr>
            <a:r>
              <a:rPr lang="pt-BR" dirty="0"/>
              <a:t>"b" + "a" + +"a" + "a"; // -&gt; 'baNaNa'</a:t>
            </a:r>
          </a:p>
          <a:p>
            <a:pPr marL="0" indent="0">
              <a:buNone/>
            </a:pPr>
            <a:endParaRPr lang="pt-BR" dirty="0"/>
          </a:p>
          <a:p>
            <a:pPr marL="0" indent="0">
              <a:buNone/>
            </a:pPr>
            <a:r>
              <a:rPr lang="pt-BR" dirty="0"/>
              <a:t>"foo" + +"bar"; // -&gt; 'fooNaN'</a:t>
            </a:r>
          </a:p>
          <a:p>
            <a:pPr marL="0" indent="0">
              <a:buNone/>
            </a:pPr>
            <a:endParaRPr lang="en-US" dirty="0"/>
          </a:p>
          <a:p>
            <a:pPr marL="0" indent="0">
              <a:buNone/>
            </a:pPr>
            <a:r>
              <a:rPr lang="en-US" dirty="0" err="1"/>
              <a:t>NaN</a:t>
            </a:r>
            <a:r>
              <a:rPr lang="en-US" dirty="0"/>
              <a:t> === </a:t>
            </a:r>
            <a:r>
              <a:rPr lang="en-US" dirty="0" err="1"/>
              <a:t>NaN</a:t>
            </a:r>
            <a:r>
              <a:rPr lang="en-US" dirty="0"/>
              <a:t>; // -&gt; false</a:t>
            </a:r>
          </a:p>
        </p:txBody>
      </p:sp>
    </p:spTree>
    <p:extLst>
      <p:ext uri="{BB962C8B-B14F-4D97-AF65-F5344CB8AC3E}">
        <p14:creationId xmlns:p14="http://schemas.microsoft.com/office/powerpoint/2010/main" val="6353940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Null and Undefined</a:t>
            </a:r>
          </a:p>
        </p:txBody>
      </p:sp>
      <p:sp>
        <p:nvSpPr>
          <p:cNvPr id="3" name="Content Placeholder 2"/>
          <p:cNvSpPr>
            <a:spLocks noGrp="1"/>
          </p:cNvSpPr>
          <p:nvPr>
            <p:ph idx="1"/>
          </p:nvPr>
        </p:nvSpPr>
        <p:spPr/>
        <p:txBody>
          <a:bodyPr/>
          <a:lstStyle/>
          <a:p>
            <a:r>
              <a:rPr lang="en-US" dirty="0"/>
              <a:t>JavaScript distinguishes between these two</a:t>
            </a:r>
          </a:p>
          <a:p>
            <a:r>
              <a:rPr lang="en-US" dirty="0"/>
              <a:t>Null - a value that indicates a deliberate non-value (and is only accessible through the null keyword)</a:t>
            </a:r>
          </a:p>
          <a:p>
            <a:r>
              <a:rPr lang="en-US" dirty="0"/>
              <a:t>Undefined - a value of type undefined that indicates an uninitialized variable — that is, a value hasn't even been assigned yet. </a:t>
            </a:r>
          </a:p>
          <a:p>
            <a:r>
              <a:rPr lang="en-US" dirty="0"/>
              <a:t>It is possible to declare a variable without assigning a value to it. If you do this, the variable's type is undefined. undefined is actually a constant.</a:t>
            </a:r>
          </a:p>
        </p:txBody>
      </p:sp>
    </p:spTree>
    <p:extLst>
      <p:ext uri="{BB962C8B-B14F-4D97-AF65-F5344CB8AC3E}">
        <p14:creationId xmlns:p14="http://schemas.microsoft.com/office/powerpoint/2010/main" val="15393661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69848" y="298895"/>
            <a:ext cx="10058400" cy="515493"/>
          </a:xfrm>
        </p:spPr>
        <p:txBody>
          <a:bodyPr>
            <a:normAutofit fontScale="90000"/>
          </a:bodyPr>
          <a:lstStyle/>
          <a:p>
            <a:r>
              <a:rPr lang="en-US" dirty="0"/>
              <a:t>Boolean</a:t>
            </a:r>
          </a:p>
        </p:txBody>
      </p:sp>
      <p:sp>
        <p:nvSpPr>
          <p:cNvPr id="3" name="Content Placeholder 2"/>
          <p:cNvSpPr>
            <a:spLocks noGrp="1"/>
          </p:cNvSpPr>
          <p:nvPr>
            <p:ph idx="1"/>
          </p:nvPr>
        </p:nvSpPr>
        <p:spPr>
          <a:xfrm>
            <a:off x="1069848" y="1143000"/>
            <a:ext cx="10058400" cy="5029200"/>
          </a:xfrm>
        </p:spPr>
        <p:txBody>
          <a:bodyPr>
            <a:normAutofit lnSpcReduction="10000"/>
          </a:bodyPr>
          <a:lstStyle/>
          <a:p>
            <a:r>
              <a:rPr lang="en-US" dirty="0"/>
              <a:t>JavaScript has a Boolean type, with possible values true and false (both of which are keywords.) Any value can be converted to a Boolean according to the following rules:</a:t>
            </a:r>
          </a:p>
          <a:p>
            <a:pPr marL="0" indent="0">
              <a:buNone/>
            </a:pPr>
            <a:r>
              <a:rPr lang="en-US" dirty="0"/>
              <a:t>	false, 0, empty strings (""), </a:t>
            </a:r>
            <a:r>
              <a:rPr lang="en-US" dirty="0" err="1"/>
              <a:t>NaN</a:t>
            </a:r>
            <a:r>
              <a:rPr lang="en-US" dirty="0"/>
              <a:t>, null, and undefined all become false.</a:t>
            </a:r>
          </a:p>
          <a:p>
            <a:pPr marL="0" indent="0">
              <a:buNone/>
            </a:pPr>
            <a:r>
              <a:rPr lang="en-US" dirty="0"/>
              <a:t>	All other values become true.</a:t>
            </a:r>
          </a:p>
          <a:p>
            <a:pPr marL="0" indent="0">
              <a:buNone/>
            </a:pPr>
            <a:r>
              <a:rPr lang="en-US" dirty="0"/>
              <a:t>You can perform this conversion explicitly using the Boolean() function:</a:t>
            </a:r>
          </a:p>
          <a:p>
            <a:pPr marL="0" indent="0">
              <a:buNone/>
            </a:pPr>
            <a:r>
              <a:rPr lang="en-US" dirty="0"/>
              <a:t>	Boolean('');  // false</a:t>
            </a:r>
          </a:p>
          <a:p>
            <a:pPr marL="0" indent="0">
              <a:buNone/>
            </a:pPr>
            <a:r>
              <a:rPr lang="en-US" dirty="0"/>
              <a:t>	Boolean(234); // true</a:t>
            </a:r>
          </a:p>
          <a:p>
            <a:r>
              <a:rPr lang="en-US" dirty="0"/>
              <a:t>However, this is rarely necessary, as JavaScript will silently perform this conversion when it expects a Boolean, such as in an if statement (see below). </a:t>
            </a:r>
          </a:p>
          <a:p>
            <a:r>
              <a:rPr lang="en-US" dirty="0"/>
              <a:t>For this reason, we sometimes speak simply of "true values" and "false values," meaning values that become true and false, respectively, when converted to Booleans. Alternatively, such values can be called </a:t>
            </a:r>
            <a:r>
              <a:rPr lang="en-US" b="1" dirty="0"/>
              <a:t>"</a:t>
            </a:r>
            <a:r>
              <a:rPr lang="en-US" b="1" dirty="0" err="1"/>
              <a:t>truthy</a:t>
            </a:r>
            <a:r>
              <a:rPr lang="en-US" b="1" dirty="0"/>
              <a:t>" and "</a:t>
            </a:r>
            <a:r>
              <a:rPr lang="en-US" b="1" dirty="0" err="1"/>
              <a:t>falsy</a:t>
            </a:r>
            <a:r>
              <a:rPr lang="en-US" b="1" dirty="0"/>
              <a:t>"</a:t>
            </a:r>
            <a:r>
              <a:rPr lang="en-US" dirty="0"/>
              <a:t>, respectively.</a:t>
            </a:r>
          </a:p>
          <a:p>
            <a:r>
              <a:rPr lang="en-US" dirty="0"/>
              <a:t>Strangely enough Boolean("0") returns true as does Boolean(" ")</a:t>
            </a:r>
          </a:p>
        </p:txBody>
      </p:sp>
    </p:spTree>
    <p:extLst>
      <p:ext uri="{BB962C8B-B14F-4D97-AF65-F5344CB8AC3E}">
        <p14:creationId xmlns:p14="http://schemas.microsoft.com/office/powerpoint/2010/main" val="23884669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Number Functions</a:t>
            </a:r>
          </a:p>
        </p:txBody>
      </p:sp>
      <p:graphicFrame>
        <p:nvGraphicFramePr>
          <p:cNvPr id="4" name="Table 3"/>
          <p:cNvGraphicFramePr>
            <a:graphicFrameLocks noGrp="1"/>
          </p:cNvGraphicFramePr>
          <p:nvPr>
            <p:extLst>
              <p:ext uri="{D42A27DB-BD31-4B8C-83A1-F6EECF244321}">
                <p14:modId xmlns:p14="http://schemas.microsoft.com/office/powerpoint/2010/main" val="3441405325"/>
              </p:ext>
            </p:extLst>
          </p:nvPr>
        </p:nvGraphicFramePr>
        <p:xfrm>
          <a:off x="1769076" y="1884406"/>
          <a:ext cx="8229600" cy="3098200"/>
        </p:xfrm>
        <a:graphic>
          <a:graphicData uri="http://schemas.openxmlformats.org/drawingml/2006/table">
            <a:tbl>
              <a:tblPr firstRow="1"/>
              <a:tblGrid>
                <a:gridCol w="1792271">
                  <a:extLst>
                    <a:ext uri="{9D8B030D-6E8A-4147-A177-3AD203B41FA5}">
                      <a16:colId xmlns:a16="http://schemas.microsoft.com/office/drawing/2014/main" val="20000"/>
                    </a:ext>
                  </a:extLst>
                </a:gridCol>
                <a:gridCol w="6437329">
                  <a:extLst>
                    <a:ext uri="{9D8B030D-6E8A-4147-A177-3AD203B41FA5}">
                      <a16:colId xmlns:a16="http://schemas.microsoft.com/office/drawing/2014/main" val="20001"/>
                    </a:ext>
                  </a:extLst>
                </a:gridCol>
              </a:tblGrid>
              <a:tr h="309820">
                <a:tc>
                  <a:txBody>
                    <a:bodyPr/>
                    <a:lstStyle/>
                    <a:p>
                      <a:pPr algn="l" fontAlgn="t"/>
                      <a:r>
                        <a:rPr lang="en-US" sz="1300" b="1">
                          <a:effectLst/>
                        </a:rPr>
                        <a:t>Method</a:t>
                      </a:r>
                    </a:p>
                  </a:txBody>
                  <a:tcPr marL="110650" marR="55325" marT="55325" marB="553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300" b="1" dirty="0">
                          <a:effectLst/>
                        </a:rPr>
                        <a:t>Description</a:t>
                      </a:r>
                    </a:p>
                  </a:txBody>
                  <a:tcPr marL="55325" marR="55325" marT="55325" marB="553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09820">
                <a:tc>
                  <a:txBody>
                    <a:bodyPr/>
                    <a:lstStyle/>
                    <a:p>
                      <a:pPr algn="l" fontAlgn="t"/>
                      <a:r>
                        <a:rPr lang="en-US" sz="1300" dirty="0" err="1">
                          <a:solidFill>
                            <a:schemeClr val="tx1"/>
                          </a:solidFill>
                          <a:effectLst/>
                          <a:hlinkClick r:id="rId2">
                            <a:extLst>
                              <a:ext uri="{A12FA001-AC4F-418D-AE19-62706E023703}">
                                <ahyp:hlinkClr xmlns:ahyp="http://schemas.microsoft.com/office/drawing/2018/hyperlinkcolor" val="tx"/>
                              </a:ext>
                            </a:extLst>
                          </a:hlinkClick>
                        </a:rPr>
                        <a:t>isFinite</a:t>
                      </a:r>
                      <a:r>
                        <a:rPr lang="en-US" sz="1300" dirty="0">
                          <a:solidFill>
                            <a:schemeClr val="tx1"/>
                          </a:solidFill>
                          <a:effectLst/>
                          <a:hlinkClick r:id="rId2">
                            <a:extLst>
                              <a:ext uri="{A12FA001-AC4F-418D-AE19-62706E023703}">
                                <ahyp:hlinkClr xmlns:ahyp="http://schemas.microsoft.com/office/drawing/2018/hyperlinkcolor" val="tx"/>
                              </a:ext>
                            </a:extLst>
                          </a:hlinkClick>
                        </a:rPr>
                        <a:t>()</a:t>
                      </a:r>
                      <a:endParaRPr lang="en-US" sz="1300" dirty="0">
                        <a:solidFill>
                          <a:schemeClr val="tx1"/>
                        </a:solidFill>
                        <a:effectLst/>
                      </a:endParaRPr>
                    </a:p>
                  </a:txBody>
                  <a:tcPr marL="110650" marR="55325" marT="55325" marB="553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300">
                          <a:effectLst/>
                        </a:rPr>
                        <a:t>Checks whether a value is a finite number</a:t>
                      </a:r>
                    </a:p>
                  </a:txBody>
                  <a:tcPr marL="55325" marR="55325" marT="55325" marB="553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r h="309820">
                <a:tc>
                  <a:txBody>
                    <a:bodyPr/>
                    <a:lstStyle/>
                    <a:p>
                      <a:pPr algn="l" fontAlgn="t"/>
                      <a:r>
                        <a:rPr lang="en-US" sz="1300" dirty="0" err="1">
                          <a:solidFill>
                            <a:schemeClr val="tx1"/>
                          </a:solidFill>
                          <a:effectLst/>
                          <a:hlinkClick r:id="rId3">
                            <a:extLst>
                              <a:ext uri="{A12FA001-AC4F-418D-AE19-62706E023703}">
                                <ahyp:hlinkClr xmlns:ahyp="http://schemas.microsoft.com/office/drawing/2018/hyperlinkcolor" val="tx"/>
                              </a:ext>
                            </a:extLst>
                          </a:hlinkClick>
                        </a:rPr>
                        <a:t>isInteger</a:t>
                      </a:r>
                      <a:r>
                        <a:rPr lang="en-US" sz="1300" dirty="0">
                          <a:solidFill>
                            <a:schemeClr val="tx1"/>
                          </a:solidFill>
                          <a:effectLst/>
                          <a:hlinkClick r:id="rId3">
                            <a:extLst>
                              <a:ext uri="{A12FA001-AC4F-418D-AE19-62706E023703}">
                                <ahyp:hlinkClr xmlns:ahyp="http://schemas.microsoft.com/office/drawing/2018/hyperlinkcolor" val="tx"/>
                              </a:ext>
                            </a:extLst>
                          </a:hlinkClick>
                        </a:rPr>
                        <a:t>()</a:t>
                      </a:r>
                      <a:endParaRPr lang="en-US" sz="1300" dirty="0">
                        <a:solidFill>
                          <a:schemeClr val="tx1"/>
                        </a:solidFill>
                        <a:effectLst/>
                      </a:endParaRPr>
                    </a:p>
                  </a:txBody>
                  <a:tcPr marL="110650" marR="55325" marT="55325" marB="553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300">
                          <a:effectLst/>
                        </a:rPr>
                        <a:t>Checks whether a value is an integer</a:t>
                      </a:r>
                    </a:p>
                  </a:txBody>
                  <a:tcPr marL="55325" marR="55325" marT="55325" marB="553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9820">
                <a:tc>
                  <a:txBody>
                    <a:bodyPr/>
                    <a:lstStyle/>
                    <a:p>
                      <a:pPr algn="l" fontAlgn="t"/>
                      <a:r>
                        <a:rPr lang="en-US" sz="1300" dirty="0" err="1">
                          <a:solidFill>
                            <a:schemeClr val="tx1"/>
                          </a:solidFill>
                          <a:effectLst/>
                          <a:hlinkClick r:id="rId4">
                            <a:extLst>
                              <a:ext uri="{A12FA001-AC4F-418D-AE19-62706E023703}">
                                <ahyp:hlinkClr xmlns:ahyp="http://schemas.microsoft.com/office/drawing/2018/hyperlinkcolor" val="tx"/>
                              </a:ext>
                            </a:extLst>
                          </a:hlinkClick>
                        </a:rPr>
                        <a:t>isNaN</a:t>
                      </a:r>
                      <a:r>
                        <a:rPr lang="en-US" sz="1300" dirty="0">
                          <a:solidFill>
                            <a:schemeClr val="tx1"/>
                          </a:solidFill>
                          <a:effectLst/>
                          <a:hlinkClick r:id="rId4">
                            <a:extLst>
                              <a:ext uri="{A12FA001-AC4F-418D-AE19-62706E023703}">
                                <ahyp:hlinkClr xmlns:ahyp="http://schemas.microsoft.com/office/drawing/2018/hyperlinkcolor" val="tx"/>
                              </a:ext>
                            </a:extLst>
                          </a:hlinkClick>
                        </a:rPr>
                        <a:t>()</a:t>
                      </a:r>
                      <a:endParaRPr lang="en-US" sz="1300" dirty="0">
                        <a:solidFill>
                          <a:schemeClr val="tx1"/>
                        </a:solidFill>
                        <a:effectLst/>
                      </a:endParaRPr>
                    </a:p>
                  </a:txBody>
                  <a:tcPr marL="110650" marR="55325" marT="55325" marB="553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300">
                          <a:effectLst/>
                        </a:rPr>
                        <a:t>Checks whether a value is Number.NaN</a:t>
                      </a:r>
                    </a:p>
                  </a:txBody>
                  <a:tcPr marL="55325" marR="55325" marT="55325" marB="553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val="10003"/>
                  </a:ext>
                </a:extLst>
              </a:tr>
              <a:tr h="309820">
                <a:tc>
                  <a:txBody>
                    <a:bodyPr/>
                    <a:lstStyle/>
                    <a:p>
                      <a:pPr algn="l" fontAlgn="t"/>
                      <a:r>
                        <a:rPr lang="en-US" sz="1300" dirty="0" err="1">
                          <a:solidFill>
                            <a:schemeClr val="tx1"/>
                          </a:solidFill>
                          <a:effectLst/>
                          <a:hlinkClick r:id="rId5">
                            <a:extLst>
                              <a:ext uri="{A12FA001-AC4F-418D-AE19-62706E023703}">
                                <ahyp:hlinkClr xmlns:ahyp="http://schemas.microsoft.com/office/drawing/2018/hyperlinkcolor" val="tx"/>
                              </a:ext>
                            </a:extLst>
                          </a:hlinkClick>
                        </a:rPr>
                        <a:t>isSafeInteger</a:t>
                      </a:r>
                      <a:r>
                        <a:rPr lang="en-US" sz="1300" dirty="0">
                          <a:solidFill>
                            <a:schemeClr val="tx1"/>
                          </a:solidFill>
                          <a:effectLst/>
                          <a:hlinkClick r:id="rId5">
                            <a:extLst>
                              <a:ext uri="{A12FA001-AC4F-418D-AE19-62706E023703}">
                                <ahyp:hlinkClr xmlns:ahyp="http://schemas.microsoft.com/office/drawing/2018/hyperlinkcolor" val="tx"/>
                              </a:ext>
                            </a:extLst>
                          </a:hlinkClick>
                        </a:rPr>
                        <a:t>()</a:t>
                      </a:r>
                      <a:endParaRPr lang="en-US" sz="1300" dirty="0">
                        <a:solidFill>
                          <a:schemeClr val="tx1"/>
                        </a:solidFill>
                        <a:effectLst/>
                      </a:endParaRPr>
                    </a:p>
                  </a:txBody>
                  <a:tcPr marL="110650" marR="55325" marT="55325" marB="553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300">
                          <a:effectLst/>
                        </a:rPr>
                        <a:t>Checks whether a value is a safe integer</a:t>
                      </a:r>
                    </a:p>
                  </a:txBody>
                  <a:tcPr marL="55325" marR="55325" marT="55325" marB="553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9820">
                <a:tc>
                  <a:txBody>
                    <a:bodyPr/>
                    <a:lstStyle/>
                    <a:p>
                      <a:pPr algn="l" fontAlgn="t"/>
                      <a:r>
                        <a:rPr lang="en-US" sz="1300" dirty="0" err="1">
                          <a:solidFill>
                            <a:schemeClr val="tx1"/>
                          </a:solidFill>
                          <a:effectLst/>
                          <a:hlinkClick r:id="rId6">
                            <a:extLst>
                              <a:ext uri="{A12FA001-AC4F-418D-AE19-62706E023703}">
                                <ahyp:hlinkClr xmlns:ahyp="http://schemas.microsoft.com/office/drawing/2018/hyperlinkcolor" val="tx"/>
                              </a:ext>
                            </a:extLst>
                          </a:hlinkClick>
                        </a:rPr>
                        <a:t>toExponential</a:t>
                      </a:r>
                      <a:r>
                        <a:rPr lang="en-US" sz="1300" dirty="0">
                          <a:solidFill>
                            <a:schemeClr val="tx1"/>
                          </a:solidFill>
                          <a:effectLst/>
                          <a:hlinkClick r:id="rId6">
                            <a:extLst>
                              <a:ext uri="{A12FA001-AC4F-418D-AE19-62706E023703}">
                                <ahyp:hlinkClr xmlns:ahyp="http://schemas.microsoft.com/office/drawing/2018/hyperlinkcolor" val="tx"/>
                              </a:ext>
                            </a:extLst>
                          </a:hlinkClick>
                        </a:rPr>
                        <a:t>(x)</a:t>
                      </a:r>
                      <a:endParaRPr lang="en-US" sz="1300" dirty="0">
                        <a:solidFill>
                          <a:schemeClr val="tx1"/>
                        </a:solidFill>
                        <a:effectLst/>
                      </a:endParaRPr>
                    </a:p>
                  </a:txBody>
                  <a:tcPr marL="110650" marR="55325" marT="55325" marB="553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300">
                          <a:effectLst/>
                        </a:rPr>
                        <a:t>Converts a number into an exponential notation</a:t>
                      </a:r>
                    </a:p>
                  </a:txBody>
                  <a:tcPr marL="55325" marR="55325" marT="55325" marB="553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val="10005"/>
                  </a:ext>
                </a:extLst>
              </a:tr>
              <a:tr h="309820">
                <a:tc>
                  <a:txBody>
                    <a:bodyPr/>
                    <a:lstStyle/>
                    <a:p>
                      <a:pPr algn="l" fontAlgn="t"/>
                      <a:r>
                        <a:rPr lang="en-US" sz="1300" dirty="0" err="1">
                          <a:solidFill>
                            <a:schemeClr val="tx1"/>
                          </a:solidFill>
                          <a:effectLst/>
                          <a:hlinkClick r:id="rId7">
                            <a:extLst>
                              <a:ext uri="{A12FA001-AC4F-418D-AE19-62706E023703}">
                                <ahyp:hlinkClr xmlns:ahyp="http://schemas.microsoft.com/office/drawing/2018/hyperlinkcolor" val="tx"/>
                              </a:ext>
                            </a:extLst>
                          </a:hlinkClick>
                        </a:rPr>
                        <a:t>toFixed</a:t>
                      </a:r>
                      <a:r>
                        <a:rPr lang="en-US" sz="1300" dirty="0">
                          <a:solidFill>
                            <a:schemeClr val="tx1"/>
                          </a:solidFill>
                          <a:effectLst/>
                          <a:hlinkClick r:id="rId7">
                            <a:extLst>
                              <a:ext uri="{A12FA001-AC4F-418D-AE19-62706E023703}">
                                <ahyp:hlinkClr xmlns:ahyp="http://schemas.microsoft.com/office/drawing/2018/hyperlinkcolor" val="tx"/>
                              </a:ext>
                            </a:extLst>
                          </a:hlinkClick>
                        </a:rPr>
                        <a:t>(x)</a:t>
                      </a:r>
                      <a:endParaRPr lang="en-US" sz="1300" dirty="0">
                        <a:solidFill>
                          <a:schemeClr val="tx1"/>
                        </a:solidFill>
                        <a:effectLst/>
                      </a:endParaRPr>
                    </a:p>
                  </a:txBody>
                  <a:tcPr marL="110650" marR="55325" marT="55325" marB="553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300">
                          <a:effectLst/>
                        </a:rPr>
                        <a:t>Formats a number with x numbers of digits after the decimal point</a:t>
                      </a:r>
                    </a:p>
                  </a:txBody>
                  <a:tcPr marL="55325" marR="55325" marT="55325" marB="553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09820">
                <a:tc>
                  <a:txBody>
                    <a:bodyPr/>
                    <a:lstStyle/>
                    <a:p>
                      <a:pPr algn="l" fontAlgn="t"/>
                      <a:r>
                        <a:rPr lang="en-US" sz="1300" dirty="0" err="1">
                          <a:solidFill>
                            <a:schemeClr val="tx1"/>
                          </a:solidFill>
                          <a:effectLst/>
                          <a:hlinkClick r:id="rId8">
                            <a:extLst>
                              <a:ext uri="{A12FA001-AC4F-418D-AE19-62706E023703}">
                                <ahyp:hlinkClr xmlns:ahyp="http://schemas.microsoft.com/office/drawing/2018/hyperlinkcolor" val="tx"/>
                              </a:ext>
                            </a:extLst>
                          </a:hlinkClick>
                        </a:rPr>
                        <a:t>toPrecision</a:t>
                      </a:r>
                      <a:r>
                        <a:rPr lang="en-US" sz="1300" dirty="0">
                          <a:solidFill>
                            <a:schemeClr val="tx1"/>
                          </a:solidFill>
                          <a:effectLst/>
                          <a:hlinkClick r:id="rId8">
                            <a:extLst>
                              <a:ext uri="{A12FA001-AC4F-418D-AE19-62706E023703}">
                                <ahyp:hlinkClr xmlns:ahyp="http://schemas.microsoft.com/office/drawing/2018/hyperlinkcolor" val="tx"/>
                              </a:ext>
                            </a:extLst>
                          </a:hlinkClick>
                        </a:rPr>
                        <a:t>(x)</a:t>
                      </a:r>
                      <a:endParaRPr lang="en-US" sz="1300" dirty="0">
                        <a:solidFill>
                          <a:schemeClr val="tx1"/>
                        </a:solidFill>
                        <a:effectLst/>
                      </a:endParaRPr>
                    </a:p>
                  </a:txBody>
                  <a:tcPr marL="110650" marR="55325" marT="55325" marB="553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300">
                          <a:effectLst/>
                        </a:rPr>
                        <a:t>Formats a number to x length</a:t>
                      </a:r>
                    </a:p>
                  </a:txBody>
                  <a:tcPr marL="55325" marR="55325" marT="55325" marB="553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val="10007"/>
                  </a:ext>
                </a:extLst>
              </a:tr>
              <a:tr h="309820">
                <a:tc>
                  <a:txBody>
                    <a:bodyPr/>
                    <a:lstStyle/>
                    <a:p>
                      <a:pPr algn="l" fontAlgn="t"/>
                      <a:r>
                        <a:rPr lang="en-US" sz="1300" dirty="0" err="1">
                          <a:solidFill>
                            <a:schemeClr val="tx1"/>
                          </a:solidFill>
                          <a:effectLst/>
                          <a:hlinkClick r:id="rId9">
                            <a:extLst>
                              <a:ext uri="{A12FA001-AC4F-418D-AE19-62706E023703}">
                                <ahyp:hlinkClr xmlns:ahyp="http://schemas.microsoft.com/office/drawing/2018/hyperlinkcolor" val="tx"/>
                              </a:ext>
                            </a:extLst>
                          </a:hlinkClick>
                        </a:rPr>
                        <a:t>toString</a:t>
                      </a:r>
                      <a:r>
                        <a:rPr lang="en-US" sz="1300" dirty="0">
                          <a:solidFill>
                            <a:schemeClr val="tx1"/>
                          </a:solidFill>
                          <a:effectLst/>
                          <a:hlinkClick r:id="rId9">
                            <a:extLst>
                              <a:ext uri="{A12FA001-AC4F-418D-AE19-62706E023703}">
                                <ahyp:hlinkClr xmlns:ahyp="http://schemas.microsoft.com/office/drawing/2018/hyperlinkcolor" val="tx"/>
                              </a:ext>
                            </a:extLst>
                          </a:hlinkClick>
                        </a:rPr>
                        <a:t>()</a:t>
                      </a:r>
                      <a:endParaRPr lang="en-US" sz="1300" dirty="0">
                        <a:solidFill>
                          <a:schemeClr val="tx1"/>
                        </a:solidFill>
                        <a:effectLst/>
                      </a:endParaRPr>
                    </a:p>
                  </a:txBody>
                  <a:tcPr marL="110650" marR="55325" marT="55325" marB="553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300">
                          <a:effectLst/>
                        </a:rPr>
                        <a:t>Converts a number to a string</a:t>
                      </a:r>
                    </a:p>
                  </a:txBody>
                  <a:tcPr marL="55325" marR="55325" marT="55325" marB="553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09820">
                <a:tc>
                  <a:txBody>
                    <a:bodyPr/>
                    <a:lstStyle/>
                    <a:p>
                      <a:pPr algn="l" fontAlgn="t"/>
                      <a:r>
                        <a:rPr lang="en-US" sz="1300" dirty="0" err="1">
                          <a:solidFill>
                            <a:schemeClr val="tx1"/>
                          </a:solidFill>
                          <a:effectLst/>
                          <a:hlinkClick r:id="rId10">
                            <a:extLst>
                              <a:ext uri="{A12FA001-AC4F-418D-AE19-62706E023703}">
                                <ahyp:hlinkClr xmlns:ahyp="http://schemas.microsoft.com/office/drawing/2018/hyperlinkcolor" val="tx"/>
                              </a:ext>
                            </a:extLst>
                          </a:hlinkClick>
                        </a:rPr>
                        <a:t>valueOf</a:t>
                      </a:r>
                      <a:r>
                        <a:rPr lang="en-US" sz="1300" dirty="0">
                          <a:solidFill>
                            <a:schemeClr val="tx1"/>
                          </a:solidFill>
                          <a:effectLst/>
                          <a:hlinkClick r:id="rId10">
                            <a:extLst>
                              <a:ext uri="{A12FA001-AC4F-418D-AE19-62706E023703}">
                                <ahyp:hlinkClr xmlns:ahyp="http://schemas.microsoft.com/office/drawing/2018/hyperlinkcolor" val="tx"/>
                              </a:ext>
                            </a:extLst>
                          </a:hlinkClick>
                        </a:rPr>
                        <a:t>()</a:t>
                      </a:r>
                      <a:endParaRPr lang="en-US" sz="1300" dirty="0">
                        <a:solidFill>
                          <a:schemeClr val="tx1"/>
                        </a:solidFill>
                        <a:effectLst/>
                      </a:endParaRPr>
                    </a:p>
                  </a:txBody>
                  <a:tcPr marL="110650" marR="55325" marT="55325" marB="553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1F1F1"/>
                    </a:solidFill>
                  </a:tcPr>
                </a:tc>
                <a:tc>
                  <a:txBody>
                    <a:bodyPr/>
                    <a:lstStyle/>
                    <a:p>
                      <a:pPr algn="l" fontAlgn="t"/>
                      <a:r>
                        <a:rPr lang="en-US" sz="1300" dirty="0">
                          <a:effectLst/>
                        </a:rPr>
                        <a:t>Returns the primitive value of a number</a:t>
                      </a:r>
                    </a:p>
                  </a:txBody>
                  <a:tcPr marL="55325" marR="55325" marT="55325" marB="553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1F1F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5125332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9E5CA-775E-4FD6-8AB1-0D6C7EE77818}"/>
              </a:ext>
            </a:extLst>
          </p:cNvPr>
          <p:cNvSpPr>
            <a:spLocks noGrp="1"/>
          </p:cNvSpPr>
          <p:nvPr>
            <p:ph type="title"/>
          </p:nvPr>
        </p:nvSpPr>
        <p:spPr>
          <a:xfrm>
            <a:off x="1066800" y="127591"/>
            <a:ext cx="10058400" cy="839334"/>
          </a:xfrm>
        </p:spPr>
        <p:txBody>
          <a:bodyPr/>
          <a:lstStyle/>
          <a:p>
            <a:r>
              <a:rPr lang="en-US" dirty="0"/>
              <a:t>Strings</a:t>
            </a:r>
          </a:p>
        </p:txBody>
      </p:sp>
      <p:sp>
        <p:nvSpPr>
          <p:cNvPr id="3" name="Content Placeholder 2">
            <a:extLst>
              <a:ext uri="{FF2B5EF4-FFF2-40B4-BE49-F238E27FC236}">
                <a16:creationId xmlns:a16="http://schemas.microsoft.com/office/drawing/2014/main" id="{74C65A46-DE8A-4BCC-B929-D46B581C02A1}"/>
              </a:ext>
            </a:extLst>
          </p:cNvPr>
          <p:cNvSpPr>
            <a:spLocks noGrp="1"/>
          </p:cNvSpPr>
          <p:nvPr>
            <p:ph idx="1"/>
          </p:nvPr>
        </p:nvSpPr>
        <p:spPr>
          <a:xfrm>
            <a:off x="1069848" y="966925"/>
            <a:ext cx="10058400" cy="5205275"/>
          </a:xfrm>
        </p:spPr>
        <p:txBody>
          <a:bodyPr>
            <a:normAutofit/>
          </a:bodyPr>
          <a:lstStyle/>
          <a:p>
            <a:r>
              <a:rPr lang="en-US" dirty="0"/>
              <a:t>Strings in JavaScript are sequences of Unicode characters.</a:t>
            </a:r>
          </a:p>
          <a:p>
            <a:r>
              <a:rPr lang="en-US" dirty="0"/>
              <a:t>Double quotes or single quotes work and can nest</a:t>
            </a:r>
          </a:p>
          <a:p>
            <a:pPr lvl="1"/>
            <a:r>
              <a:rPr lang="en-US" dirty="0"/>
              <a:t>Allows things like 'hello "everyone" at home'</a:t>
            </a:r>
          </a:p>
          <a:p>
            <a:r>
              <a:rPr lang="en-US" dirty="0"/>
              <a:t>There is no </a:t>
            </a:r>
            <a:r>
              <a:rPr lang="en-US" b="1" i="1" dirty="0"/>
              <a:t>CHAR</a:t>
            </a:r>
            <a:r>
              <a:rPr lang="en-US" dirty="0"/>
              <a:t> - If you want to represent a single character, you just use a string consisting of that single character.</a:t>
            </a:r>
          </a:p>
          <a:p>
            <a:r>
              <a:rPr lang="en-US" dirty="0"/>
              <a:t>To find the length of a string (in code units), access its length property:</a:t>
            </a:r>
          </a:p>
          <a:p>
            <a:pPr marL="0" indent="0">
              <a:buNone/>
            </a:pPr>
            <a:r>
              <a:rPr lang="en-US" dirty="0"/>
              <a:t>	'</a:t>
            </a:r>
            <a:r>
              <a:rPr lang="en-US" dirty="0" err="1"/>
              <a:t>hello'.length</a:t>
            </a:r>
            <a:r>
              <a:rPr lang="en-US" dirty="0"/>
              <a:t>; // 5</a:t>
            </a:r>
          </a:p>
          <a:p>
            <a:r>
              <a:rPr lang="en-US" dirty="0"/>
              <a:t>There's our first brush with JavaScript objects! Did we mention that you can use strings like objects too? They have methods as well that allow you to manipulate the string and access information about the string:</a:t>
            </a:r>
          </a:p>
          <a:p>
            <a:pPr marL="0" indent="0">
              <a:buNone/>
            </a:pPr>
            <a:r>
              <a:rPr lang="en-US" dirty="0"/>
              <a:t>	'hello'.</a:t>
            </a:r>
            <a:r>
              <a:rPr lang="en-US" dirty="0" err="1"/>
              <a:t>charAt</a:t>
            </a:r>
            <a:r>
              <a:rPr lang="en-US" dirty="0"/>
              <a:t>(0); // "h"</a:t>
            </a:r>
          </a:p>
          <a:p>
            <a:pPr marL="0" indent="0">
              <a:buNone/>
            </a:pPr>
            <a:r>
              <a:rPr lang="en-US" dirty="0"/>
              <a:t>	'hello, </a:t>
            </a:r>
            <a:r>
              <a:rPr lang="en-US" dirty="0" err="1"/>
              <a:t>world'.replace</a:t>
            </a:r>
            <a:r>
              <a:rPr lang="en-US" dirty="0"/>
              <a:t>('world', 'mars'); // "hello, mars"</a:t>
            </a:r>
          </a:p>
          <a:p>
            <a:pPr marL="0" indent="0">
              <a:buNone/>
            </a:pPr>
            <a:r>
              <a:rPr lang="en-US" dirty="0"/>
              <a:t>	'hello'.</a:t>
            </a:r>
            <a:r>
              <a:rPr lang="en-US" dirty="0" err="1"/>
              <a:t>toUpperCase</a:t>
            </a:r>
            <a:r>
              <a:rPr lang="en-US" dirty="0"/>
              <a:t>(); // "HELLO"</a:t>
            </a:r>
          </a:p>
          <a:p>
            <a:pPr marL="0" indent="0">
              <a:buNone/>
            </a:pPr>
            <a:endParaRPr lang="en-US" dirty="0"/>
          </a:p>
        </p:txBody>
      </p:sp>
    </p:spTree>
    <p:extLst>
      <p:ext uri="{BB962C8B-B14F-4D97-AF65-F5344CB8AC3E}">
        <p14:creationId xmlns:p14="http://schemas.microsoft.com/office/powerpoint/2010/main" val="34141459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Template literal strings</a:t>
            </a:r>
          </a:p>
        </p:txBody>
      </p:sp>
      <p:sp>
        <p:nvSpPr>
          <p:cNvPr id="3" name="Content Placeholder 2"/>
          <p:cNvSpPr>
            <a:spLocks noGrp="1"/>
          </p:cNvSpPr>
          <p:nvPr>
            <p:ph idx="1"/>
          </p:nvPr>
        </p:nvSpPr>
        <p:spPr/>
        <p:txBody>
          <a:bodyPr>
            <a:normAutofit fontScale="85000" lnSpcReduction="20000"/>
          </a:bodyPr>
          <a:lstStyle/>
          <a:p>
            <a:r>
              <a:rPr lang="en-US" dirty="0"/>
              <a:t>Template literals are string literals allowing embedded expressions. </a:t>
            </a:r>
          </a:p>
          <a:p>
            <a:r>
              <a:rPr lang="en-US" dirty="0"/>
              <a:t>You can use multi-line strings and string interpolation features with them. </a:t>
            </a:r>
          </a:p>
          <a:p>
            <a:r>
              <a:rPr lang="en-US" dirty="0"/>
              <a:t>They were called "template strings" in prior editions of the ES2015 specification.</a:t>
            </a:r>
          </a:p>
          <a:p>
            <a:r>
              <a:rPr lang="en-US" dirty="0"/>
              <a:t>Template literals are enclosed by the back-tick (` `)  (grave accent) character instead of double or single quotes.</a:t>
            </a:r>
          </a:p>
          <a:p>
            <a:r>
              <a:rPr lang="en-US" dirty="0"/>
              <a:t>You can include a placeholder expression by using ${expression} between the </a:t>
            </a:r>
            <a:r>
              <a:rPr lang="en-US" dirty="0" err="1"/>
              <a:t>backticks</a:t>
            </a:r>
            <a:r>
              <a:rPr lang="en-US" dirty="0"/>
              <a:t>.</a:t>
            </a:r>
          </a:p>
          <a:p>
            <a:r>
              <a:rPr lang="en-US" dirty="0"/>
              <a:t>You can span multiple lines between the </a:t>
            </a:r>
            <a:r>
              <a:rPr lang="en-US" dirty="0" err="1"/>
              <a:t>backticks</a:t>
            </a:r>
            <a:r>
              <a:rPr lang="en-US" dirty="0"/>
              <a:t>.</a:t>
            </a:r>
          </a:p>
          <a:p>
            <a:pPr marL="0" indent="0">
              <a:buNone/>
            </a:pPr>
            <a:r>
              <a:rPr lang="en-US" dirty="0"/>
              <a:t>	`string text` //Simple</a:t>
            </a:r>
          </a:p>
          <a:p>
            <a:pPr marL="0" indent="0">
              <a:buNone/>
            </a:pPr>
            <a:r>
              <a:rPr lang="en-US" dirty="0"/>
              <a:t>	`string text line 1	</a:t>
            </a:r>
          </a:p>
          <a:p>
            <a:pPr marL="0" indent="0">
              <a:buNone/>
            </a:pPr>
            <a:r>
              <a:rPr lang="en-US" dirty="0"/>
              <a:t>	 string text line 2`	 //Multiline</a:t>
            </a:r>
          </a:p>
          <a:p>
            <a:pPr marL="0" indent="0">
              <a:buNone/>
            </a:pPr>
            <a:r>
              <a:rPr lang="en-US" dirty="0"/>
              <a:t>	`string text ${expression} string text`	//Expression</a:t>
            </a:r>
          </a:p>
          <a:p>
            <a:pPr marL="0" indent="0">
              <a:buNone/>
            </a:pPr>
            <a:r>
              <a:rPr lang="en-US" dirty="0"/>
              <a:t>	</a:t>
            </a:r>
            <a:r>
              <a:rPr lang="en-US" dirty="0" err="1"/>
              <a:t>tag`string</a:t>
            </a:r>
            <a:r>
              <a:rPr lang="en-US" dirty="0"/>
              <a:t> text ${expression} string text`  //Don’t even get me started on tag</a:t>
            </a: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7307492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09210" y="126286"/>
            <a:ext cx="10058400" cy="1609344"/>
          </a:xfrm>
        </p:spPr>
        <p:txBody>
          <a:bodyPr/>
          <a:lstStyle/>
          <a:p>
            <a:r>
              <a:rPr lang="en-US" dirty="0"/>
              <a:t>String Methods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460780150"/>
              </p:ext>
            </p:extLst>
          </p:nvPr>
        </p:nvGraphicFramePr>
        <p:xfrm>
          <a:off x="1595009" y="1228449"/>
          <a:ext cx="8686802" cy="5280894"/>
        </p:xfrm>
        <a:graphic>
          <a:graphicData uri="http://schemas.openxmlformats.org/drawingml/2006/table">
            <a:tbl>
              <a:tblPr firstRow="1"/>
              <a:tblGrid>
                <a:gridCol w="1752603">
                  <a:extLst>
                    <a:ext uri="{9D8B030D-6E8A-4147-A177-3AD203B41FA5}">
                      <a16:colId xmlns:a16="http://schemas.microsoft.com/office/drawing/2014/main" val="20000"/>
                    </a:ext>
                  </a:extLst>
                </a:gridCol>
                <a:gridCol w="6934199">
                  <a:extLst>
                    <a:ext uri="{9D8B030D-6E8A-4147-A177-3AD203B41FA5}">
                      <a16:colId xmlns:a16="http://schemas.microsoft.com/office/drawing/2014/main" val="20001"/>
                    </a:ext>
                  </a:extLst>
                </a:gridCol>
              </a:tblGrid>
              <a:tr h="113861">
                <a:tc>
                  <a:txBody>
                    <a:bodyPr/>
                    <a:lstStyle/>
                    <a:p>
                      <a:r>
                        <a:rPr lang="en-US" sz="1200" b="1"/>
                        <a:t>Method</a:t>
                      </a:r>
                      <a:endParaRPr lang="en-US" sz="1200"/>
                    </a:p>
                  </a:txBody>
                  <a:tcPr marL="28465" marR="28465" marT="14233" marB="14233" anchor="ctr">
                    <a:lnL>
                      <a:noFill/>
                    </a:lnL>
                    <a:lnR>
                      <a:noFill/>
                    </a:lnR>
                    <a:lnT>
                      <a:noFill/>
                    </a:lnT>
                    <a:lnB>
                      <a:noFill/>
                    </a:lnB>
                  </a:tcPr>
                </a:tc>
                <a:tc>
                  <a:txBody>
                    <a:bodyPr/>
                    <a:lstStyle/>
                    <a:p>
                      <a:r>
                        <a:rPr lang="en-US" sz="1200" b="1"/>
                        <a:t>Purpose</a:t>
                      </a:r>
                      <a:endParaRPr lang="en-US" sz="1200"/>
                    </a:p>
                  </a:txBody>
                  <a:tcPr marL="28465" marR="28465" marT="14233" marB="14233" anchor="ctr">
                    <a:lnL>
                      <a:noFill/>
                    </a:lnL>
                    <a:lnR>
                      <a:noFill/>
                    </a:lnR>
                    <a:lnT>
                      <a:noFill/>
                    </a:lnT>
                    <a:lnB>
                      <a:noFill/>
                    </a:lnB>
                  </a:tcPr>
                </a:tc>
                <a:extLst>
                  <a:ext uri="{0D108BD9-81ED-4DB2-BD59-A6C34878D82A}">
                    <a16:rowId xmlns:a16="http://schemas.microsoft.com/office/drawing/2014/main" val="10000"/>
                  </a:ext>
                </a:extLst>
              </a:tr>
              <a:tr h="540838">
                <a:tc>
                  <a:txBody>
                    <a:bodyPr/>
                    <a:lstStyle/>
                    <a:p>
                      <a:r>
                        <a:rPr lang="en-US" sz="1200"/>
                        <a:t>charAt(index)</a:t>
                      </a:r>
                    </a:p>
                  </a:txBody>
                  <a:tcPr marL="28465" marR="28465" marT="14233" marB="14233" anchor="ctr">
                    <a:lnL>
                      <a:noFill/>
                    </a:lnL>
                    <a:lnR>
                      <a:noFill/>
                    </a:lnR>
                    <a:lnT>
                      <a:noFill/>
                    </a:lnT>
                    <a:lnB>
                      <a:noFill/>
                    </a:lnB>
                  </a:tcPr>
                </a:tc>
                <a:tc>
                  <a:txBody>
                    <a:bodyPr/>
                    <a:lstStyle/>
                    <a:p>
                      <a:r>
                        <a:rPr lang="en-US" sz="1200" dirty="0"/>
                        <a:t>Returns the character at a specified position. (For example, if you have a string that says “banana” and your method reads </a:t>
                      </a:r>
                      <a:r>
                        <a:rPr lang="en-US" sz="1200" dirty="0" err="1"/>
                        <a:t>charAt</a:t>
                      </a:r>
                      <a:r>
                        <a:rPr lang="en-US" sz="1200" dirty="0"/>
                        <a:t>(2), then you end up with the letter n—remember that indexes start at 0.)</a:t>
                      </a:r>
                    </a:p>
                  </a:txBody>
                  <a:tcPr marL="28465" marR="28465" marT="14233" marB="14233" anchor="ctr">
                    <a:lnL>
                      <a:noFill/>
                    </a:lnL>
                    <a:lnR>
                      <a:noFill/>
                    </a:lnR>
                    <a:lnT>
                      <a:noFill/>
                    </a:lnT>
                    <a:lnB>
                      <a:noFill/>
                    </a:lnB>
                  </a:tcPr>
                </a:tc>
                <a:extLst>
                  <a:ext uri="{0D108BD9-81ED-4DB2-BD59-A6C34878D82A}">
                    <a16:rowId xmlns:a16="http://schemas.microsoft.com/office/drawing/2014/main" val="10001"/>
                  </a:ext>
                </a:extLst>
              </a:tr>
              <a:tr h="199256">
                <a:tc>
                  <a:txBody>
                    <a:bodyPr/>
                    <a:lstStyle/>
                    <a:p>
                      <a:r>
                        <a:rPr lang="en-US" sz="1200"/>
                        <a:t>concat( string2, string3, /*etc…*/ )</a:t>
                      </a:r>
                    </a:p>
                  </a:txBody>
                  <a:tcPr marL="28465" marR="28465" marT="14233" marB="14233" anchor="ctr">
                    <a:lnL>
                      <a:noFill/>
                    </a:lnL>
                    <a:lnR>
                      <a:noFill/>
                    </a:lnR>
                    <a:lnT>
                      <a:noFill/>
                    </a:lnT>
                    <a:lnB>
                      <a:noFill/>
                    </a:lnB>
                  </a:tcPr>
                </a:tc>
                <a:tc>
                  <a:txBody>
                    <a:bodyPr/>
                    <a:lstStyle/>
                    <a:p>
                      <a:r>
                        <a:rPr lang="en-US" sz="1200"/>
                        <a:t>Combines the text of two or more strings and returns a new string.</a:t>
                      </a:r>
                    </a:p>
                  </a:txBody>
                  <a:tcPr marL="28465" marR="28465" marT="14233" marB="14233" anchor="ctr">
                    <a:lnL>
                      <a:noFill/>
                    </a:lnL>
                    <a:lnR>
                      <a:noFill/>
                    </a:lnR>
                    <a:lnT>
                      <a:noFill/>
                    </a:lnT>
                    <a:lnB>
                      <a:noFill/>
                    </a:lnB>
                  </a:tcPr>
                </a:tc>
                <a:extLst>
                  <a:ext uri="{0D108BD9-81ED-4DB2-BD59-A6C34878D82A}">
                    <a16:rowId xmlns:a16="http://schemas.microsoft.com/office/drawing/2014/main" val="10002"/>
                  </a:ext>
                </a:extLst>
              </a:tr>
              <a:tr h="1224002">
                <a:tc>
                  <a:txBody>
                    <a:bodyPr/>
                    <a:lstStyle/>
                    <a:p>
                      <a:r>
                        <a:rPr lang="en-US" sz="1200"/>
                        <a:t>indexOf(searchValue, [fromindex])</a:t>
                      </a:r>
                    </a:p>
                  </a:txBody>
                  <a:tcPr marL="28465" marR="28465" marT="14233" marB="14233" anchor="ctr">
                    <a:lnL>
                      <a:noFill/>
                    </a:lnL>
                    <a:lnR>
                      <a:noFill/>
                    </a:lnR>
                    <a:lnT>
                      <a:noFill/>
                    </a:lnT>
                    <a:lnB>
                      <a:noFill/>
                    </a:lnB>
                  </a:tcPr>
                </a:tc>
                <a:tc>
                  <a:txBody>
                    <a:bodyPr/>
                    <a:lstStyle/>
                    <a:p>
                      <a:r>
                        <a:rPr lang="en-US" sz="1200"/>
                        <a:t>Returns the position of the first occurrence of a specified character (or set of characters) inside another string.For example, if you have the word “banana” as your string, and you want to find the first occurrence of the letter n within “banana” you use indexOf('n').If you supply a value for the fromIndex argument, the search begins at that position. For example, you might want to start after the fourth character, in which case you can use indexOf('n',4).The method returns -1 if the string searched for never occurs.</a:t>
                      </a:r>
                    </a:p>
                  </a:txBody>
                  <a:tcPr marL="28465" marR="28465" marT="14233" marB="14233" anchor="ctr">
                    <a:lnL>
                      <a:noFill/>
                    </a:lnL>
                    <a:lnR>
                      <a:noFill/>
                    </a:lnR>
                    <a:lnT>
                      <a:noFill/>
                    </a:lnT>
                    <a:lnB>
                      <a:noFill/>
                    </a:lnB>
                  </a:tcPr>
                </a:tc>
                <a:extLst>
                  <a:ext uri="{0D108BD9-81ED-4DB2-BD59-A6C34878D82A}">
                    <a16:rowId xmlns:a16="http://schemas.microsoft.com/office/drawing/2014/main" val="10003"/>
                  </a:ext>
                </a:extLst>
              </a:tr>
              <a:tr h="199256">
                <a:tc>
                  <a:txBody>
                    <a:bodyPr/>
                    <a:lstStyle/>
                    <a:p>
                      <a:r>
                        <a:rPr lang="en-US" sz="1200"/>
                        <a:t>lastIndexOf(searchValue, [fromIndex])</a:t>
                      </a:r>
                    </a:p>
                  </a:txBody>
                  <a:tcPr marL="28465" marR="28465" marT="14233" marB="14233" anchor="ctr">
                    <a:lnL>
                      <a:noFill/>
                    </a:lnL>
                    <a:lnR>
                      <a:noFill/>
                    </a:lnR>
                    <a:lnT>
                      <a:noFill/>
                    </a:lnT>
                    <a:lnB>
                      <a:noFill/>
                    </a:lnB>
                  </a:tcPr>
                </a:tc>
                <a:tc>
                  <a:txBody>
                    <a:bodyPr/>
                    <a:lstStyle/>
                    <a:p>
                      <a:r>
                        <a:rPr lang="en-US" sz="1200"/>
                        <a:t>Same as the indexOf() method but runs from right to left.</a:t>
                      </a:r>
                    </a:p>
                  </a:txBody>
                  <a:tcPr marL="28465" marR="28465" marT="14233" marB="14233" anchor="ctr">
                    <a:lnL>
                      <a:noFill/>
                    </a:lnL>
                    <a:lnR>
                      <a:noFill/>
                    </a:lnR>
                    <a:lnT>
                      <a:noFill/>
                    </a:lnT>
                    <a:lnB>
                      <a:noFill/>
                    </a:lnB>
                  </a:tcPr>
                </a:tc>
                <a:extLst>
                  <a:ext uri="{0D108BD9-81ED-4DB2-BD59-A6C34878D82A}">
                    <a16:rowId xmlns:a16="http://schemas.microsoft.com/office/drawing/2014/main" val="10004"/>
                  </a:ext>
                </a:extLst>
              </a:tr>
              <a:tr h="455443">
                <a:tc>
                  <a:txBody>
                    <a:bodyPr/>
                    <a:lstStyle/>
                    <a:p>
                      <a:r>
                        <a:rPr lang="en-US" sz="1200"/>
                        <a:t>slice(beginslice, endSlice ))</a:t>
                      </a:r>
                    </a:p>
                  </a:txBody>
                  <a:tcPr marL="28465" marR="28465" marT="14233" marB="14233" anchor="ctr">
                    <a:lnL>
                      <a:noFill/>
                    </a:lnL>
                    <a:lnR>
                      <a:noFill/>
                    </a:lnR>
                    <a:lnT>
                      <a:noFill/>
                    </a:lnT>
                    <a:lnB>
                      <a:noFill/>
                    </a:lnB>
                  </a:tcPr>
                </a:tc>
                <a:tc>
                  <a:txBody>
                    <a:bodyPr/>
                    <a:lstStyle/>
                    <a:p>
                      <a:r>
                        <a:rPr lang="en-US" sz="1200"/>
                        <a:t>Extracts a piece of a string based on a beginning, zero-based index and optional ending index and returns as a new string. If the second argument is omitted, it extracts to the end of the string. </a:t>
                      </a:r>
                    </a:p>
                  </a:txBody>
                  <a:tcPr marL="28465" marR="28465" marT="14233" marB="14233" anchor="ctr">
                    <a:lnL>
                      <a:noFill/>
                    </a:lnL>
                    <a:lnR>
                      <a:noFill/>
                    </a:lnR>
                    <a:lnT>
                      <a:noFill/>
                    </a:lnT>
                    <a:lnB>
                      <a:noFill/>
                    </a:lnB>
                  </a:tcPr>
                </a:tc>
                <a:extLst>
                  <a:ext uri="{0D108BD9-81ED-4DB2-BD59-A6C34878D82A}">
                    <a16:rowId xmlns:a16="http://schemas.microsoft.com/office/drawing/2014/main" val="10005"/>
                  </a:ext>
                </a:extLst>
              </a:tr>
              <a:tr h="711629">
                <a:tc>
                  <a:txBody>
                    <a:bodyPr/>
                    <a:lstStyle/>
                    <a:p>
                      <a:r>
                        <a:rPr lang="en-US" sz="1200"/>
                        <a:t>split( separator )</a:t>
                      </a:r>
                    </a:p>
                  </a:txBody>
                  <a:tcPr marL="28465" marR="28465" marT="14233" marB="14233" anchor="ctr">
                    <a:lnL>
                      <a:noFill/>
                    </a:lnL>
                    <a:lnR>
                      <a:noFill/>
                    </a:lnR>
                    <a:lnT>
                      <a:noFill/>
                    </a:lnT>
                    <a:lnB>
                      <a:noFill/>
                    </a:lnB>
                  </a:tcPr>
                </a:tc>
                <a:tc>
                  <a:txBody>
                    <a:bodyPr/>
                    <a:lstStyle/>
                    <a:p>
                      <a:r>
                        <a:rPr lang="en-US" sz="1200"/>
                        <a:t>Splits a string into an array (another built-in object you learn about shortly) of strings by separating the string into substrings based on a separator. A common separator would be “ ” (to get the words out of a sentence) or “,” (to extract the data from a list of Comma Separated Values).</a:t>
                      </a:r>
                    </a:p>
                  </a:txBody>
                  <a:tcPr marL="28465" marR="28465" marT="14233" marB="14233" anchor="ctr">
                    <a:lnL>
                      <a:noFill/>
                    </a:lnL>
                    <a:lnR>
                      <a:noFill/>
                    </a:lnR>
                    <a:lnT>
                      <a:noFill/>
                    </a:lnT>
                    <a:lnB>
                      <a:noFill/>
                    </a:lnB>
                  </a:tcPr>
                </a:tc>
                <a:extLst>
                  <a:ext uri="{0D108BD9-81ED-4DB2-BD59-A6C34878D82A}">
                    <a16:rowId xmlns:a16="http://schemas.microsoft.com/office/drawing/2014/main" val="10006"/>
                  </a:ext>
                </a:extLst>
              </a:tr>
              <a:tr h="284652">
                <a:tc>
                  <a:txBody>
                    <a:bodyPr/>
                    <a:lstStyle/>
                    <a:p>
                      <a:r>
                        <a:rPr lang="en-US" sz="1200"/>
                        <a:t>substr(start, [length])</a:t>
                      </a:r>
                    </a:p>
                  </a:txBody>
                  <a:tcPr marL="28465" marR="28465" marT="14233" marB="14233" anchor="ctr">
                    <a:lnL>
                      <a:noFill/>
                    </a:lnL>
                    <a:lnR>
                      <a:noFill/>
                    </a:lnR>
                    <a:lnT>
                      <a:noFill/>
                    </a:lnT>
                    <a:lnB>
                      <a:noFill/>
                    </a:lnB>
                  </a:tcPr>
                </a:tc>
                <a:tc>
                  <a:txBody>
                    <a:bodyPr/>
                    <a:lstStyle/>
                    <a:p>
                      <a:r>
                        <a:rPr lang="en-US" sz="1200"/>
                        <a:t>Returns the specified characters. 14,7 returns 7 characters, from the 14th character (starts at 0).</a:t>
                      </a:r>
                    </a:p>
                  </a:txBody>
                  <a:tcPr marL="28465" marR="28465" marT="14233" marB="14233" anchor="ctr">
                    <a:lnL>
                      <a:noFill/>
                    </a:lnL>
                    <a:lnR>
                      <a:noFill/>
                    </a:lnR>
                    <a:lnT>
                      <a:noFill/>
                    </a:lnT>
                    <a:lnB>
                      <a:noFill/>
                    </a:lnB>
                  </a:tcPr>
                </a:tc>
                <a:extLst>
                  <a:ext uri="{0D108BD9-81ED-4DB2-BD59-A6C34878D82A}">
                    <a16:rowId xmlns:a16="http://schemas.microsoft.com/office/drawing/2014/main" val="10007"/>
                  </a:ext>
                </a:extLst>
              </a:tr>
              <a:tr h="370047">
                <a:tc>
                  <a:txBody>
                    <a:bodyPr/>
                    <a:lstStyle/>
                    <a:p>
                      <a:r>
                        <a:rPr lang="en-US" sz="1200"/>
                        <a:t>substring(startPosition, endPosition)</a:t>
                      </a:r>
                    </a:p>
                  </a:txBody>
                  <a:tcPr marL="28465" marR="28465" marT="14233" marB="14233" anchor="ctr">
                    <a:lnL>
                      <a:noFill/>
                    </a:lnL>
                    <a:lnR>
                      <a:noFill/>
                    </a:lnR>
                    <a:lnT>
                      <a:noFill/>
                    </a:lnT>
                    <a:lnB>
                      <a:noFill/>
                    </a:lnB>
                  </a:tcPr>
                </a:tc>
                <a:tc>
                  <a:txBody>
                    <a:bodyPr/>
                    <a:lstStyle/>
                    <a:p>
                      <a:r>
                        <a:rPr lang="en-US" sz="1200"/>
                        <a:t>Returns the specified characters between the start and end index points. 7,14 returns all characters from the 7th up to but not including the 14th (starts at 0).</a:t>
                      </a:r>
                    </a:p>
                  </a:txBody>
                  <a:tcPr marL="28465" marR="28465" marT="14233" marB="14233" anchor="ctr">
                    <a:lnL>
                      <a:noFill/>
                    </a:lnL>
                    <a:lnR>
                      <a:noFill/>
                    </a:lnR>
                    <a:lnT>
                      <a:noFill/>
                    </a:lnT>
                    <a:lnB>
                      <a:noFill/>
                    </a:lnB>
                  </a:tcPr>
                </a:tc>
                <a:extLst>
                  <a:ext uri="{0D108BD9-81ED-4DB2-BD59-A6C34878D82A}">
                    <a16:rowId xmlns:a16="http://schemas.microsoft.com/office/drawing/2014/main" val="10008"/>
                  </a:ext>
                </a:extLst>
              </a:tr>
              <a:tr h="113861">
                <a:tc>
                  <a:txBody>
                    <a:bodyPr/>
                    <a:lstStyle/>
                    <a:p>
                      <a:r>
                        <a:rPr lang="en-US" sz="1200"/>
                        <a:t>toLowerCase()</a:t>
                      </a:r>
                    </a:p>
                  </a:txBody>
                  <a:tcPr marL="28465" marR="28465" marT="14233" marB="14233" anchor="ctr">
                    <a:lnL>
                      <a:noFill/>
                    </a:lnL>
                    <a:lnR>
                      <a:noFill/>
                    </a:lnR>
                    <a:lnT>
                      <a:noFill/>
                    </a:lnT>
                    <a:lnB>
                      <a:noFill/>
                    </a:lnB>
                  </a:tcPr>
                </a:tc>
                <a:tc>
                  <a:txBody>
                    <a:bodyPr/>
                    <a:lstStyle/>
                    <a:p>
                      <a:r>
                        <a:rPr lang="en-US" sz="1200"/>
                        <a:t>Converts a string to lowercase.</a:t>
                      </a:r>
                    </a:p>
                  </a:txBody>
                  <a:tcPr marL="28465" marR="28465" marT="14233" marB="14233" anchor="ctr">
                    <a:lnL>
                      <a:noFill/>
                    </a:lnL>
                    <a:lnR>
                      <a:noFill/>
                    </a:lnR>
                    <a:lnT>
                      <a:noFill/>
                    </a:lnT>
                    <a:lnB>
                      <a:noFill/>
                    </a:lnB>
                  </a:tcPr>
                </a:tc>
                <a:extLst>
                  <a:ext uri="{0D108BD9-81ED-4DB2-BD59-A6C34878D82A}">
                    <a16:rowId xmlns:a16="http://schemas.microsoft.com/office/drawing/2014/main" val="10009"/>
                  </a:ext>
                </a:extLst>
              </a:tr>
              <a:tr h="113861">
                <a:tc>
                  <a:txBody>
                    <a:bodyPr/>
                    <a:lstStyle/>
                    <a:p>
                      <a:r>
                        <a:rPr lang="en-US" sz="1200"/>
                        <a:t>toUpperCase()</a:t>
                      </a:r>
                    </a:p>
                  </a:txBody>
                  <a:tcPr marL="28465" marR="28465" marT="14233" marB="14233" anchor="ctr">
                    <a:lnL>
                      <a:noFill/>
                    </a:lnL>
                    <a:lnR>
                      <a:noFill/>
                    </a:lnR>
                    <a:lnT>
                      <a:noFill/>
                    </a:lnT>
                    <a:lnB>
                      <a:noFill/>
                    </a:lnB>
                  </a:tcPr>
                </a:tc>
                <a:tc>
                  <a:txBody>
                    <a:bodyPr/>
                    <a:lstStyle/>
                    <a:p>
                      <a:r>
                        <a:rPr lang="en-US" sz="1200"/>
                        <a:t>Converts a string to uppercase.</a:t>
                      </a:r>
                    </a:p>
                  </a:txBody>
                  <a:tcPr marL="28465" marR="28465" marT="14233" marB="14233" anchor="ctr">
                    <a:lnL>
                      <a:noFill/>
                    </a:lnL>
                    <a:lnR>
                      <a:noFill/>
                    </a:lnR>
                    <a:lnT>
                      <a:noFill/>
                    </a:lnT>
                    <a:lnB>
                      <a:noFill/>
                    </a:lnB>
                  </a:tcPr>
                </a:tc>
                <a:extLst>
                  <a:ext uri="{0D108BD9-81ED-4DB2-BD59-A6C34878D82A}">
                    <a16:rowId xmlns:a16="http://schemas.microsoft.com/office/drawing/2014/main" val="10010"/>
                  </a:ext>
                </a:extLst>
              </a:tr>
              <a:tr h="199256">
                <a:tc>
                  <a:txBody>
                    <a:bodyPr/>
                    <a:lstStyle/>
                    <a:p>
                      <a:r>
                        <a:rPr lang="en-US" sz="1200"/>
                        <a:t>trim()</a:t>
                      </a:r>
                    </a:p>
                  </a:txBody>
                  <a:tcPr marL="28465" marR="28465" marT="14233" marB="14233" anchor="ctr">
                    <a:lnL>
                      <a:noFill/>
                    </a:lnL>
                    <a:lnR>
                      <a:noFill/>
                    </a:lnR>
                    <a:lnT>
                      <a:noFill/>
                    </a:lnT>
                    <a:lnB>
                      <a:noFill/>
                    </a:lnB>
                  </a:tcPr>
                </a:tc>
                <a:tc>
                  <a:txBody>
                    <a:bodyPr/>
                    <a:lstStyle/>
                    <a:p>
                      <a:r>
                        <a:rPr lang="en-US" sz="1200" dirty="0"/>
                        <a:t>Trims white space from the beginning and end of the string.</a:t>
                      </a:r>
                    </a:p>
                  </a:txBody>
                  <a:tcPr marL="28465" marR="28465" marT="14233" marB="14233" anchor="ctr">
                    <a:lnL>
                      <a:noFill/>
                    </a:lnL>
                    <a:lnR>
                      <a:noFill/>
                    </a:lnR>
                    <a:lnT>
                      <a:noFill/>
                    </a:lnT>
                    <a:lnB>
                      <a:noFill/>
                    </a:lnB>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3698256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993294"/>
          </a:xfrm>
        </p:spPr>
        <p:txBody>
          <a:bodyPr/>
          <a:lstStyle/>
          <a:p>
            <a:r>
              <a:rPr lang="en-US" dirty="0"/>
              <a:t>let</a:t>
            </a:r>
          </a:p>
        </p:txBody>
      </p:sp>
      <p:sp>
        <p:nvSpPr>
          <p:cNvPr id="3" name="Content Placeholder 2"/>
          <p:cNvSpPr>
            <a:spLocks noGrp="1"/>
          </p:cNvSpPr>
          <p:nvPr>
            <p:ph idx="1"/>
          </p:nvPr>
        </p:nvSpPr>
        <p:spPr>
          <a:xfrm>
            <a:off x="1069848" y="1403603"/>
            <a:ext cx="10058400" cy="4858973"/>
          </a:xfrm>
        </p:spPr>
        <p:txBody>
          <a:bodyPr>
            <a:normAutofit/>
          </a:bodyPr>
          <a:lstStyle/>
          <a:p>
            <a:endParaRPr lang="en-US" dirty="0"/>
          </a:p>
          <a:p>
            <a:r>
              <a:rPr lang="en-US" dirty="0"/>
              <a:t>let allows you to declare block-level variables. The declared variable is available from the block it is enclosed in.</a:t>
            </a:r>
          </a:p>
          <a:p>
            <a:pPr marL="0" indent="0">
              <a:buNone/>
            </a:pPr>
            <a:r>
              <a:rPr lang="en-US" dirty="0"/>
              <a:t>	let a;</a:t>
            </a:r>
          </a:p>
          <a:p>
            <a:pPr marL="0" indent="0">
              <a:buNone/>
            </a:pPr>
            <a:r>
              <a:rPr lang="en-US" dirty="0"/>
              <a:t>	let name = 'Simon';</a:t>
            </a:r>
          </a:p>
          <a:p>
            <a:r>
              <a:rPr lang="en-US" dirty="0"/>
              <a:t>The following is an example of scope with a variable declared with let:</a:t>
            </a:r>
          </a:p>
          <a:p>
            <a:pPr marL="0" indent="0">
              <a:buNone/>
            </a:pPr>
            <a:r>
              <a:rPr lang="en-US" dirty="0"/>
              <a:t>	// </a:t>
            </a:r>
            <a:r>
              <a:rPr lang="en-US" dirty="0" err="1"/>
              <a:t>myLetVariable</a:t>
            </a:r>
            <a:r>
              <a:rPr lang="en-US" dirty="0"/>
              <a:t> is *not* visible out here</a:t>
            </a:r>
          </a:p>
          <a:p>
            <a:pPr marL="0" indent="0">
              <a:buNone/>
            </a:pPr>
            <a:r>
              <a:rPr lang="en-US" dirty="0"/>
              <a:t>	for (let </a:t>
            </a:r>
            <a:r>
              <a:rPr lang="en-US" dirty="0" err="1"/>
              <a:t>myLetVariable</a:t>
            </a:r>
            <a:r>
              <a:rPr lang="en-US" dirty="0"/>
              <a:t> = 0; </a:t>
            </a:r>
            <a:r>
              <a:rPr lang="en-US" dirty="0" err="1"/>
              <a:t>myLetVariable</a:t>
            </a:r>
            <a:r>
              <a:rPr lang="en-US" dirty="0"/>
              <a:t> &lt; 5; </a:t>
            </a:r>
            <a:r>
              <a:rPr lang="en-US" dirty="0" err="1"/>
              <a:t>myLetVariable</a:t>
            </a:r>
            <a:r>
              <a:rPr lang="en-US" dirty="0"/>
              <a:t>++) {</a:t>
            </a:r>
          </a:p>
          <a:p>
            <a:pPr marL="0" indent="0">
              <a:buNone/>
            </a:pPr>
            <a:r>
              <a:rPr lang="en-US" dirty="0"/>
              <a:t>	  // </a:t>
            </a:r>
            <a:r>
              <a:rPr lang="en-US" dirty="0" err="1"/>
              <a:t>myLetVariable</a:t>
            </a:r>
            <a:r>
              <a:rPr lang="en-US" dirty="0"/>
              <a:t> is only visible in here</a:t>
            </a:r>
          </a:p>
          <a:p>
            <a:pPr marL="0" indent="0">
              <a:buNone/>
            </a:pPr>
            <a:r>
              <a:rPr lang="en-US" dirty="0"/>
              <a:t>	}</a:t>
            </a:r>
          </a:p>
          <a:p>
            <a:pPr marL="0" indent="0">
              <a:buNone/>
            </a:pPr>
            <a:r>
              <a:rPr lang="en-US" dirty="0"/>
              <a:t>	// </a:t>
            </a:r>
            <a:r>
              <a:rPr lang="en-US" dirty="0" err="1"/>
              <a:t>myLetVariable</a:t>
            </a:r>
            <a:r>
              <a:rPr lang="en-US" dirty="0"/>
              <a:t> is *not* visible out here</a:t>
            </a:r>
          </a:p>
        </p:txBody>
      </p:sp>
    </p:spTree>
    <p:extLst>
      <p:ext uri="{BB962C8B-B14F-4D97-AF65-F5344CB8AC3E}">
        <p14:creationId xmlns:p14="http://schemas.microsoft.com/office/powerpoint/2010/main" val="35583237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a:t>
            </a:r>
          </a:p>
        </p:txBody>
      </p:sp>
      <p:sp>
        <p:nvSpPr>
          <p:cNvPr id="3" name="Content Placeholder 2"/>
          <p:cNvSpPr>
            <a:spLocks noGrp="1"/>
          </p:cNvSpPr>
          <p:nvPr>
            <p:ph idx="1"/>
          </p:nvPr>
        </p:nvSpPr>
        <p:spPr/>
        <p:txBody>
          <a:bodyPr/>
          <a:lstStyle/>
          <a:p>
            <a:r>
              <a:rPr lang="en-US" dirty="0" err="1"/>
              <a:t>const</a:t>
            </a:r>
            <a:r>
              <a:rPr lang="en-US" dirty="0"/>
              <a:t> allows you to declare variables whose values are never intended to change. The variable is available from the block it is declared in.</a:t>
            </a:r>
          </a:p>
          <a:p>
            <a:endParaRPr lang="en-US" dirty="0"/>
          </a:p>
          <a:p>
            <a:r>
              <a:rPr lang="en-US" dirty="0" err="1"/>
              <a:t>const</a:t>
            </a:r>
            <a:r>
              <a:rPr lang="en-US" dirty="0"/>
              <a:t> Pi = 3.14; // variable Pi is set </a:t>
            </a:r>
          </a:p>
          <a:p>
            <a:r>
              <a:rPr lang="en-US" dirty="0"/>
              <a:t>Pi = 1; // will throw an error because you cannot change a constant variable.</a:t>
            </a:r>
          </a:p>
          <a:p>
            <a:endParaRPr lang="en-US" dirty="0"/>
          </a:p>
          <a:p>
            <a:endParaRPr lang="en-US" dirty="0"/>
          </a:p>
          <a:p>
            <a:endParaRPr lang="en-US" dirty="0"/>
          </a:p>
        </p:txBody>
      </p:sp>
    </p:spTree>
    <p:extLst>
      <p:ext uri="{BB962C8B-B14F-4D97-AF65-F5344CB8AC3E}">
        <p14:creationId xmlns:p14="http://schemas.microsoft.com/office/powerpoint/2010/main" val="21290776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69848" y="0"/>
            <a:ext cx="10058400" cy="1266073"/>
          </a:xfrm>
        </p:spPr>
        <p:txBody>
          <a:bodyPr/>
          <a:lstStyle/>
          <a:p>
            <a:r>
              <a:rPr lang="en-US" dirty="0"/>
              <a:t>Var – don’t use</a:t>
            </a:r>
          </a:p>
        </p:txBody>
      </p:sp>
      <p:sp>
        <p:nvSpPr>
          <p:cNvPr id="3" name="Content Placeholder 2"/>
          <p:cNvSpPr>
            <a:spLocks noGrp="1"/>
          </p:cNvSpPr>
          <p:nvPr>
            <p:ph idx="1"/>
          </p:nvPr>
        </p:nvSpPr>
        <p:spPr>
          <a:xfrm>
            <a:off x="1069848" y="1266073"/>
            <a:ext cx="10058400" cy="4906127"/>
          </a:xfrm>
        </p:spPr>
        <p:txBody>
          <a:bodyPr>
            <a:normAutofit fontScale="92500" lnSpcReduction="10000"/>
          </a:bodyPr>
          <a:lstStyle/>
          <a:p>
            <a:r>
              <a:rPr lang="en-US" dirty="0"/>
              <a:t>var is the most common declarative keyword. It does not have the restrictions that the other two keywords have. This is because it was traditionally the only way to declare a variable in JavaScript. A variable declared with the var keyword is available from the function it is declared in.</a:t>
            </a:r>
          </a:p>
          <a:p>
            <a:pPr marL="0" indent="0">
              <a:buNone/>
            </a:pPr>
            <a:r>
              <a:rPr lang="en-US" dirty="0"/>
              <a:t>	</a:t>
            </a:r>
            <a:r>
              <a:rPr lang="en-US" dirty="0" err="1"/>
              <a:t>var</a:t>
            </a:r>
            <a:r>
              <a:rPr lang="en-US" dirty="0"/>
              <a:t> a; </a:t>
            </a:r>
          </a:p>
          <a:p>
            <a:pPr marL="0" indent="0">
              <a:buNone/>
            </a:pPr>
            <a:r>
              <a:rPr lang="en-US" dirty="0"/>
              <a:t>	</a:t>
            </a:r>
            <a:r>
              <a:rPr lang="en-US" dirty="0" err="1"/>
              <a:t>var</a:t>
            </a:r>
            <a:r>
              <a:rPr lang="en-US" dirty="0"/>
              <a:t> name = 'Simon';</a:t>
            </a:r>
          </a:p>
          <a:p>
            <a:endParaRPr lang="en-US" dirty="0"/>
          </a:p>
          <a:p>
            <a:r>
              <a:rPr lang="en-US" dirty="0"/>
              <a:t>An example of scope with a variable declared with var:</a:t>
            </a:r>
          </a:p>
          <a:p>
            <a:pPr marL="0" indent="0">
              <a:buNone/>
            </a:pPr>
            <a:r>
              <a:rPr lang="en-US" dirty="0"/>
              <a:t>	// </a:t>
            </a:r>
            <a:r>
              <a:rPr lang="en-US" dirty="0" err="1"/>
              <a:t>myVarVariable</a:t>
            </a:r>
            <a:r>
              <a:rPr lang="en-US" dirty="0"/>
              <a:t> *is* visible out here</a:t>
            </a:r>
          </a:p>
          <a:p>
            <a:pPr marL="0" indent="0">
              <a:buNone/>
            </a:pPr>
            <a:r>
              <a:rPr lang="en-US" dirty="0"/>
              <a:t>	for (var </a:t>
            </a:r>
            <a:r>
              <a:rPr lang="en-US" dirty="0" err="1"/>
              <a:t>myVarVariable</a:t>
            </a:r>
            <a:r>
              <a:rPr lang="en-US" dirty="0"/>
              <a:t> = 0; </a:t>
            </a:r>
            <a:r>
              <a:rPr lang="en-US" dirty="0" err="1"/>
              <a:t>myVarVariable</a:t>
            </a:r>
            <a:r>
              <a:rPr lang="en-US" dirty="0"/>
              <a:t> &lt; 5; </a:t>
            </a:r>
            <a:r>
              <a:rPr lang="en-US" dirty="0" err="1"/>
              <a:t>myVarVariable</a:t>
            </a:r>
            <a:r>
              <a:rPr lang="en-US" dirty="0"/>
              <a:t>++) { </a:t>
            </a:r>
          </a:p>
          <a:p>
            <a:pPr marL="0" indent="0">
              <a:buNone/>
            </a:pPr>
            <a:r>
              <a:rPr lang="en-US" dirty="0"/>
              <a:t>	  // </a:t>
            </a:r>
            <a:r>
              <a:rPr lang="en-US" dirty="0" err="1"/>
              <a:t>myVarVariable</a:t>
            </a:r>
            <a:r>
              <a:rPr lang="en-US" dirty="0"/>
              <a:t> is visible to the whole function </a:t>
            </a:r>
          </a:p>
          <a:p>
            <a:pPr marL="0" indent="0">
              <a:buNone/>
            </a:pPr>
            <a:r>
              <a:rPr lang="en-US" dirty="0"/>
              <a:t>	} </a:t>
            </a:r>
          </a:p>
          <a:p>
            <a:pPr marL="0" indent="0">
              <a:buNone/>
            </a:pPr>
            <a:r>
              <a:rPr lang="en-US" dirty="0"/>
              <a:t>	// </a:t>
            </a:r>
            <a:r>
              <a:rPr lang="en-US" dirty="0" err="1"/>
              <a:t>myVarVariable</a:t>
            </a:r>
            <a:r>
              <a:rPr lang="en-US" dirty="0"/>
              <a:t> *is* visible out here</a:t>
            </a:r>
          </a:p>
          <a:p>
            <a:r>
              <a:rPr lang="en-US" dirty="0" err="1"/>
              <a:t>var</a:t>
            </a:r>
            <a:r>
              <a:rPr lang="en-US" dirty="0"/>
              <a:t> has been replaced with let.  You shouldn't use </a:t>
            </a:r>
            <a:r>
              <a:rPr lang="en-US" dirty="0" err="1"/>
              <a:t>var</a:t>
            </a:r>
            <a:r>
              <a:rPr lang="en-US" dirty="0"/>
              <a:t> anymore.</a:t>
            </a:r>
          </a:p>
        </p:txBody>
      </p:sp>
    </p:spTree>
    <p:extLst>
      <p:ext uri="{BB962C8B-B14F-4D97-AF65-F5344CB8AC3E}">
        <p14:creationId xmlns:p14="http://schemas.microsoft.com/office/powerpoint/2010/main" val="33387049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3BD80-1DE2-4337-8B19-9F221D876055}"/>
              </a:ext>
            </a:extLst>
          </p:cNvPr>
          <p:cNvSpPr>
            <a:spLocks noGrp="1"/>
          </p:cNvSpPr>
          <p:nvPr>
            <p:ph type="title"/>
          </p:nvPr>
        </p:nvSpPr>
        <p:spPr/>
        <p:txBody>
          <a:bodyPr/>
          <a:lstStyle/>
          <a:p>
            <a:r>
              <a:rPr lang="en-US" dirty="0"/>
              <a:t>Let, const, var</a:t>
            </a:r>
          </a:p>
        </p:txBody>
      </p:sp>
      <p:sp>
        <p:nvSpPr>
          <p:cNvPr id="3" name="Content Placeholder 2">
            <a:extLst>
              <a:ext uri="{FF2B5EF4-FFF2-40B4-BE49-F238E27FC236}">
                <a16:creationId xmlns:a16="http://schemas.microsoft.com/office/drawing/2014/main" id="{FAEB49F3-5D30-4AAA-ADED-F23EAA2AE280}"/>
              </a:ext>
            </a:extLst>
          </p:cNvPr>
          <p:cNvSpPr>
            <a:spLocks noGrp="1"/>
          </p:cNvSpPr>
          <p:nvPr>
            <p:ph idx="1"/>
          </p:nvPr>
        </p:nvSpPr>
        <p:spPr/>
        <p:txBody>
          <a:bodyPr/>
          <a:lstStyle/>
          <a:p>
            <a:r>
              <a:rPr lang="en-US" dirty="0"/>
              <a:t>My suggestion</a:t>
            </a:r>
          </a:p>
          <a:p>
            <a:r>
              <a:rPr lang="en-US" dirty="0"/>
              <a:t>Use </a:t>
            </a:r>
            <a:r>
              <a:rPr lang="en-US" b="1" i="1" dirty="0"/>
              <a:t>let</a:t>
            </a:r>
            <a:r>
              <a:rPr lang="en-US" dirty="0"/>
              <a:t> for variables.</a:t>
            </a:r>
          </a:p>
          <a:p>
            <a:r>
              <a:rPr lang="en-US" dirty="0"/>
              <a:t>Use </a:t>
            </a:r>
            <a:r>
              <a:rPr lang="en-US" b="1" i="1" dirty="0"/>
              <a:t>const</a:t>
            </a:r>
            <a:r>
              <a:rPr lang="en-US" dirty="0"/>
              <a:t> for constants or object references that wont change.</a:t>
            </a:r>
          </a:p>
          <a:p>
            <a:r>
              <a:rPr lang="en-US" dirty="0"/>
              <a:t>Don’t use </a:t>
            </a:r>
            <a:r>
              <a:rPr lang="en-US" b="1" i="1" dirty="0"/>
              <a:t>var</a:t>
            </a:r>
            <a:r>
              <a:rPr lang="en-US" dirty="0"/>
              <a:t>.</a:t>
            </a:r>
          </a:p>
          <a:p>
            <a:endParaRPr lang="en-US" dirty="0"/>
          </a:p>
        </p:txBody>
      </p:sp>
    </p:spTree>
    <p:extLst>
      <p:ext uri="{BB962C8B-B14F-4D97-AF65-F5344CB8AC3E}">
        <p14:creationId xmlns:p14="http://schemas.microsoft.com/office/powerpoint/2010/main" val="8805061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Don’t use these</a:t>
            </a:r>
          </a:p>
        </p:txBody>
      </p:sp>
      <p:sp>
        <p:nvSpPr>
          <p:cNvPr id="3" name="Content Placeholder 2"/>
          <p:cNvSpPr>
            <a:spLocks noGrp="1"/>
          </p:cNvSpPr>
          <p:nvPr>
            <p:ph idx="1"/>
          </p:nvPr>
        </p:nvSpPr>
        <p:spPr/>
        <p:txBody>
          <a:bodyPr/>
          <a:lstStyle/>
          <a:p>
            <a:endParaRPr lang="en-US" dirty="0"/>
          </a:p>
          <a:p>
            <a:r>
              <a:rPr lang="en-US" dirty="0"/>
              <a:t>Anything declared with </a:t>
            </a:r>
            <a:r>
              <a:rPr lang="en-US" b="1" i="1" dirty="0"/>
              <a:t>new</a:t>
            </a:r>
            <a:r>
              <a:rPr lang="en-US" dirty="0"/>
              <a:t> is slow and less desirable.</a:t>
            </a:r>
          </a:p>
          <a:p>
            <a:r>
              <a:rPr lang="en-US" dirty="0"/>
              <a:t>Don't use new to create JavaScript from "primitive" types.</a:t>
            </a:r>
          </a:p>
          <a:p>
            <a:r>
              <a:rPr lang="en-US" dirty="0"/>
              <a:t>New creates an object with a lot of overhead.</a:t>
            </a:r>
          </a:p>
          <a:p>
            <a:pPr marL="0" indent="0">
              <a:buNone/>
            </a:pPr>
            <a:r>
              <a:rPr lang="en-US" dirty="0"/>
              <a:t>	let x = new String();        // Declares x as a String object</a:t>
            </a:r>
          </a:p>
          <a:p>
            <a:pPr marL="0" indent="0">
              <a:buNone/>
            </a:pPr>
            <a:r>
              <a:rPr lang="en-US" dirty="0"/>
              <a:t>	let y = new Number();        // Declares y as a Number object</a:t>
            </a:r>
          </a:p>
          <a:p>
            <a:pPr marL="0" indent="0">
              <a:buNone/>
            </a:pPr>
            <a:r>
              <a:rPr lang="en-US" dirty="0"/>
              <a:t>	let z = new Boolean();       // Declares z as a Boolean object</a:t>
            </a:r>
          </a:p>
          <a:p>
            <a:r>
              <a:rPr lang="en-US" dirty="0"/>
              <a:t>An exception is creating multiple objects.</a:t>
            </a:r>
          </a:p>
        </p:txBody>
      </p:sp>
    </p:spTree>
    <p:extLst>
      <p:ext uri="{BB962C8B-B14F-4D97-AF65-F5344CB8AC3E}">
        <p14:creationId xmlns:p14="http://schemas.microsoft.com/office/powerpoint/2010/main" val="38748219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1371F-C804-4AE3-B40F-86CA880AE6AB}"/>
              </a:ext>
            </a:extLst>
          </p:cNvPr>
          <p:cNvSpPr>
            <a:spLocks noGrp="1"/>
          </p:cNvSpPr>
          <p:nvPr>
            <p:ph type="title"/>
          </p:nvPr>
        </p:nvSpPr>
        <p:spPr/>
        <p:txBody>
          <a:bodyPr/>
          <a:lstStyle/>
          <a:p>
            <a:r>
              <a:rPr lang="en-US" dirty="0"/>
              <a:t>Control structures</a:t>
            </a:r>
          </a:p>
        </p:txBody>
      </p:sp>
      <p:sp>
        <p:nvSpPr>
          <p:cNvPr id="3" name="Content Placeholder 2">
            <a:extLst>
              <a:ext uri="{FF2B5EF4-FFF2-40B4-BE49-F238E27FC236}">
                <a16:creationId xmlns:a16="http://schemas.microsoft.com/office/drawing/2014/main" id="{8DDC6826-B3EC-40FE-A430-062BB3B84018}"/>
              </a:ext>
            </a:extLst>
          </p:cNvPr>
          <p:cNvSpPr>
            <a:spLocks noGrp="1"/>
          </p:cNvSpPr>
          <p:nvPr>
            <p:ph idx="1"/>
          </p:nvPr>
        </p:nvSpPr>
        <p:spPr/>
        <p:txBody>
          <a:bodyPr/>
          <a:lstStyle/>
          <a:p>
            <a:r>
              <a:rPr lang="en-US" dirty="0"/>
              <a:t>All work the same</a:t>
            </a:r>
          </a:p>
          <a:p>
            <a:r>
              <a:rPr lang="en-US" dirty="0"/>
              <a:t>if</a:t>
            </a:r>
          </a:p>
          <a:p>
            <a:r>
              <a:rPr lang="en-US" dirty="0"/>
              <a:t>switch</a:t>
            </a:r>
          </a:p>
          <a:p>
            <a:r>
              <a:rPr lang="en-US" dirty="0"/>
              <a:t>for</a:t>
            </a:r>
          </a:p>
          <a:p>
            <a:r>
              <a:rPr lang="en-US" dirty="0"/>
              <a:t>while</a:t>
            </a:r>
          </a:p>
          <a:p>
            <a:r>
              <a:rPr lang="en-US" dirty="0"/>
              <a:t>do while</a:t>
            </a:r>
          </a:p>
        </p:txBody>
      </p:sp>
    </p:spTree>
    <p:extLst>
      <p:ext uri="{BB962C8B-B14F-4D97-AF65-F5344CB8AC3E}">
        <p14:creationId xmlns:p14="http://schemas.microsoft.com/office/powerpoint/2010/main" val="381729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13463-7E25-42C4-A9FF-230981DAA00B}"/>
              </a:ext>
            </a:extLst>
          </p:cNvPr>
          <p:cNvSpPr>
            <a:spLocks noGrp="1"/>
          </p:cNvSpPr>
          <p:nvPr>
            <p:ph type="title"/>
          </p:nvPr>
        </p:nvSpPr>
        <p:spPr/>
        <p:txBody>
          <a:bodyPr/>
          <a:lstStyle/>
          <a:p>
            <a:r>
              <a:rPr lang="en-US" dirty="0"/>
              <a:t>For has some other options</a:t>
            </a:r>
          </a:p>
        </p:txBody>
      </p:sp>
      <p:sp>
        <p:nvSpPr>
          <p:cNvPr id="3" name="Content Placeholder 2">
            <a:extLst>
              <a:ext uri="{FF2B5EF4-FFF2-40B4-BE49-F238E27FC236}">
                <a16:creationId xmlns:a16="http://schemas.microsoft.com/office/drawing/2014/main" id="{71C56902-BD55-403B-ADE6-C7A9C0178BD0}"/>
              </a:ext>
            </a:extLst>
          </p:cNvPr>
          <p:cNvSpPr>
            <a:spLocks noGrp="1"/>
          </p:cNvSpPr>
          <p:nvPr>
            <p:ph idx="1"/>
          </p:nvPr>
        </p:nvSpPr>
        <p:spPr/>
        <p:txBody>
          <a:bodyPr>
            <a:normAutofit lnSpcReduction="10000"/>
          </a:bodyPr>
          <a:lstStyle/>
          <a:p>
            <a:pPr marL="0" indent="0">
              <a:buNone/>
            </a:pPr>
            <a:r>
              <a:rPr lang="en-US" dirty="0"/>
              <a:t>for (let value of array) {  </a:t>
            </a:r>
          </a:p>
          <a:p>
            <a:pPr marL="0" indent="0">
              <a:buNone/>
            </a:pPr>
            <a:r>
              <a:rPr lang="en-US" dirty="0"/>
              <a:t>  // do something with value, things with indexes</a:t>
            </a:r>
          </a:p>
          <a:p>
            <a:pPr marL="0" indent="0">
              <a:buNone/>
            </a:pPr>
            <a:r>
              <a:rPr lang="en-US" dirty="0"/>
              <a:t>}</a:t>
            </a:r>
          </a:p>
          <a:p>
            <a:endParaRPr lang="en-US" dirty="0"/>
          </a:p>
          <a:p>
            <a:pPr marL="0" indent="0">
              <a:buNone/>
            </a:pPr>
            <a:r>
              <a:rPr lang="en-US" dirty="0"/>
              <a:t>and for...in:</a:t>
            </a:r>
          </a:p>
          <a:p>
            <a:endParaRPr lang="en-US" dirty="0"/>
          </a:p>
          <a:p>
            <a:pPr marL="0" indent="0">
              <a:buNone/>
            </a:pPr>
            <a:r>
              <a:rPr lang="en-US" dirty="0"/>
              <a:t>for (let property in object) {</a:t>
            </a:r>
          </a:p>
          <a:p>
            <a:pPr marL="0" indent="0">
              <a:buNone/>
            </a:pPr>
            <a:r>
              <a:rPr lang="en-US" dirty="0"/>
              <a:t>  // do something with object property, collections with properties that </a:t>
            </a:r>
          </a:p>
          <a:p>
            <a:pPr marL="0" indent="0">
              <a:buNone/>
            </a:pPr>
            <a:r>
              <a:rPr lang="en-US" dirty="0"/>
              <a:t>  //are not indexes</a:t>
            </a:r>
          </a:p>
          <a:p>
            <a:pPr marL="0" indent="0">
              <a:buNone/>
            </a:pPr>
            <a:r>
              <a:rPr lang="en-US" dirty="0"/>
              <a:t>}</a:t>
            </a:r>
          </a:p>
        </p:txBody>
      </p:sp>
    </p:spTree>
    <p:extLst>
      <p:ext uri="{BB962C8B-B14F-4D97-AF65-F5344CB8AC3E}">
        <p14:creationId xmlns:p14="http://schemas.microsoft.com/office/powerpoint/2010/main" val="11687128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BAC2D-7D64-4CAB-802A-D1001332DFC7}"/>
              </a:ext>
            </a:extLst>
          </p:cNvPr>
          <p:cNvSpPr>
            <a:spLocks noGrp="1"/>
          </p:cNvSpPr>
          <p:nvPr>
            <p:ph type="title"/>
          </p:nvPr>
        </p:nvSpPr>
        <p:spPr>
          <a:xfrm>
            <a:off x="1069848" y="0"/>
            <a:ext cx="10058400" cy="1609344"/>
          </a:xfrm>
        </p:spPr>
        <p:txBody>
          <a:bodyPr/>
          <a:lstStyle/>
          <a:p>
            <a:r>
              <a:rPr lang="en-US" dirty="0"/>
              <a:t>operators</a:t>
            </a:r>
          </a:p>
        </p:txBody>
      </p:sp>
      <p:sp>
        <p:nvSpPr>
          <p:cNvPr id="3" name="Content Placeholder 2">
            <a:extLst>
              <a:ext uri="{FF2B5EF4-FFF2-40B4-BE49-F238E27FC236}">
                <a16:creationId xmlns:a16="http://schemas.microsoft.com/office/drawing/2014/main" id="{F7EF78E0-F2E6-4A68-B48E-88A9401DAFA1}"/>
              </a:ext>
            </a:extLst>
          </p:cNvPr>
          <p:cNvSpPr>
            <a:spLocks noGrp="1"/>
          </p:cNvSpPr>
          <p:nvPr>
            <p:ph idx="1"/>
          </p:nvPr>
        </p:nvSpPr>
        <p:spPr>
          <a:xfrm>
            <a:off x="1069848" y="1272746"/>
            <a:ext cx="10058400" cy="4899454"/>
          </a:xfrm>
        </p:spPr>
        <p:txBody>
          <a:bodyPr>
            <a:normAutofit fontScale="85000" lnSpcReduction="20000"/>
          </a:bodyPr>
          <a:lstStyle/>
          <a:p>
            <a:r>
              <a:rPr lang="en-US" dirty="0"/>
              <a:t>Arithmetic</a:t>
            </a:r>
          </a:p>
          <a:p>
            <a:pPr lvl="1"/>
            <a:r>
              <a:rPr lang="en-US" dirty="0"/>
              <a:t>+, -, *, /, %, *, ++, --, ** (exponentiation)	</a:t>
            </a:r>
          </a:p>
          <a:p>
            <a:r>
              <a:rPr lang="en-US" dirty="0"/>
              <a:t>Exponentiation </a:t>
            </a:r>
          </a:p>
          <a:p>
            <a:pPr lvl="1"/>
            <a:r>
              <a:rPr lang="en-US" dirty="0"/>
              <a:t>**</a:t>
            </a:r>
          </a:p>
          <a:p>
            <a:pPr marL="274320" lvl="1" indent="0">
              <a:buNone/>
            </a:pPr>
            <a:r>
              <a:rPr lang="en-US" dirty="0"/>
              <a:t>	let x = 2 ** 10;  //x=1024</a:t>
            </a:r>
          </a:p>
          <a:p>
            <a:r>
              <a:rPr lang="en-US" dirty="0"/>
              <a:t>Comparison</a:t>
            </a:r>
          </a:p>
          <a:p>
            <a:pPr lvl="1"/>
            <a:r>
              <a:rPr lang="en-US" dirty="0"/>
              <a:t>==, ===,  !=, !==, &gt;, &lt;, &gt;=, &lt;=, ?</a:t>
            </a:r>
          </a:p>
          <a:p>
            <a:r>
              <a:rPr lang="en-US" dirty="0"/>
              <a:t>Logical</a:t>
            </a:r>
          </a:p>
          <a:p>
            <a:pPr lvl="1"/>
            <a:r>
              <a:rPr lang="en-US" dirty="0"/>
              <a:t>&amp;&amp;, ||, !</a:t>
            </a:r>
          </a:p>
          <a:p>
            <a:r>
              <a:rPr lang="en-US" dirty="0"/>
              <a:t>Type</a:t>
            </a:r>
          </a:p>
          <a:p>
            <a:pPr lvl="1"/>
            <a:r>
              <a:rPr lang="en-US" dirty="0" err="1"/>
              <a:t>typeof</a:t>
            </a:r>
            <a:r>
              <a:rPr lang="en-US" dirty="0"/>
              <a:t> - variables</a:t>
            </a:r>
          </a:p>
          <a:p>
            <a:pPr lvl="1"/>
            <a:r>
              <a:rPr lang="en-US" dirty="0" err="1"/>
              <a:t>instanceof</a:t>
            </a:r>
            <a:r>
              <a:rPr lang="en-US" dirty="0"/>
              <a:t> - objects</a:t>
            </a:r>
          </a:p>
          <a:p>
            <a:pPr lvl="1"/>
            <a:r>
              <a:rPr lang="en-US" dirty="0"/>
              <a:t>In (PI in Math)</a:t>
            </a:r>
          </a:p>
          <a:p>
            <a:r>
              <a:rPr lang="en-US" dirty="0"/>
              <a:t>Bitwise</a:t>
            </a:r>
          </a:p>
          <a:p>
            <a:pPr lvl="1"/>
            <a:r>
              <a:rPr lang="en-US" dirty="0"/>
              <a:t>&amp;, </a:t>
            </a:r>
            <a:r>
              <a:rPr lang="en-US"/>
              <a:t>|, ~, </a:t>
            </a:r>
            <a:r>
              <a:rPr lang="en-US" dirty="0"/>
              <a:t>^, &lt;&lt;, &gt;&gt;, &gt;&gt;&gt; (zero fill right shift)</a:t>
            </a:r>
          </a:p>
          <a:p>
            <a:r>
              <a:rPr lang="en-US" dirty="0"/>
              <a:t>Assignment</a:t>
            </a:r>
          </a:p>
          <a:p>
            <a:pPr lvl="1"/>
            <a:r>
              <a:rPr lang="en-US" dirty="0"/>
              <a:t>=, +=, -=, *=, /=, %=, &lt;&lt;=, &gt;&gt;=, &gt;&gt;&gt;=, &amp;=, ^=, |=, **= (DON’T USE **=)</a:t>
            </a:r>
          </a:p>
          <a:p>
            <a:pPr marL="274320" lvl="1" indent="0">
              <a:buNone/>
            </a:pPr>
            <a:r>
              <a:rPr lang="en-US" dirty="0"/>
              <a:t>	</a:t>
            </a:r>
          </a:p>
        </p:txBody>
      </p:sp>
    </p:spTree>
    <p:extLst>
      <p:ext uri="{BB962C8B-B14F-4D97-AF65-F5344CB8AC3E}">
        <p14:creationId xmlns:p14="http://schemas.microsoft.com/office/powerpoint/2010/main" val="17708385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43CB0-023B-4F35-A5E0-F58508197B69}"/>
              </a:ext>
            </a:extLst>
          </p:cNvPr>
          <p:cNvSpPr>
            <a:spLocks noGrp="1"/>
          </p:cNvSpPr>
          <p:nvPr>
            <p:ph type="title"/>
          </p:nvPr>
        </p:nvSpPr>
        <p:spPr/>
        <p:txBody>
          <a:bodyPr/>
          <a:lstStyle/>
          <a:p>
            <a:r>
              <a:rPr lang="en-US" dirty="0"/>
              <a:t>New use for &amp;&amp; and ||</a:t>
            </a:r>
          </a:p>
        </p:txBody>
      </p:sp>
      <p:sp>
        <p:nvSpPr>
          <p:cNvPr id="3" name="Content Placeholder 2">
            <a:extLst>
              <a:ext uri="{FF2B5EF4-FFF2-40B4-BE49-F238E27FC236}">
                <a16:creationId xmlns:a16="http://schemas.microsoft.com/office/drawing/2014/main" id="{EB8302F7-03DB-4A22-AE5A-26A32C1FF364}"/>
              </a:ext>
            </a:extLst>
          </p:cNvPr>
          <p:cNvSpPr>
            <a:spLocks noGrp="1"/>
          </p:cNvSpPr>
          <p:nvPr>
            <p:ph idx="1"/>
          </p:nvPr>
        </p:nvSpPr>
        <p:spPr/>
        <p:txBody>
          <a:bodyPr/>
          <a:lstStyle/>
          <a:p>
            <a:r>
              <a:rPr lang="en-US" dirty="0"/>
              <a:t>The &amp;&amp; and || operators use short-circuit logic, which means whether they will execute their second operand is dependent on the first. This is useful for checking for null objects before accessing their attributes:</a:t>
            </a:r>
          </a:p>
          <a:p>
            <a:endParaRPr lang="en-US" dirty="0"/>
          </a:p>
          <a:p>
            <a:pPr marL="0" indent="0">
              <a:buNone/>
            </a:pPr>
            <a:r>
              <a:rPr lang="en-US" dirty="0"/>
              <a:t>	let name = o &amp;&amp; </a:t>
            </a:r>
            <a:r>
              <a:rPr lang="en-US" dirty="0" err="1"/>
              <a:t>o.getName</a:t>
            </a:r>
            <a:r>
              <a:rPr lang="en-US" dirty="0"/>
              <a:t>();</a:t>
            </a:r>
          </a:p>
          <a:p>
            <a:endParaRPr lang="en-US" dirty="0"/>
          </a:p>
          <a:p>
            <a:r>
              <a:rPr lang="en-US" dirty="0"/>
              <a:t>Or for caching values (when </a:t>
            </a:r>
            <a:r>
              <a:rPr lang="en-US" dirty="0" err="1"/>
              <a:t>falsy</a:t>
            </a:r>
            <a:r>
              <a:rPr lang="en-US" dirty="0"/>
              <a:t> values are invalid):</a:t>
            </a:r>
          </a:p>
          <a:p>
            <a:endParaRPr lang="en-US" dirty="0"/>
          </a:p>
          <a:p>
            <a:pPr marL="0" indent="0">
              <a:buNone/>
            </a:pPr>
            <a:r>
              <a:rPr lang="en-US" dirty="0"/>
              <a:t>	let name = </a:t>
            </a:r>
            <a:r>
              <a:rPr lang="en-US" dirty="0" err="1"/>
              <a:t>cachedName</a:t>
            </a:r>
            <a:r>
              <a:rPr lang="en-US" dirty="0"/>
              <a:t> || (</a:t>
            </a:r>
            <a:r>
              <a:rPr lang="en-US" dirty="0" err="1"/>
              <a:t>cachedName</a:t>
            </a:r>
            <a:r>
              <a:rPr lang="en-US" dirty="0"/>
              <a:t> = </a:t>
            </a:r>
            <a:r>
              <a:rPr lang="en-US" dirty="0" err="1"/>
              <a:t>getName</a:t>
            </a:r>
            <a:r>
              <a:rPr lang="en-US" dirty="0"/>
              <a:t>());</a:t>
            </a:r>
          </a:p>
        </p:txBody>
      </p:sp>
    </p:spTree>
    <p:extLst>
      <p:ext uri="{BB962C8B-B14F-4D97-AF65-F5344CB8AC3E}">
        <p14:creationId xmlns:p14="http://schemas.microsoft.com/office/powerpoint/2010/main" val="105370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CBE30-92B5-E96D-7498-3592A2BECECC}"/>
              </a:ext>
            </a:extLst>
          </p:cNvPr>
          <p:cNvSpPr>
            <a:spLocks noGrp="1"/>
          </p:cNvSpPr>
          <p:nvPr>
            <p:ph type="title"/>
          </p:nvPr>
        </p:nvSpPr>
        <p:spPr/>
        <p:txBody>
          <a:bodyPr/>
          <a:lstStyle/>
          <a:p>
            <a:r>
              <a:rPr lang="en-US" dirty="0"/>
              <a:t>&amp;&amp; Operation</a:t>
            </a:r>
          </a:p>
        </p:txBody>
      </p:sp>
      <p:sp>
        <p:nvSpPr>
          <p:cNvPr id="3" name="Content Placeholder 2">
            <a:extLst>
              <a:ext uri="{FF2B5EF4-FFF2-40B4-BE49-F238E27FC236}">
                <a16:creationId xmlns:a16="http://schemas.microsoft.com/office/drawing/2014/main" id="{E87F6A4F-3D52-B925-FA7B-D2312228B136}"/>
              </a:ext>
            </a:extLst>
          </p:cNvPr>
          <p:cNvSpPr>
            <a:spLocks noGrp="1"/>
          </p:cNvSpPr>
          <p:nvPr>
            <p:ph idx="1"/>
          </p:nvPr>
        </p:nvSpPr>
        <p:spPr/>
        <p:txBody>
          <a:bodyPr/>
          <a:lstStyle/>
          <a:p>
            <a:r>
              <a:rPr lang="en-US" dirty="0"/>
              <a:t>Starting from left and moving to the right, return the </a:t>
            </a:r>
            <a:r>
              <a:rPr lang="en-US" i="1" dirty="0"/>
              <a:t>first</a:t>
            </a:r>
            <a:r>
              <a:rPr lang="en-US" dirty="0"/>
              <a:t> operand that is </a:t>
            </a:r>
            <a:r>
              <a:rPr lang="en-US" i="1" dirty="0" err="1"/>
              <a:t>falsy</a:t>
            </a:r>
            <a:r>
              <a:rPr lang="en-US" dirty="0"/>
              <a:t>. If no </a:t>
            </a:r>
            <a:r>
              <a:rPr lang="en-US" dirty="0" err="1"/>
              <a:t>falsy</a:t>
            </a:r>
            <a:r>
              <a:rPr lang="en-US" dirty="0"/>
              <a:t> operand was found, return the </a:t>
            </a:r>
            <a:r>
              <a:rPr lang="en-US" i="1" dirty="0"/>
              <a:t>latest</a:t>
            </a:r>
            <a:r>
              <a:rPr lang="en-US" dirty="0"/>
              <a:t> operand.</a:t>
            </a:r>
          </a:p>
          <a:p>
            <a:pPr marL="0" indent="0">
              <a:buNone/>
            </a:pPr>
            <a:r>
              <a:rPr lang="en-US" dirty="0"/>
              <a:t>	true &amp;&amp; false &amp;&amp; true; // =&gt; false</a:t>
            </a:r>
          </a:p>
          <a:p>
            <a:pPr marL="0" indent="0">
              <a:buNone/>
            </a:pPr>
            <a:r>
              <a:rPr lang="en-US" dirty="0"/>
              <a:t>	3 &amp;&amp; 1 &amp;&amp; 0 &amp;&amp; 10; // =&gt; 0</a:t>
            </a:r>
          </a:p>
          <a:p>
            <a:pPr marL="0" indent="0">
              <a:buNone/>
            </a:pPr>
            <a:r>
              <a:rPr lang="en-US" dirty="0"/>
              <a:t>	true &amp;&amp; 1 &amp;&amp; { name: 'John' }; //=&gt; { name: 'John' } </a:t>
            </a:r>
          </a:p>
          <a:p>
            <a:pPr marL="0" indent="0">
              <a:buNone/>
            </a:pPr>
            <a:endParaRPr lang="en-US" dirty="0"/>
          </a:p>
          <a:p>
            <a:r>
              <a:rPr lang="en-US" dirty="0"/>
              <a:t>So, for this one	</a:t>
            </a:r>
          </a:p>
          <a:p>
            <a:pPr marL="0" indent="0">
              <a:buNone/>
            </a:pPr>
            <a:r>
              <a:rPr lang="en-US" dirty="0"/>
              <a:t>	let name = o &amp;&amp; </a:t>
            </a:r>
            <a:r>
              <a:rPr lang="en-US" dirty="0" err="1"/>
              <a:t>o.getName</a:t>
            </a:r>
            <a:r>
              <a:rPr lang="en-US" dirty="0"/>
              <a:t>(); </a:t>
            </a:r>
          </a:p>
          <a:p>
            <a:pPr marL="274320" lvl="1" indent="0">
              <a:buNone/>
            </a:pPr>
            <a:r>
              <a:rPr lang="en-US" dirty="0"/>
              <a:t>	if o is </a:t>
            </a:r>
            <a:r>
              <a:rPr lang="en-US" dirty="0" err="1"/>
              <a:t>falsy</a:t>
            </a:r>
            <a:r>
              <a:rPr lang="en-US" dirty="0"/>
              <a:t> (null) name becomes null.</a:t>
            </a:r>
          </a:p>
          <a:p>
            <a:pPr marL="274320" lvl="1" indent="0">
              <a:buNone/>
            </a:pPr>
            <a:r>
              <a:rPr lang="en-US" dirty="0"/>
              <a:t>	if o is truthy then name becomes the last item </a:t>
            </a:r>
            <a:r>
              <a:rPr lang="en-US" dirty="0" err="1"/>
              <a:t>o.getName</a:t>
            </a:r>
            <a:r>
              <a:rPr lang="en-US" dirty="0"/>
              <a:t>()</a:t>
            </a:r>
          </a:p>
        </p:txBody>
      </p:sp>
    </p:spTree>
    <p:extLst>
      <p:ext uri="{BB962C8B-B14F-4D97-AF65-F5344CB8AC3E}">
        <p14:creationId xmlns:p14="http://schemas.microsoft.com/office/powerpoint/2010/main" val="37528883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C0C65-91FB-2616-1399-69DCD6F36EA3}"/>
              </a:ext>
            </a:extLst>
          </p:cNvPr>
          <p:cNvSpPr>
            <a:spLocks noGrp="1"/>
          </p:cNvSpPr>
          <p:nvPr>
            <p:ph type="title"/>
          </p:nvPr>
        </p:nvSpPr>
        <p:spPr>
          <a:xfrm>
            <a:off x="1069848" y="279386"/>
            <a:ext cx="10058400" cy="812827"/>
          </a:xfrm>
        </p:spPr>
        <p:txBody>
          <a:bodyPr>
            <a:normAutofit fontScale="90000"/>
          </a:bodyPr>
          <a:lstStyle/>
          <a:p>
            <a:r>
              <a:rPr lang="en-US" dirty="0"/>
              <a:t>|| Operation</a:t>
            </a:r>
          </a:p>
        </p:txBody>
      </p:sp>
      <p:sp>
        <p:nvSpPr>
          <p:cNvPr id="3" name="Content Placeholder 2">
            <a:extLst>
              <a:ext uri="{FF2B5EF4-FFF2-40B4-BE49-F238E27FC236}">
                <a16:creationId xmlns:a16="http://schemas.microsoft.com/office/drawing/2014/main" id="{08F3B1B9-81D9-9D45-F41A-E2E4D41AB70F}"/>
              </a:ext>
            </a:extLst>
          </p:cNvPr>
          <p:cNvSpPr>
            <a:spLocks noGrp="1"/>
          </p:cNvSpPr>
          <p:nvPr>
            <p:ph idx="1"/>
          </p:nvPr>
        </p:nvSpPr>
        <p:spPr>
          <a:xfrm>
            <a:off x="1069848" y="1092213"/>
            <a:ext cx="10058400" cy="5079987"/>
          </a:xfrm>
        </p:spPr>
        <p:txBody>
          <a:bodyPr>
            <a:normAutofit fontScale="85000" lnSpcReduction="10000"/>
          </a:bodyPr>
          <a:lstStyle/>
          <a:p>
            <a:r>
              <a:rPr lang="en-US" dirty="0"/>
              <a:t>Starting from left and moving to the right, return the </a:t>
            </a:r>
            <a:r>
              <a:rPr lang="en-US" i="1" dirty="0"/>
              <a:t>first</a:t>
            </a:r>
            <a:r>
              <a:rPr lang="en-US" dirty="0"/>
              <a:t> operand that is </a:t>
            </a:r>
            <a:r>
              <a:rPr lang="en-US" i="1" dirty="0"/>
              <a:t>truthy</a:t>
            </a:r>
            <a:r>
              <a:rPr lang="en-US" dirty="0"/>
              <a:t>. If no truthy operand was found, return the </a:t>
            </a:r>
            <a:r>
              <a:rPr lang="en-US" i="1" dirty="0"/>
              <a:t>latest</a:t>
            </a:r>
            <a:r>
              <a:rPr lang="en-US" dirty="0"/>
              <a:t> operand.</a:t>
            </a:r>
          </a:p>
          <a:p>
            <a:pPr marL="0" indent="0">
              <a:buNone/>
            </a:pPr>
            <a:r>
              <a:rPr lang="en-US" dirty="0"/>
              <a:t>	true || false; // =&gt; true</a:t>
            </a:r>
          </a:p>
          <a:p>
            <a:pPr marL="0" indent="0">
              <a:buNone/>
            </a:pPr>
            <a:r>
              <a:rPr lang="en-US" dirty="0"/>
              <a:t>	0 || -1 || 10; // =&gt; -1</a:t>
            </a:r>
          </a:p>
          <a:p>
            <a:pPr marL="0" indent="0">
              <a:buNone/>
            </a:pPr>
            <a:r>
              <a:rPr lang="en-US" dirty="0"/>
              <a:t>	const person = {</a:t>
            </a:r>
          </a:p>
          <a:p>
            <a:pPr marL="0" indent="0">
              <a:buNone/>
            </a:pPr>
            <a:r>
              <a:rPr lang="en-US" dirty="0"/>
              <a:t>	  name: 'John'</a:t>
            </a:r>
          </a:p>
          <a:p>
            <a:pPr marL="0" indent="0">
              <a:buNone/>
            </a:pPr>
            <a:r>
              <a:rPr lang="en-US" dirty="0"/>
              <a:t>	};</a:t>
            </a:r>
          </a:p>
          <a:p>
            <a:pPr marL="0" indent="0">
              <a:buNone/>
            </a:pPr>
            <a:r>
              <a:rPr lang="en-US" dirty="0"/>
              <a:t>	person.name || 'Unknown'; // =&gt; 'John'</a:t>
            </a:r>
          </a:p>
          <a:p>
            <a:pPr marL="0" indent="0">
              <a:buNone/>
            </a:pPr>
            <a:r>
              <a:rPr lang="en-US" dirty="0"/>
              <a:t>	</a:t>
            </a:r>
            <a:r>
              <a:rPr lang="en-US" dirty="0" err="1"/>
              <a:t>person.job</a:t>
            </a:r>
            <a:r>
              <a:rPr lang="en-US" dirty="0"/>
              <a:t>  || 'Unknown'; // =&gt; 'Unknown'</a:t>
            </a:r>
          </a:p>
          <a:p>
            <a:pPr marL="0" indent="0">
              <a:buNone/>
            </a:pPr>
            <a:endParaRPr lang="en-US" dirty="0"/>
          </a:p>
          <a:p>
            <a:r>
              <a:rPr lang="en-US" dirty="0"/>
              <a:t>So, for this one</a:t>
            </a:r>
          </a:p>
          <a:p>
            <a:pPr marL="0" indent="0">
              <a:buNone/>
            </a:pPr>
            <a:r>
              <a:rPr lang="en-US" dirty="0"/>
              <a:t>	let name = </a:t>
            </a:r>
            <a:r>
              <a:rPr lang="en-US" dirty="0" err="1"/>
              <a:t>cachedName</a:t>
            </a:r>
            <a:r>
              <a:rPr lang="en-US" dirty="0"/>
              <a:t> || (</a:t>
            </a:r>
            <a:r>
              <a:rPr lang="en-US" dirty="0" err="1"/>
              <a:t>cachedName</a:t>
            </a:r>
            <a:r>
              <a:rPr lang="en-US" dirty="0"/>
              <a:t> = </a:t>
            </a:r>
            <a:r>
              <a:rPr lang="en-US" dirty="0" err="1"/>
              <a:t>getName</a:t>
            </a:r>
            <a:r>
              <a:rPr lang="en-US" dirty="0"/>
              <a:t>());</a:t>
            </a:r>
          </a:p>
          <a:p>
            <a:pPr marL="0" indent="0">
              <a:buNone/>
            </a:pPr>
            <a:r>
              <a:rPr lang="en-US" dirty="0"/>
              <a:t>	if </a:t>
            </a:r>
            <a:r>
              <a:rPr lang="en-US" dirty="0" err="1"/>
              <a:t>cachedName</a:t>
            </a:r>
            <a:r>
              <a:rPr lang="en-US" dirty="0"/>
              <a:t> is truthy (not null or not an empty string) name becomes cached name</a:t>
            </a:r>
          </a:p>
          <a:p>
            <a:pPr marL="0" indent="0">
              <a:buNone/>
            </a:pPr>
            <a:r>
              <a:rPr lang="en-US" dirty="0"/>
              <a:t>	if </a:t>
            </a:r>
            <a:r>
              <a:rPr lang="en-US" dirty="0" err="1"/>
              <a:t>cachedName</a:t>
            </a:r>
            <a:r>
              <a:rPr lang="en-US" dirty="0"/>
              <a:t> is false (null, or an empty string)  </a:t>
            </a:r>
            <a:r>
              <a:rPr lang="en-US" dirty="0" err="1"/>
              <a:t>cachedName</a:t>
            </a:r>
            <a:r>
              <a:rPr lang="en-US" dirty="0"/>
              <a:t> is updated and name 	becomes </a:t>
            </a:r>
            <a:r>
              <a:rPr lang="en-US" dirty="0" err="1"/>
              <a:t>cachedName</a:t>
            </a:r>
            <a:endParaRPr lang="en-US" dirty="0"/>
          </a:p>
        </p:txBody>
      </p:sp>
    </p:spTree>
    <p:extLst>
      <p:ext uri="{BB962C8B-B14F-4D97-AF65-F5344CB8AC3E}">
        <p14:creationId xmlns:p14="http://schemas.microsoft.com/office/powerpoint/2010/main" val="37342339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FD660-4383-4459-A375-7A7FD1736AD8}"/>
              </a:ext>
            </a:extLst>
          </p:cNvPr>
          <p:cNvSpPr>
            <a:spLocks noGrp="1"/>
          </p:cNvSpPr>
          <p:nvPr>
            <p:ph type="title"/>
          </p:nvPr>
        </p:nvSpPr>
        <p:spPr/>
        <p:txBody>
          <a:bodyPr/>
          <a:lstStyle/>
          <a:p>
            <a:r>
              <a:rPr lang="en-US" dirty="0" err="1"/>
              <a:t>OBJects</a:t>
            </a:r>
            <a:endParaRPr lang="en-US" dirty="0"/>
          </a:p>
        </p:txBody>
      </p:sp>
      <p:sp>
        <p:nvSpPr>
          <p:cNvPr id="3" name="Content Placeholder 2">
            <a:extLst>
              <a:ext uri="{FF2B5EF4-FFF2-40B4-BE49-F238E27FC236}">
                <a16:creationId xmlns:a16="http://schemas.microsoft.com/office/drawing/2014/main" id="{4ED67365-8C0E-49E6-9388-DCE9D3AFD517}"/>
              </a:ext>
            </a:extLst>
          </p:cNvPr>
          <p:cNvSpPr>
            <a:spLocks noGrp="1"/>
          </p:cNvSpPr>
          <p:nvPr>
            <p:ph idx="1"/>
          </p:nvPr>
        </p:nvSpPr>
        <p:spPr/>
        <p:txBody>
          <a:bodyPr>
            <a:normAutofit/>
          </a:bodyPr>
          <a:lstStyle/>
          <a:p>
            <a:r>
              <a:rPr lang="en-US" dirty="0"/>
              <a:t>JavaScript objects can be thought of as simple collections of name-value pairs. </a:t>
            </a:r>
          </a:p>
          <a:p>
            <a:r>
              <a:rPr lang="en-US" dirty="0"/>
              <a:t>They are like </a:t>
            </a:r>
            <a:r>
              <a:rPr lang="en-US" dirty="0" err="1"/>
              <a:t>HashMaps</a:t>
            </a:r>
            <a:r>
              <a:rPr lang="en-US" dirty="0"/>
              <a:t> in Java.</a:t>
            </a:r>
          </a:p>
          <a:p>
            <a:r>
              <a:rPr lang="en-US" dirty="0"/>
              <a:t>The fact that this data structure is so widely used is a testament to its versatility. Since everything (bar core types) in JavaScript is an object, any JavaScript program naturally involves a great deal of hash table lookups. It's a good thing they're so fast!</a:t>
            </a:r>
          </a:p>
          <a:p>
            <a:r>
              <a:rPr lang="en-US" dirty="0"/>
              <a:t>The "name" part is a JavaScript string, while the value can be any JavaScript value — including more objects. This allows you to build data structures of arbitrary complexity.</a:t>
            </a:r>
          </a:p>
        </p:txBody>
      </p:sp>
    </p:spTree>
    <p:extLst>
      <p:ext uri="{BB962C8B-B14F-4D97-AF65-F5344CB8AC3E}">
        <p14:creationId xmlns:p14="http://schemas.microsoft.com/office/powerpoint/2010/main" val="35710308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C7509-B7A2-46AE-A851-67DB116A866C}"/>
              </a:ext>
            </a:extLst>
          </p:cNvPr>
          <p:cNvSpPr>
            <a:spLocks noGrp="1"/>
          </p:cNvSpPr>
          <p:nvPr>
            <p:ph type="title"/>
          </p:nvPr>
        </p:nvSpPr>
        <p:spPr/>
        <p:txBody>
          <a:bodyPr/>
          <a:lstStyle/>
          <a:p>
            <a:r>
              <a:rPr lang="en-US" dirty="0"/>
              <a:t>Creating empty objects</a:t>
            </a:r>
          </a:p>
        </p:txBody>
      </p:sp>
      <p:sp>
        <p:nvSpPr>
          <p:cNvPr id="3" name="Content Placeholder 2">
            <a:extLst>
              <a:ext uri="{FF2B5EF4-FFF2-40B4-BE49-F238E27FC236}">
                <a16:creationId xmlns:a16="http://schemas.microsoft.com/office/drawing/2014/main" id="{45FE41B2-DD4B-4F96-9145-2BD025586A81}"/>
              </a:ext>
            </a:extLst>
          </p:cNvPr>
          <p:cNvSpPr>
            <a:spLocks noGrp="1"/>
          </p:cNvSpPr>
          <p:nvPr>
            <p:ph idx="1"/>
          </p:nvPr>
        </p:nvSpPr>
        <p:spPr/>
        <p:txBody>
          <a:bodyPr>
            <a:normAutofit fontScale="85000" lnSpcReduction="20000"/>
          </a:bodyPr>
          <a:lstStyle/>
          <a:p>
            <a:r>
              <a:rPr lang="en-US" dirty="0"/>
              <a:t>here are two basic ways to create an empty object:</a:t>
            </a:r>
          </a:p>
          <a:p>
            <a:endParaRPr lang="en-US" dirty="0"/>
          </a:p>
          <a:p>
            <a:pPr marL="0" indent="0">
              <a:buNone/>
            </a:pPr>
            <a:r>
              <a:rPr lang="en-US" dirty="0"/>
              <a:t>	const obj = new Object();  //Don't use.  The below is preferred.</a:t>
            </a:r>
          </a:p>
          <a:p>
            <a:endParaRPr lang="en-US" dirty="0"/>
          </a:p>
          <a:p>
            <a:pPr marL="0" indent="0">
              <a:buNone/>
            </a:pPr>
            <a:r>
              <a:rPr lang="en-US" dirty="0"/>
              <a:t>	And:</a:t>
            </a:r>
          </a:p>
          <a:p>
            <a:endParaRPr lang="en-US" dirty="0"/>
          </a:p>
          <a:p>
            <a:pPr marL="0" indent="0">
              <a:buNone/>
            </a:pPr>
            <a:r>
              <a:rPr lang="en-US" dirty="0"/>
              <a:t>	const obj = {};   //Object literal</a:t>
            </a:r>
          </a:p>
          <a:p>
            <a:endParaRPr lang="en-US" dirty="0"/>
          </a:p>
          <a:p>
            <a:r>
              <a:rPr lang="en-US" dirty="0"/>
              <a:t>These are semantically equivalent; the second is called object literal syntax and is more convenient. </a:t>
            </a:r>
          </a:p>
          <a:p>
            <a:r>
              <a:rPr lang="en-US" dirty="0"/>
              <a:t>Object literal is also the core of JSON format</a:t>
            </a:r>
          </a:p>
          <a:p>
            <a:r>
              <a:rPr lang="en-US" dirty="0"/>
              <a:t>Just always use the second option.  </a:t>
            </a:r>
            <a:endParaRPr lang="en-US" b="1" dirty="0"/>
          </a:p>
        </p:txBody>
      </p:sp>
    </p:spTree>
    <p:extLst>
      <p:ext uri="{BB962C8B-B14F-4D97-AF65-F5344CB8AC3E}">
        <p14:creationId xmlns:p14="http://schemas.microsoft.com/office/powerpoint/2010/main" val="31305595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A3105-B6E6-4FD0-ABBD-D7CC661EFA33}"/>
              </a:ext>
            </a:extLst>
          </p:cNvPr>
          <p:cNvSpPr>
            <a:spLocks noGrp="1"/>
          </p:cNvSpPr>
          <p:nvPr>
            <p:ph type="title"/>
          </p:nvPr>
        </p:nvSpPr>
        <p:spPr>
          <a:xfrm>
            <a:off x="1066800" y="0"/>
            <a:ext cx="10058400" cy="1254642"/>
          </a:xfrm>
        </p:spPr>
        <p:txBody>
          <a:bodyPr/>
          <a:lstStyle/>
          <a:p>
            <a:r>
              <a:rPr lang="en-US" dirty="0"/>
              <a:t>Create and using non-empty objects</a:t>
            </a:r>
          </a:p>
        </p:txBody>
      </p:sp>
      <p:sp>
        <p:nvSpPr>
          <p:cNvPr id="3" name="Content Placeholder 2">
            <a:extLst>
              <a:ext uri="{FF2B5EF4-FFF2-40B4-BE49-F238E27FC236}">
                <a16:creationId xmlns:a16="http://schemas.microsoft.com/office/drawing/2014/main" id="{09F085C2-3D18-4021-B472-18DBF7DB8BB7}"/>
              </a:ext>
            </a:extLst>
          </p:cNvPr>
          <p:cNvSpPr>
            <a:spLocks noGrp="1"/>
          </p:cNvSpPr>
          <p:nvPr>
            <p:ph idx="1"/>
          </p:nvPr>
        </p:nvSpPr>
        <p:spPr>
          <a:xfrm>
            <a:off x="1069848" y="1020726"/>
            <a:ext cx="10058400" cy="5151474"/>
          </a:xfrm>
        </p:spPr>
        <p:txBody>
          <a:bodyPr>
            <a:normAutofit fontScale="92500" lnSpcReduction="20000"/>
          </a:bodyPr>
          <a:lstStyle/>
          <a:p>
            <a:r>
              <a:rPr lang="en-US" dirty="0"/>
              <a:t>Creating using object literal notation</a:t>
            </a:r>
          </a:p>
          <a:p>
            <a:pPr marL="0" indent="0">
              <a:buNone/>
            </a:pPr>
            <a:r>
              <a:rPr lang="en-US" dirty="0"/>
              <a:t>	const obj = {</a:t>
            </a:r>
          </a:p>
          <a:p>
            <a:pPr marL="0" indent="0">
              <a:buNone/>
            </a:pPr>
            <a:r>
              <a:rPr lang="en-US" dirty="0"/>
              <a:t>	  name: 'Carrot',</a:t>
            </a:r>
          </a:p>
          <a:p>
            <a:pPr marL="0" indent="0">
              <a:buNone/>
            </a:pPr>
            <a:r>
              <a:rPr lang="en-US" dirty="0"/>
              <a:t>	  owner: 'Max', </a:t>
            </a:r>
          </a:p>
          <a:p>
            <a:pPr marL="0" indent="0">
              <a:buNone/>
            </a:pPr>
            <a:r>
              <a:rPr lang="en-US" dirty="0"/>
              <a:t>	  details: {</a:t>
            </a:r>
          </a:p>
          <a:p>
            <a:pPr marL="0" indent="0">
              <a:buNone/>
            </a:pPr>
            <a:r>
              <a:rPr lang="en-US" dirty="0"/>
              <a:t>	    color: 'orange',</a:t>
            </a:r>
          </a:p>
          <a:p>
            <a:pPr marL="0" indent="0">
              <a:buNone/>
            </a:pPr>
            <a:r>
              <a:rPr lang="en-US" dirty="0"/>
              <a:t>	    size: 12</a:t>
            </a:r>
          </a:p>
          <a:p>
            <a:pPr marL="0" indent="0">
              <a:buNone/>
            </a:pPr>
            <a:r>
              <a:rPr lang="en-US" dirty="0"/>
              <a:t>	  }</a:t>
            </a:r>
          </a:p>
          <a:p>
            <a:pPr marL="0" indent="0">
              <a:buNone/>
            </a:pPr>
            <a:r>
              <a:rPr lang="en-US" dirty="0"/>
              <a:t>	};</a:t>
            </a:r>
          </a:p>
          <a:p>
            <a:r>
              <a:rPr lang="en-US" dirty="0"/>
              <a:t>Using - use with . or []</a:t>
            </a:r>
          </a:p>
          <a:p>
            <a:pPr marL="0" indent="0">
              <a:buNone/>
            </a:pPr>
            <a:r>
              <a:rPr lang="en-US" dirty="0"/>
              <a:t>	</a:t>
            </a:r>
            <a:r>
              <a:rPr lang="en-US" dirty="0" err="1"/>
              <a:t>obj.name</a:t>
            </a:r>
            <a:r>
              <a:rPr lang="en-US" dirty="0"/>
              <a:t>; //Carrot</a:t>
            </a:r>
          </a:p>
          <a:p>
            <a:pPr marL="0" indent="0">
              <a:buNone/>
            </a:pPr>
            <a:r>
              <a:rPr lang="en-US" dirty="0"/>
              <a:t>	obj['owner']; //Max</a:t>
            </a:r>
          </a:p>
          <a:p>
            <a:pPr marL="0" indent="0">
              <a:buNone/>
            </a:pPr>
            <a:r>
              <a:rPr lang="en-US" dirty="0"/>
              <a:t>	</a:t>
            </a:r>
            <a:r>
              <a:rPr lang="en-US" dirty="0" err="1"/>
              <a:t>obj.details.color</a:t>
            </a:r>
            <a:r>
              <a:rPr lang="en-US" dirty="0"/>
              <a:t>; // orange</a:t>
            </a:r>
          </a:p>
          <a:p>
            <a:pPr marL="0" indent="0">
              <a:buNone/>
            </a:pPr>
            <a:r>
              <a:rPr lang="en-US" dirty="0"/>
              <a:t>	obj['details']['size']; // 12</a:t>
            </a:r>
          </a:p>
          <a:p>
            <a:pPr marL="0" indent="0">
              <a:buNone/>
            </a:pPr>
            <a:endParaRPr lang="en-US" dirty="0"/>
          </a:p>
        </p:txBody>
      </p:sp>
    </p:spTree>
    <p:extLst>
      <p:ext uri="{BB962C8B-B14F-4D97-AF65-F5344CB8AC3E}">
        <p14:creationId xmlns:p14="http://schemas.microsoft.com/office/powerpoint/2010/main" val="20563896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16F86-E1D7-445C-A58E-A54D2E8257A9}"/>
              </a:ext>
            </a:extLst>
          </p:cNvPr>
          <p:cNvSpPr>
            <a:spLocks noGrp="1"/>
          </p:cNvSpPr>
          <p:nvPr>
            <p:ph type="title"/>
          </p:nvPr>
        </p:nvSpPr>
        <p:spPr>
          <a:xfrm>
            <a:off x="1069848" y="484632"/>
            <a:ext cx="10058400" cy="812540"/>
          </a:xfrm>
        </p:spPr>
        <p:txBody>
          <a:bodyPr>
            <a:normAutofit fontScale="90000"/>
          </a:bodyPr>
          <a:lstStyle/>
          <a:p>
            <a:r>
              <a:rPr lang="en-US" dirty="0"/>
              <a:t>More object usage</a:t>
            </a:r>
          </a:p>
        </p:txBody>
      </p:sp>
      <p:sp>
        <p:nvSpPr>
          <p:cNvPr id="3" name="Content Placeholder 2">
            <a:extLst>
              <a:ext uri="{FF2B5EF4-FFF2-40B4-BE49-F238E27FC236}">
                <a16:creationId xmlns:a16="http://schemas.microsoft.com/office/drawing/2014/main" id="{E252B495-4402-4084-B19F-3A2C4272DD18}"/>
              </a:ext>
            </a:extLst>
          </p:cNvPr>
          <p:cNvSpPr>
            <a:spLocks noGrp="1"/>
          </p:cNvSpPr>
          <p:nvPr>
            <p:ph idx="1"/>
          </p:nvPr>
        </p:nvSpPr>
        <p:spPr>
          <a:xfrm>
            <a:off x="1069848" y="1201479"/>
            <a:ext cx="10058400" cy="4970721"/>
          </a:xfrm>
        </p:spPr>
        <p:txBody>
          <a:bodyPr>
            <a:normAutofit fontScale="85000" lnSpcReduction="20000"/>
          </a:bodyPr>
          <a:lstStyle/>
          <a:p>
            <a:r>
              <a:rPr lang="en-US" dirty="0"/>
              <a:t>Once created, an object's properties can again be accessed in one of two ways:</a:t>
            </a:r>
          </a:p>
          <a:p>
            <a:pPr marL="0" indent="0">
              <a:buNone/>
            </a:pPr>
            <a:r>
              <a:rPr lang="en-US" dirty="0"/>
              <a:t>	// dot notation</a:t>
            </a:r>
          </a:p>
          <a:p>
            <a:pPr marL="0" indent="0">
              <a:buNone/>
            </a:pPr>
            <a:r>
              <a:rPr lang="en-US" dirty="0"/>
              <a:t>	</a:t>
            </a:r>
            <a:r>
              <a:rPr lang="en-US" dirty="0" err="1"/>
              <a:t>obj.name</a:t>
            </a:r>
            <a:r>
              <a:rPr lang="en-US" dirty="0"/>
              <a:t> = 'Simon';</a:t>
            </a:r>
          </a:p>
          <a:p>
            <a:pPr marL="0" indent="0">
              <a:buNone/>
            </a:pPr>
            <a:r>
              <a:rPr lang="en-US" dirty="0"/>
              <a:t>	var name = </a:t>
            </a:r>
            <a:r>
              <a:rPr lang="en-US" dirty="0" err="1"/>
              <a:t>obj.name</a:t>
            </a:r>
            <a:r>
              <a:rPr lang="en-US" dirty="0"/>
              <a:t>;</a:t>
            </a:r>
          </a:p>
          <a:p>
            <a:pPr marL="0" indent="0">
              <a:buNone/>
            </a:pPr>
            <a:endParaRPr lang="en-US" dirty="0"/>
          </a:p>
          <a:p>
            <a:pPr marL="0" indent="0">
              <a:buNone/>
            </a:pPr>
            <a:r>
              <a:rPr lang="en-US" dirty="0"/>
              <a:t>	And...</a:t>
            </a:r>
          </a:p>
          <a:p>
            <a:pPr marL="0" indent="0">
              <a:buNone/>
            </a:pPr>
            <a:endParaRPr lang="en-US" dirty="0"/>
          </a:p>
          <a:p>
            <a:pPr marL="0" indent="0">
              <a:buNone/>
            </a:pPr>
            <a:r>
              <a:rPr lang="en-US" dirty="0"/>
              <a:t>	// bracket notation</a:t>
            </a:r>
          </a:p>
          <a:p>
            <a:pPr marL="0" indent="0">
              <a:buNone/>
            </a:pPr>
            <a:r>
              <a:rPr lang="en-US" dirty="0"/>
              <a:t>	obj['name'] = 'Simon';</a:t>
            </a:r>
          </a:p>
          <a:p>
            <a:pPr marL="0" indent="0">
              <a:buNone/>
            </a:pPr>
            <a:r>
              <a:rPr lang="en-US" dirty="0"/>
              <a:t>	var name = obj['name'];</a:t>
            </a:r>
          </a:p>
          <a:p>
            <a:pPr marL="0" indent="0">
              <a:buNone/>
            </a:pPr>
            <a:r>
              <a:rPr lang="en-US" dirty="0"/>
              <a:t>	</a:t>
            </a:r>
          </a:p>
          <a:p>
            <a:r>
              <a:rPr lang="en-US" dirty="0"/>
              <a:t>You can use a variable to define a key</a:t>
            </a:r>
          </a:p>
          <a:p>
            <a:pPr marL="0" indent="0">
              <a:buNone/>
            </a:pPr>
            <a:r>
              <a:rPr lang="en-US" dirty="0"/>
              <a:t>	var user = prompt('what is your key?')</a:t>
            </a:r>
          </a:p>
          <a:p>
            <a:pPr marL="0" indent="0">
              <a:buNone/>
            </a:pPr>
            <a:r>
              <a:rPr lang="en-US" dirty="0"/>
              <a:t>	obj[user] = prompt('what is its value?')</a:t>
            </a:r>
          </a:p>
          <a:p>
            <a:r>
              <a:rPr lang="en-US" dirty="0"/>
              <a:t>You can also use keywords or spaces with []</a:t>
            </a:r>
          </a:p>
        </p:txBody>
      </p:sp>
    </p:spTree>
    <p:extLst>
      <p:ext uri="{BB962C8B-B14F-4D97-AF65-F5344CB8AC3E}">
        <p14:creationId xmlns:p14="http://schemas.microsoft.com/office/powerpoint/2010/main" val="2208057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A3105-B6E6-4FD0-ABBD-D7CC661EFA33}"/>
              </a:ext>
            </a:extLst>
          </p:cNvPr>
          <p:cNvSpPr>
            <a:spLocks noGrp="1"/>
          </p:cNvSpPr>
          <p:nvPr>
            <p:ph type="title"/>
          </p:nvPr>
        </p:nvSpPr>
        <p:spPr>
          <a:xfrm>
            <a:off x="1066800" y="0"/>
            <a:ext cx="10058400" cy="1254642"/>
          </a:xfrm>
        </p:spPr>
        <p:txBody>
          <a:bodyPr>
            <a:normAutofit/>
          </a:bodyPr>
          <a:lstStyle/>
          <a:p>
            <a:r>
              <a:rPr lang="en-US" dirty="0"/>
              <a:t>Adding and deleting properties</a:t>
            </a:r>
          </a:p>
        </p:txBody>
      </p:sp>
      <p:sp>
        <p:nvSpPr>
          <p:cNvPr id="3" name="Content Placeholder 2">
            <a:extLst>
              <a:ext uri="{FF2B5EF4-FFF2-40B4-BE49-F238E27FC236}">
                <a16:creationId xmlns:a16="http://schemas.microsoft.com/office/drawing/2014/main" id="{09F085C2-3D18-4021-B472-18DBF7DB8BB7}"/>
              </a:ext>
            </a:extLst>
          </p:cNvPr>
          <p:cNvSpPr>
            <a:spLocks noGrp="1"/>
          </p:cNvSpPr>
          <p:nvPr>
            <p:ph idx="1"/>
          </p:nvPr>
        </p:nvSpPr>
        <p:spPr>
          <a:xfrm>
            <a:off x="1069848" y="1000897"/>
            <a:ext cx="10058400" cy="5171303"/>
          </a:xfrm>
        </p:spPr>
        <p:txBody>
          <a:bodyPr>
            <a:normAutofit fontScale="70000" lnSpcReduction="20000"/>
          </a:bodyPr>
          <a:lstStyle/>
          <a:p>
            <a:r>
              <a:rPr lang="en-US" dirty="0"/>
              <a:t>Creating </a:t>
            </a:r>
          </a:p>
          <a:p>
            <a:pPr marL="0" indent="0">
              <a:buNone/>
            </a:pPr>
            <a:r>
              <a:rPr lang="en-US" dirty="0"/>
              <a:t>	const obj = {</a:t>
            </a:r>
          </a:p>
          <a:p>
            <a:pPr marL="0" indent="0">
              <a:buNone/>
            </a:pPr>
            <a:r>
              <a:rPr lang="en-US" dirty="0"/>
              <a:t>	  name: 'Carrot',</a:t>
            </a:r>
          </a:p>
          <a:p>
            <a:pPr marL="0" indent="0">
              <a:buNone/>
            </a:pPr>
            <a:r>
              <a:rPr lang="en-US" dirty="0"/>
              <a:t>	  owner: 'Max', </a:t>
            </a:r>
          </a:p>
          <a:p>
            <a:pPr marL="0" indent="0">
              <a:buNone/>
            </a:pPr>
            <a:r>
              <a:rPr lang="en-US" dirty="0"/>
              <a:t>	  details: {</a:t>
            </a:r>
          </a:p>
          <a:p>
            <a:pPr marL="0" indent="0">
              <a:buNone/>
            </a:pPr>
            <a:r>
              <a:rPr lang="en-US" dirty="0"/>
              <a:t>		color: 'orange',</a:t>
            </a:r>
          </a:p>
          <a:p>
            <a:pPr marL="0" indent="0">
              <a:buNone/>
            </a:pPr>
            <a:r>
              <a:rPr lang="en-US" dirty="0"/>
              <a:t>		size: 12</a:t>
            </a:r>
          </a:p>
          <a:p>
            <a:pPr marL="0" indent="0">
              <a:buNone/>
            </a:pPr>
            <a:r>
              <a:rPr lang="en-US" dirty="0"/>
              <a:t>	  }</a:t>
            </a:r>
          </a:p>
          <a:p>
            <a:pPr marL="0" indent="0">
              <a:buNone/>
            </a:pPr>
            <a:r>
              <a:rPr lang="en-US" dirty="0"/>
              <a:t>	};</a:t>
            </a:r>
          </a:p>
          <a:p>
            <a:r>
              <a:rPr lang="en-US" dirty="0"/>
              <a:t>Adding</a:t>
            </a:r>
          </a:p>
          <a:p>
            <a:pPr marL="0" indent="0">
              <a:buNone/>
            </a:pPr>
            <a:r>
              <a:rPr lang="en-US" dirty="0"/>
              <a:t>	</a:t>
            </a:r>
            <a:r>
              <a:rPr lang="en-US" dirty="0" err="1"/>
              <a:t>obj.weight</a:t>
            </a:r>
            <a:r>
              <a:rPr lang="en-US" dirty="0"/>
              <a:t>=10;</a:t>
            </a:r>
          </a:p>
          <a:p>
            <a:pPr marL="0" indent="0">
              <a:buNone/>
            </a:pPr>
            <a:r>
              <a:rPr lang="en-US" dirty="0"/>
              <a:t>	console.log(</a:t>
            </a:r>
            <a:r>
              <a:rPr lang="en-US" dirty="0" err="1"/>
              <a:t>obj.weight</a:t>
            </a:r>
            <a:r>
              <a:rPr lang="en-US" dirty="0"/>
              <a:t>);  //Prints 10</a:t>
            </a:r>
          </a:p>
          <a:p>
            <a:r>
              <a:rPr lang="en-US" dirty="0"/>
              <a:t>Deleting</a:t>
            </a:r>
          </a:p>
          <a:p>
            <a:pPr marL="0" indent="0">
              <a:buNone/>
            </a:pPr>
            <a:r>
              <a:rPr lang="en-US" dirty="0"/>
              <a:t>	delete </a:t>
            </a:r>
            <a:r>
              <a:rPr lang="en-US" dirty="0" err="1"/>
              <a:t>obj.weight</a:t>
            </a:r>
            <a:r>
              <a:rPr lang="en-US" dirty="0"/>
              <a:t>;</a:t>
            </a:r>
          </a:p>
          <a:p>
            <a:pPr marL="0" indent="0">
              <a:buNone/>
            </a:pPr>
            <a:r>
              <a:rPr lang="en-US" dirty="0"/>
              <a:t>	console.log(</a:t>
            </a:r>
            <a:r>
              <a:rPr lang="en-US" dirty="0" err="1"/>
              <a:t>obj.weight</a:t>
            </a:r>
            <a:r>
              <a:rPr lang="en-US" dirty="0"/>
              <a:t>);  //Prints undefined</a:t>
            </a:r>
          </a:p>
          <a:p>
            <a:r>
              <a:rPr lang="en-US" dirty="0"/>
              <a:t>Not allowed</a:t>
            </a:r>
          </a:p>
          <a:p>
            <a:pPr marL="0" indent="0">
              <a:buNone/>
            </a:pPr>
            <a:r>
              <a:rPr lang="en-US" dirty="0"/>
              <a:t>	obj = {};  //Since it was declared const</a:t>
            </a:r>
          </a:p>
        </p:txBody>
      </p:sp>
    </p:spTree>
    <p:extLst>
      <p:ext uri="{BB962C8B-B14F-4D97-AF65-F5344CB8AC3E}">
        <p14:creationId xmlns:p14="http://schemas.microsoft.com/office/powerpoint/2010/main" val="14747319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F0317-CA7A-4EA9-89D0-62CFAE286062}"/>
              </a:ext>
            </a:extLst>
          </p:cNvPr>
          <p:cNvSpPr>
            <a:spLocks noGrp="1"/>
          </p:cNvSpPr>
          <p:nvPr>
            <p:ph type="title"/>
          </p:nvPr>
        </p:nvSpPr>
        <p:spPr/>
        <p:txBody>
          <a:bodyPr/>
          <a:lstStyle/>
          <a:p>
            <a:r>
              <a:rPr lang="en-US" dirty="0"/>
              <a:t>Using keywords as property names</a:t>
            </a:r>
          </a:p>
        </p:txBody>
      </p:sp>
      <p:sp>
        <p:nvSpPr>
          <p:cNvPr id="3" name="Content Placeholder 2">
            <a:extLst>
              <a:ext uri="{FF2B5EF4-FFF2-40B4-BE49-F238E27FC236}">
                <a16:creationId xmlns:a16="http://schemas.microsoft.com/office/drawing/2014/main" id="{A0822017-D297-4883-8E47-8DDF86B382A7}"/>
              </a:ext>
            </a:extLst>
          </p:cNvPr>
          <p:cNvSpPr>
            <a:spLocks noGrp="1"/>
          </p:cNvSpPr>
          <p:nvPr>
            <p:ph idx="1"/>
          </p:nvPr>
        </p:nvSpPr>
        <p:spPr/>
        <p:txBody>
          <a:bodyPr/>
          <a:lstStyle/>
          <a:p>
            <a:r>
              <a:rPr lang="en-US" dirty="0" err="1"/>
              <a:t>obj.for</a:t>
            </a:r>
            <a:r>
              <a:rPr lang="en-US" dirty="0"/>
              <a:t> = 'Simon'; // works fine</a:t>
            </a:r>
          </a:p>
          <a:p>
            <a:r>
              <a:rPr lang="en-US" dirty="0"/>
              <a:t>obj['for'] = 'Simon'; // works fine</a:t>
            </a:r>
          </a:p>
          <a:p>
            <a:endParaRPr lang="en-US" dirty="0"/>
          </a:p>
          <a:p>
            <a:endParaRPr lang="en-US" dirty="0"/>
          </a:p>
        </p:txBody>
      </p:sp>
    </p:spTree>
    <p:extLst>
      <p:ext uri="{BB962C8B-B14F-4D97-AF65-F5344CB8AC3E}">
        <p14:creationId xmlns:p14="http://schemas.microsoft.com/office/powerpoint/2010/main" val="40939208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E979E-8E8C-405B-ACC9-DA345DC72BC2}"/>
              </a:ext>
            </a:extLst>
          </p:cNvPr>
          <p:cNvSpPr>
            <a:spLocks noGrp="1"/>
          </p:cNvSpPr>
          <p:nvPr>
            <p:ph type="title"/>
          </p:nvPr>
        </p:nvSpPr>
        <p:spPr>
          <a:xfrm>
            <a:off x="1066800" y="0"/>
            <a:ext cx="10058400" cy="982661"/>
          </a:xfrm>
        </p:spPr>
        <p:txBody>
          <a:bodyPr/>
          <a:lstStyle/>
          <a:p>
            <a:r>
              <a:rPr lang="en-US" dirty="0"/>
              <a:t>Functions - Introduction</a:t>
            </a:r>
          </a:p>
        </p:txBody>
      </p:sp>
      <p:sp>
        <p:nvSpPr>
          <p:cNvPr id="3" name="Content Placeholder 2">
            <a:extLst>
              <a:ext uri="{FF2B5EF4-FFF2-40B4-BE49-F238E27FC236}">
                <a16:creationId xmlns:a16="http://schemas.microsoft.com/office/drawing/2014/main" id="{385D84F2-1AFD-46E8-AFCB-9BAB3F95ADE9}"/>
              </a:ext>
            </a:extLst>
          </p:cNvPr>
          <p:cNvSpPr>
            <a:spLocks noGrp="1"/>
          </p:cNvSpPr>
          <p:nvPr>
            <p:ph idx="1"/>
          </p:nvPr>
        </p:nvSpPr>
        <p:spPr>
          <a:xfrm>
            <a:off x="1069848" y="982661"/>
            <a:ext cx="10058400" cy="5189539"/>
          </a:xfrm>
        </p:spPr>
        <p:txBody>
          <a:bodyPr>
            <a:normAutofit/>
          </a:bodyPr>
          <a:lstStyle/>
          <a:p>
            <a:r>
              <a:rPr lang="en-US" dirty="0"/>
              <a:t>JavaScript uses first-class functions.  They are treated like any other variable.</a:t>
            </a:r>
          </a:p>
          <a:p>
            <a:r>
              <a:rPr lang="en-US" dirty="0"/>
              <a:t>Use the function keyword </a:t>
            </a:r>
          </a:p>
          <a:p>
            <a:r>
              <a:rPr lang="en-US" dirty="0"/>
              <a:t>Parameter list is more of a guideline.</a:t>
            </a:r>
          </a:p>
          <a:p>
            <a:r>
              <a:rPr lang="en-US" dirty="0"/>
              <a:t>No return type is used.</a:t>
            </a:r>
          </a:p>
          <a:p>
            <a:pPr marL="0" indent="0">
              <a:buNone/>
            </a:pPr>
            <a:r>
              <a:rPr lang="en-US" dirty="0"/>
              <a:t>	function add(x, y) {</a:t>
            </a:r>
          </a:p>
          <a:p>
            <a:pPr marL="0" indent="0">
              <a:buNone/>
            </a:pPr>
            <a:r>
              <a:rPr lang="en-US" dirty="0"/>
              <a:t>	  let total = x + y;</a:t>
            </a:r>
          </a:p>
          <a:p>
            <a:pPr marL="0" indent="0">
              <a:buNone/>
            </a:pPr>
            <a:r>
              <a:rPr lang="en-US" dirty="0"/>
              <a:t>	  return total;</a:t>
            </a:r>
          </a:p>
          <a:p>
            <a:pPr marL="0" indent="0">
              <a:buNone/>
            </a:pPr>
            <a:r>
              <a:rPr lang="en-US" dirty="0"/>
              <a:t>	}</a:t>
            </a:r>
          </a:p>
          <a:p>
            <a:r>
              <a:rPr lang="en-US" dirty="0"/>
              <a:t>Calling</a:t>
            </a:r>
          </a:p>
          <a:p>
            <a:pPr marL="0" indent="0">
              <a:buNone/>
            </a:pPr>
            <a:r>
              <a:rPr lang="en-US" dirty="0"/>
              <a:t>	add(); //Returns not a number</a:t>
            </a:r>
          </a:p>
          <a:p>
            <a:pPr marL="0" indent="0">
              <a:buNone/>
            </a:pPr>
            <a:r>
              <a:rPr lang="en-US" dirty="0"/>
              <a:t>	add(3, 4); //Returns 7</a:t>
            </a:r>
          </a:p>
          <a:p>
            <a:pPr marL="0" indent="0">
              <a:buNone/>
            </a:pPr>
            <a:r>
              <a:rPr lang="en-US" dirty="0"/>
              <a:t>	add(3,4,5) //; returns 7</a:t>
            </a:r>
          </a:p>
        </p:txBody>
      </p:sp>
    </p:spTree>
    <p:extLst>
      <p:ext uri="{BB962C8B-B14F-4D97-AF65-F5344CB8AC3E}">
        <p14:creationId xmlns:p14="http://schemas.microsoft.com/office/powerpoint/2010/main" val="5905316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054BA-D931-4E03-BF64-366C686C86B4}"/>
              </a:ext>
            </a:extLst>
          </p:cNvPr>
          <p:cNvSpPr>
            <a:spLocks noGrp="1"/>
          </p:cNvSpPr>
          <p:nvPr>
            <p:ph type="title"/>
          </p:nvPr>
        </p:nvSpPr>
        <p:spPr/>
        <p:txBody>
          <a:bodyPr/>
          <a:lstStyle/>
          <a:p>
            <a:r>
              <a:rPr lang="en-US" dirty="0"/>
              <a:t>Functions – arguments property</a:t>
            </a:r>
          </a:p>
        </p:txBody>
      </p:sp>
      <p:sp>
        <p:nvSpPr>
          <p:cNvPr id="3" name="Content Placeholder 2">
            <a:extLst>
              <a:ext uri="{FF2B5EF4-FFF2-40B4-BE49-F238E27FC236}">
                <a16:creationId xmlns:a16="http://schemas.microsoft.com/office/drawing/2014/main" id="{BB0C4A80-3ECE-4A53-B9E9-AE1389B8D10C}"/>
              </a:ext>
            </a:extLst>
          </p:cNvPr>
          <p:cNvSpPr>
            <a:spLocks noGrp="1"/>
          </p:cNvSpPr>
          <p:nvPr>
            <p:ph idx="1"/>
          </p:nvPr>
        </p:nvSpPr>
        <p:spPr/>
        <p:txBody>
          <a:bodyPr>
            <a:normAutofit lnSpcReduction="10000"/>
          </a:bodyPr>
          <a:lstStyle/>
          <a:p>
            <a:r>
              <a:rPr lang="en-US" dirty="0"/>
              <a:t>The variable </a:t>
            </a:r>
            <a:r>
              <a:rPr lang="en-US" b="1" i="1" dirty="0"/>
              <a:t>arguments</a:t>
            </a:r>
            <a:r>
              <a:rPr lang="en-US" dirty="0"/>
              <a:t> is an array-like structure that holds all arguments passed.</a:t>
            </a:r>
          </a:p>
          <a:p>
            <a:pPr marL="0" indent="0">
              <a:buNone/>
            </a:pPr>
            <a:r>
              <a:rPr lang="en-US" dirty="0"/>
              <a:t>	function avg() {</a:t>
            </a:r>
          </a:p>
          <a:p>
            <a:pPr marL="0" indent="0">
              <a:buNone/>
            </a:pPr>
            <a:r>
              <a:rPr lang="en-US" dirty="0"/>
              <a:t>	  let sum = 0;</a:t>
            </a:r>
          </a:p>
          <a:p>
            <a:pPr marL="0" indent="0">
              <a:buNone/>
            </a:pPr>
            <a:r>
              <a:rPr lang="en-US" dirty="0"/>
              <a:t>	  for (let </a:t>
            </a:r>
            <a:r>
              <a:rPr lang="en-US" dirty="0" err="1"/>
              <a:t>i</a:t>
            </a:r>
            <a:r>
              <a:rPr lang="en-US" dirty="0"/>
              <a:t> = 0, j = </a:t>
            </a:r>
            <a:r>
              <a:rPr lang="en-US" dirty="0" err="1"/>
              <a:t>arguments.length</a:t>
            </a:r>
            <a:r>
              <a:rPr lang="en-US" dirty="0"/>
              <a:t>; </a:t>
            </a:r>
            <a:r>
              <a:rPr lang="en-US" dirty="0" err="1"/>
              <a:t>i</a:t>
            </a:r>
            <a:r>
              <a:rPr lang="en-US" dirty="0"/>
              <a:t> &lt; j; </a:t>
            </a:r>
            <a:r>
              <a:rPr lang="en-US" dirty="0" err="1"/>
              <a:t>i</a:t>
            </a:r>
            <a:r>
              <a:rPr lang="en-US" dirty="0"/>
              <a:t>++) {</a:t>
            </a:r>
          </a:p>
          <a:p>
            <a:pPr marL="0" indent="0">
              <a:buNone/>
            </a:pPr>
            <a:r>
              <a:rPr lang="en-US" dirty="0"/>
              <a:t>	    sum += arguments[</a:t>
            </a:r>
            <a:r>
              <a:rPr lang="en-US" dirty="0" err="1"/>
              <a:t>i</a:t>
            </a:r>
            <a:r>
              <a:rPr lang="en-US" dirty="0"/>
              <a:t>];</a:t>
            </a:r>
          </a:p>
          <a:p>
            <a:pPr marL="0" indent="0">
              <a:buNone/>
            </a:pPr>
            <a:r>
              <a:rPr lang="en-US" dirty="0"/>
              <a:t>	  }</a:t>
            </a:r>
          </a:p>
          <a:p>
            <a:pPr marL="0" indent="0">
              <a:buNone/>
            </a:pPr>
            <a:r>
              <a:rPr lang="en-US" dirty="0"/>
              <a:t>	  return sum / </a:t>
            </a:r>
            <a:r>
              <a:rPr lang="en-US" dirty="0" err="1"/>
              <a:t>arguments.length</a:t>
            </a:r>
            <a:r>
              <a:rPr lang="en-US" dirty="0"/>
              <a:t>;</a:t>
            </a:r>
          </a:p>
          <a:p>
            <a:pPr marL="0" indent="0">
              <a:buNone/>
            </a:pPr>
            <a:r>
              <a:rPr lang="en-US" dirty="0"/>
              <a:t>	}</a:t>
            </a:r>
          </a:p>
          <a:p>
            <a:pPr marL="0" indent="0">
              <a:buNone/>
            </a:pPr>
            <a:endParaRPr lang="en-US" dirty="0"/>
          </a:p>
          <a:p>
            <a:pPr marL="0" indent="0">
              <a:buNone/>
            </a:pPr>
            <a:r>
              <a:rPr lang="en-US" dirty="0"/>
              <a:t>	avg(2, 3, 4, 5); // 3.5</a:t>
            </a:r>
          </a:p>
        </p:txBody>
      </p:sp>
    </p:spTree>
    <p:extLst>
      <p:ext uri="{BB962C8B-B14F-4D97-AF65-F5344CB8AC3E}">
        <p14:creationId xmlns:p14="http://schemas.microsoft.com/office/powerpoint/2010/main" val="14793943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29ACA-1A7D-4EC1-A07A-752974B402E8}"/>
              </a:ext>
            </a:extLst>
          </p:cNvPr>
          <p:cNvSpPr>
            <a:spLocks noGrp="1"/>
          </p:cNvSpPr>
          <p:nvPr>
            <p:ph type="title"/>
          </p:nvPr>
        </p:nvSpPr>
        <p:spPr/>
        <p:txBody>
          <a:bodyPr/>
          <a:lstStyle/>
          <a:p>
            <a:r>
              <a:rPr lang="en-US" dirty="0"/>
              <a:t>Rest parameter operator …</a:t>
            </a:r>
          </a:p>
        </p:txBody>
      </p:sp>
      <p:sp>
        <p:nvSpPr>
          <p:cNvPr id="3" name="Content Placeholder 2">
            <a:extLst>
              <a:ext uri="{FF2B5EF4-FFF2-40B4-BE49-F238E27FC236}">
                <a16:creationId xmlns:a16="http://schemas.microsoft.com/office/drawing/2014/main" id="{5C5DECAC-123A-4C44-B69B-99B4B4DB228D}"/>
              </a:ext>
            </a:extLst>
          </p:cNvPr>
          <p:cNvSpPr>
            <a:spLocks noGrp="1"/>
          </p:cNvSpPr>
          <p:nvPr>
            <p:ph idx="1"/>
          </p:nvPr>
        </p:nvSpPr>
        <p:spPr/>
        <p:txBody>
          <a:bodyPr>
            <a:normAutofit lnSpcReduction="10000"/>
          </a:bodyPr>
          <a:lstStyle/>
          <a:p>
            <a:r>
              <a:rPr lang="en-US" dirty="0"/>
              <a:t>…variable captures the rest of the arguments</a:t>
            </a:r>
          </a:p>
          <a:p>
            <a:pPr marL="0" indent="0">
              <a:buNone/>
            </a:pPr>
            <a:r>
              <a:rPr lang="en-US" dirty="0"/>
              <a:t>	function avg(a, b, ...</a:t>
            </a:r>
            <a:r>
              <a:rPr lang="en-US" dirty="0" err="1"/>
              <a:t>args</a:t>
            </a:r>
            <a:r>
              <a:rPr lang="en-US" dirty="0"/>
              <a:t>) {</a:t>
            </a:r>
          </a:p>
          <a:p>
            <a:pPr marL="0" indent="0">
              <a:buNone/>
            </a:pPr>
            <a:r>
              <a:rPr lang="en-US" dirty="0"/>
              <a:t>	  var sum = 0;</a:t>
            </a:r>
          </a:p>
          <a:p>
            <a:pPr marL="0" indent="0">
              <a:buNone/>
            </a:pPr>
            <a:r>
              <a:rPr lang="en-US" dirty="0"/>
              <a:t>	  for (let value of </a:t>
            </a:r>
            <a:r>
              <a:rPr lang="en-US" dirty="0" err="1"/>
              <a:t>args</a:t>
            </a:r>
            <a:r>
              <a:rPr lang="en-US" dirty="0"/>
              <a:t>) {</a:t>
            </a:r>
          </a:p>
          <a:p>
            <a:pPr marL="0" indent="0">
              <a:buNone/>
            </a:pPr>
            <a:r>
              <a:rPr lang="en-US" dirty="0"/>
              <a:t>	    sum += value;</a:t>
            </a:r>
          </a:p>
          <a:p>
            <a:pPr marL="0" indent="0">
              <a:buNone/>
            </a:pPr>
            <a:r>
              <a:rPr lang="en-US" dirty="0"/>
              <a:t>	  }</a:t>
            </a:r>
          </a:p>
          <a:p>
            <a:pPr marL="0" indent="0">
              <a:buNone/>
            </a:pPr>
            <a:r>
              <a:rPr lang="en-US" dirty="0"/>
              <a:t>	  return sum / </a:t>
            </a:r>
            <a:r>
              <a:rPr lang="en-US" dirty="0" err="1"/>
              <a:t>args.length</a:t>
            </a:r>
            <a:r>
              <a:rPr lang="en-US" dirty="0"/>
              <a:t>;</a:t>
            </a:r>
          </a:p>
          <a:p>
            <a:pPr marL="0" indent="0">
              <a:buNone/>
            </a:pPr>
            <a:r>
              <a:rPr lang="en-US" dirty="0"/>
              <a:t>	}</a:t>
            </a:r>
          </a:p>
          <a:p>
            <a:endParaRPr lang="en-US" dirty="0"/>
          </a:p>
          <a:p>
            <a:pPr marL="0" indent="0">
              <a:buNone/>
            </a:pPr>
            <a:r>
              <a:rPr lang="en-US" dirty="0"/>
              <a:t>	avg(1, 2, 3, 4, 5); // 4 since a=1, b=2, </a:t>
            </a:r>
            <a:r>
              <a:rPr lang="en-US" dirty="0" err="1"/>
              <a:t>args</a:t>
            </a:r>
            <a:r>
              <a:rPr lang="en-US" dirty="0"/>
              <a:t> = [3,4,5]</a:t>
            </a:r>
          </a:p>
        </p:txBody>
      </p:sp>
    </p:spTree>
    <p:extLst>
      <p:ext uri="{BB962C8B-B14F-4D97-AF65-F5344CB8AC3E}">
        <p14:creationId xmlns:p14="http://schemas.microsoft.com/office/powerpoint/2010/main" val="34919307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03B34-C274-436B-B810-D383FB6C1627}"/>
              </a:ext>
            </a:extLst>
          </p:cNvPr>
          <p:cNvSpPr>
            <a:spLocks noGrp="1"/>
          </p:cNvSpPr>
          <p:nvPr>
            <p:ph type="title"/>
          </p:nvPr>
        </p:nvSpPr>
        <p:spPr/>
        <p:txBody>
          <a:bodyPr/>
          <a:lstStyle/>
          <a:p>
            <a:r>
              <a:rPr lang="en-US" dirty="0"/>
              <a:t>Default parameters</a:t>
            </a:r>
          </a:p>
        </p:txBody>
      </p:sp>
      <p:sp>
        <p:nvSpPr>
          <p:cNvPr id="3" name="Content Placeholder 2">
            <a:extLst>
              <a:ext uri="{FF2B5EF4-FFF2-40B4-BE49-F238E27FC236}">
                <a16:creationId xmlns:a16="http://schemas.microsoft.com/office/drawing/2014/main" id="{FADFCC2B-B644-4F79-B978-3A606E952437}"/>
              </a:ext>
            </a:extLst>
          </p:cNvPr>
          <p:cNvSpPr>
            <a:spLocks noGrp="1"/>
          </p:cNvSpPr>
          <p:nvPr>
            <p:ph idx="1"/>
          </p:nvPr>
        </p:nvSpPr>
        <p:spPr/>
        <p:txBody>
          <a:bodyPr/>
          <a:lstStyle/>
          <a:p>
            <a:r>
              <a:rPr lang="en-US" dirty="0"/>
              <a:t>You can specify defaults for parameters</a:t>
            </a:r>
          </a:p>
          <a:p>
            <a:pPr marL="0" indent="0">
              <a:buNone/>
            </a:pPr>
            <a:endParaRPr lang="en-US" dirty="0"/>
          </a:p>
          <a:p>
            <a:pPr marL="0" indent="0">
              <a:buNone/>
            </a:pPr>
            <a:r>
              <a:rPr lang="en-US" dirty="0"/>
              <a:t>	function </a:t>
            </a:r>
            <a:r>
              <a:rPr lang="en-US" dirty="0" err="1"/>
              <a:t>myFunction</a:t>
            </a:r>
            <a:r>
              <a:rPr lang="en-US" dirty="0"/>
              <a:t>(x, y = 10) {</a:t>
            </a:r>
            <a:br>
              <a:rPr lang="en-US" dirty="0"/>
            </a:br>
            <a:r>
              <a:rPr lang="en-US" dirty="0"/>
              <a:t>	  // y is 10 if not passed or undefined</a:t>
            </a:r>
            <a:br>
              <a:rPr lang="en-US" dirty="0"/>
            </a:br>
            <a:r>
              <a:rPr lang="en-US" dirty="0"/>
              <a:t>	  return x + y;</a:t>
            </a:r>
            <a:br>
              <a:rPr lang="en-US" dirty="0"/>
            </a:br>
            <a:r>
              <a:rPr lang="en-US" dirty="0"/>
              <a:t>	}</a:t>
            </a:r>
            <a:br>
              <a:rPr lang="en-US" dirty="0"/>
            </a:br>
            <a:r>
              <a:rPr lang="en-US" dirty="0"/>
              <a:t>	</a:t>
            </a:r>
            <a:r>
              <a:rPr lang="en-US" dirty="0" err="1"/>
              <a:t>myFunction</a:t>
            </a:r>
            <a:r>
              <a:rPr lang="en-US" dirty="0"/>
              <a:t>(5); // will return 15 </a:t>
            </a:r>
          </a:p>
          <a:p>
            <a:pPr marL="0" indent="0">
              <a:buNone/>
            </a:pPr>
            <a:r>
              <a:rPr lang="en-US" dirty="0"/>
              <a:t>	</a:t>
            </a:r>
            <a:r>
              <a:rPr lang="en-US" dirty="0" err="1"/>
              <a:t>myFunction</a:t>
            </a:r>
            <a:r>
              <a:rPr lang="en-US" dirty="0"/>
              <a:t>(5,6); //will return 11</a:t>
            </a:r>
          </a:p>
          <a:p>
            <a:endParaRPr lang="en-US" dirty="0"/>
          </a:p>
        </p:txBody>
      </p:sp>
    </p:spTree>
    <p:extLst>
      <p:ext uri="{BB962C8B-B14F-4D97-AF65-F5344CB8AC3E}">
        <p14:creationId xmlns:p14="http://schemas.microsoft.com/office/powerpoint/2010/main" val="15274072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8E90C-782B-4A14-8B54-49E60CE5D568}"/>
              </a:ext>
            </a:extLst>
          </p:cNvPr>
          <p:cNvSpPr>
            <a:spLocks noGrp="1"/>
          </p:cNvSpPr>
          <p:nvPr>
            <p:ph type="title"/>
          </p:nvPr>
        </p:nvSpPr>
        <p:spPr>
          <a:xfrm>
            <a:off x="1066800" y="17437"/>
            <a:ext cx="10058400" cy="1609344"/>
          </a:xfrm>
        </p:spPr>
        <p:txBody>
          <a:bodyPr/>
          <a:lstStyle/>
          <a:p>
            <a:r>
              <a:rPr lang="en-US" dirty="0"/>
              <a:t>Example 1</a:t>
            </a:r>
          </a:p>
        </p:txBody>
      </p:sp>
      <p:sp>
        <p:nvSpPr>
          <p:cNvPr id="3" name="Content Placeholder 2">
            <a:extLst>
              <a:ext uri="{FF2B5EF4-FFF2-40B4-BE49-F238E27FC236}">
                <a16:creationId xmlns:a16="http://schemas.microsoft.com/office/drawing/2014/main" id="{D16A6B81-0C0E-475D-B0F0-B89B70B04F45}"/>
              </a:ext>
            </a:extLst>
          </p:cNvPr>
          <p:cNvSpPr>
            <a:spLocks noGrp="1"/>
          </p:cNvSpPr>
          <p:nvPr>
            <p:ph idx="1"/>
          </p:nvPr>
        </p:nvSpPr>
        <p:spPr>
          <a:xfrm>
            <a:off x="1069848" y="1626781"/>
            <a:ext cx="10058400" cy="4545419"/>
          </a:xfrm>
        </p:spPr>
        <p:txBody>
          <a:bodyPr>
            <a:normAutofit fontScale="77500" lnSpcReduction="20000"/>
          </a:bodyPr>
          <a:lstStyle/>
          <a:p>
            <a:pPr marL="0" indent="0">
              <a:buNone/>
            </a:pPr>
            <a:r>
              <a:rPr lang="en-US" dirty="0"/>
              <a:t>	      function avg(a, ...x) {</a:t>
            </a:r>
          </a:p>
          <a:p>
            <a:pPr marL="0" indent="0">
              <a:buNone/>
            </a:pPr>
            <a:r>
              <a:rPr lang="en-US" dirty="0"/>
              <a:t>	        var sum = 0;</a:t>
            </a:r>
          </a:p>
          <a:p>
            <a:pPr marL="0" indent="0">
              <a:buNone/>
            </a:pPr>
            <a:r>
              <a:rPr lang="en-US" dirty="0"/>
              <a:t>	        for (let </a:t>
            </a:r>
            <a:r>
              <a:rPr lang="en-US" dirty="0" err="1"/>
              <a:t>i</a:t>
            </a:r>
            <a:r>
              <a:rPr lang="en-US" dirty="0"/>
              <a:t> = 0, j = </a:t>
            </a:r>
            <a:r>
              <a:rPr lang="en-US" dirty="0" err="1"/>
              <a:t>arguments.length</a:t>
            </a:r>
            <a:r>
              <a:rPr lang="en-US" dirty="0"/>
              <a:t>; </a:t>
            </a:r>
            <a:r>
              <a:rPr lang="en-US" dirty="0" err="1"/>
              <a:t>i</a:t>
            </a:r>
            <a:r>
              <a:rPr lang="en-US" dirty="0"/>
              <a:t> &lt; j; </a:t>
            </a:r>
            <a:r>
              <a:rPr lang="en-US" dirty="0" err="1"/>
              <a:t>i</a:t>
            </a:r>
            <a:r>
              <a:rPr lang="en-US" dirty="0"/>
              <a:t>++) {</a:t>
            </a:r>
          </a:p>
          <a:p>
            <a:pPr marL="0" indent="0">
              <a:buNone/>
            </a:pPr>
            <a:r>
              <a:rPr lang="en-US" dirty="0"/>
              <a:t>	          sum += arguments[</a:t>
            </a:r>
            <a:r>
              <a:rPr lang="en-US" dirty="0" err="1"/>
              <a:t>i</a:t>
            </a:r>
            <a:r>
              <a:rPr lang="en-US" dirty="0"/>
              <a:t>];</a:t>
            </a:r>
          </a:p>
          <a:p>
            <a:pPr marL="0" indent="0">
              <a:buNone/>
            </a:pPr>
            <a:r>
              <a:rPr lang="en-US" dirty="0"/>
              <a:t>	        }</a:t>
            </a:r>
          </a:p>
          <a:p>
            <a:pPr marL="0" indent="0">
              <a:buNone/>
            </a:pPr>
            <a:r>
              <a:rPr lang="en-US" dirty="0"/>
              <a:t>	        </a:t>
            </a:r>
            <a:r>
              <a:rPr lang="en-US" dirty="0" err="1"/>
              <a:t>document.write</a:t>
            </a:r>
            <a:r>
              <a:rPr lang="en-US" dirty="0"/>
              <a:t>(a + "&lt;</a:t>
            </a:r>
            <a:r>
              <a:rPr lang="en-US" dirty="0" err="1"/>
              <a:t>br</a:t>
            </a:r>
            <a:r>
              <a:rPr lang="en-US" dirty="0"/>
              <a:t>/&gt;");</a:t>
            </a:r>
          </a:p>
          <a:p>
            <a:pPr marL="0" indent="0">
              <a:buNone/>
            </a:pPr>
            <a:r>
              <a:rPr lang="en-US" dirty="0"/>
              <a:t>	        </a:t>
            </a:r>
            <a:r>
              <a:rPr lang="en-US" dirty="0" err="1"/>
              <a:t>document.write</a:t>
            </a:r>
            <a:r>
              <a:rPr lang="en-US" dirty="0"/>
              <a:t>(x[0] + "&lt;</a:t>
            </a:r>
            <a:r>
              <a:rPr lang="en-US" dirty="0" err="1"/>
              <a:t>br</a:t>
            </a:r>
            <a:r>
              <a:rPr lang="en-US" dirty="0"/>
              <a:t>/&gt;");</a:t>
            </a:r>
          </a:p>
          <a:p>
            <a:pPr marL="0" indent="0">
              <a:buNone/>
            </a:pPr>
            <a:r>
              <a:rPr lang="en-US" dirty="0"/>
              <a:t>	        </a:t>
            </a:r>
            <a:r>
              <a:rPr lang="en-US" dirty="0" err="1"/>
              <a:t>document.write</a:t>
            </a:r>
            <a:r>
              <a:rPr lang="en-US" dirty="0"/>
              <a:t>(x[1] + "&lt;</a:t>
            </a:r>
            <a:r>
              <a:rPr lang="en-US" dirty="0" err="1"/>
              <a:t>br</a:t>
            </a:r>
            <a:r>
              <a:rPr lang="en-US" dirty="0"/>
              <a:t>/&gt;");</a:t>
            </a:r>
          </a:p>
          <a:p>
            <a:pPr marL="0" indent="0">
              <a:buNone/>
            </a:pPr>
            <a:r>
              <a:rPr lang="en-US" dirty="0"/>
              <a:t>	        </a:t>
            </a:r>
            <a:r>
              <a:rPr lang="en-US" dirty="0" err="1"/>
              <a:t>document.write</a:t>
            </a:r>
            <a:r>
              <a:rPr lang="en-US" dirty="0"/>
              <a:t>(x[2] + "&lt;</a:t>
            </a:r>
            <a:r>
              <a:rPr lang="en-US" dirty="0" err="1"/>
              <a:t>br</a:t>
            </a:r>
            <a:r>
              <a:rPr lang="en-US" dirty="0"/>
              <a:t>/&gt;");</a:t>
            </a:r>
          </a:p>
          <a:p>
            <a:pPr marL="0" indent="0">
              <a:buNone/>
            </a:pPr>
            <a:r>
              <a:rPr lang="en-US" dirty="0"/>
              <a:t>	        </a:t>
            </a:r>
            <a:r>
              <a:rPr lang="en-US" dirty="0" err="1"/>
              <a:t>document.write</a:t>
            </a:r>
            <a:r>
              <a:rPr lang="en-US" dirty="0"/>
              <a:t>(x[3] + "&lt;</a:t>
            </a:r>
            <a:r>
              <a:rPr lang="en-US" dirty="0" err="1"/>
              <a:t>br</a:t>
            </a:r>
            <a:r>
              <a:rPr lang="en-US" dirty="0"/>
              <a:t>/&gt;");</a:t>
            </a:r>
          </a:p>
          <a:p>
            <a:pPr marL="0" indent="0">
              <a:buNone/>
            </a:pPr>
            <a:r>
              <a:rPr lang="en-US" dirty="0"/>
              <a:t>	        return sum / </a:t>
            </a:r>
            <a:r>
              <a:rPr lang="en-US" dirty="0" err="1"/>
              <a:t>arguments.length</a:t>
            </a:r>
            <a:r>
              <a:rPr lang="en-US" dirty="0"/>
              <a:t>;</a:t>
            </a:r>
          </a:p>
          <a:p>
            <a:pPr marL="0" indent="0">
              <a:buNone/>
            </a:pPr>
            <a:r>
              <a:rPr lang="en-US" dirty="0"/>
              <a:t>	      } </a:t>
            </a:r>
          </a:p>
          <a:p>
            <a:endParaRPr lang="en-US" dirty="0"/>
          </a:p>
          <a:p>
            <a:pPr marL="0" indent="0">
              <a:buNone/>
            </a:pPr>
            <a:r>
              <a:rPr lang="it-IT" dirty="0"/>
              <a:t>	    document.write(avg(2, 3, 4, 5)); </a:t>
            </a:r>
            <a:endParaRPr lang="en-US" dirty="0"/>
          </a:p>
        </p:txBody>
      </p:sp>
      <p:sp>
        <p:nvSpPr>
          <p:cNvPr id="4" name="TextBox 3">
            <a:extLst>
              <a:ext uri="{FF2B5EF4-FFF2-40B4-BE49-F238E27FC236}">
                <a16:creationId xmlns:a16="http://schemas.microsoft.com/office/drawing/2014/main" id="{1FCA631A-2078-48BC-8BC4-EF69E5C0F106}"/>
              </a:ext>
            </a:extLst>
          </p:cNvPr>
          <p:cNvSpPr txBox="1"/>
          <p:nvPr/>
        </p:nvSpPr>
        <p:spPr>
          <a:xfrm>
            <a:off x="7270776" y="3022327"/>
            <a:ext cx="1272143" cy="1754326"/>
          </a:xfrm>
          <a:prstGeom prst="rect">
            <a:avLst/>
          </a:prstGeom>
          <a:noFill/>
          <a:ln>
            <a:solidFill>
              <a:schemeClr val="accent1"/>
            </a:solidFill>
          </a:ln>
        </p:spPr>
        <p:txBody>
          <a:bodyPr wrap="none" rtlCol="0">
            <a:spAutoFit/>
          </a:bodyPr>
          <a:lstStyle/>
          <a:p>
            <a:r>
              <a:rPr lang="en-US" dirty="0"/>
              <a:t>2</a:t>
            </a:r>
          </a:p>
          <a:p>
            <a:r>
              <a:rPr lang="en-US" dirty="0"/>
              <a:t>3</a:t>
            </a:r>
          </a:p>
          <a:p>
            <a:r>
              <a:rPr lang="en-US" dirty="0"/>
              <a:t>4</a:t>
            </a:r>
          </a:p>
          <a:p>
            <a:r>
              <a:rPr lang="en-US" dirty="0"/>
              <a:t>5</a:t>
            </a:r>
          </a:p>
          <a:p>
            <a:r>
              <a:rPr lang="en-US" dirty="0"/>
              <a:t>undefined</a:t>
            </a:r>
          </a:p>
          <a:p>
            <a:r>
              <a:rPr lang="en-US" dirty="0"/>
              <a:t>2.5</a:t>
            </a:r>
          </a:p>
        </p:txBody>
      </p:sp>
    </p:spTree>
    <p:extLst>
      <p:ext uri="{BB962C8B-B14F-4D97-AF65-F5344CB8AC3E}">
        <p14:creationId xmlns:p14="http://schemas.microsoft.com/office/powerpoint/2010/main" val="19562875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6D3EB-2951-40CE-8F9C-31A063F4F027}"/>
              </a:ext>
            </a:extLst>
          </p:cNvPr>
          <p:cNvSpPr>
            <a:spLocks noGrp="1"/>
          </p:cNvSpPr>
          <p:nvPr>
            <p:ph type="title"/>
          </p:nvPr>
        </p:nvSpPr>
        <p:spPr>
          <a:xfrm>
            <a:off x="1066800" y="85059"/>
            <a:ext cx="10058400" cy="1009455"/>
          </a:xfrm>
        </p:spPr>
        <p:txBody>
          <a:bodyPr/>
          <a:lstStyle/>
          <a:p>
            <a:r>
              <a:rPr lang="en-US" dirty="0"/>
              <a:t>Hoisting</a:t>
            </a:r>
          </a:p>
        </p:txBody>
      </p:sp>
      <p:sp>
        <p:nvSpPr>
          <p:cNvPr id="3" name="Content Placeholder 2">
            <a:extLst>
              <a:ext uri="{FF2B5EF4-FFF2-40B4-BE49-F238E27FC236}">
                <a16:creationId xmlns:a16="http://schemas.microsoft.com/office/drawing/2014/main" id="{8E1AA163-E773-47FC-9B8E-F4F774865C22}"/>
              </a:ext>
            </a:extLst>
          </p:cNvPr>
          <p:cNvSpPr>
            <a:spLocks noGrp="1"/>
          </p:cNvSpPr>
          <p:nvPr>
            <p:ph idx="1"/>
          </p:nvPr>
        </p:nvSpPr>
        <p:spPr>
          <a:xfrm>
            <a:off x="1069848" y="1094514"/>
            <a:ext cx="10058400" cy="5077686"/>
          </a:xfrm>
        </p:spPr>
        <p:txBody>
          <a:bodyPr>
            <a:normAutofit lnSpcReduction="10000"/>
          </a:bodyPr>
          <a:lstStyle/>
          <a:p>
            <a:r>
              <a:rPr lang="en-US" dirty="0"/>
              <a:t>During compile (which occurs milliseconds before execution) the program is scanned for top level variable and function definitions.  </a:t>
            </a:r>
          </a:p>
          <a:p>
            <a:r>
              <a:rPr lang="en-US" dirty="0"/>
              <a:t>These variables have therefore been noted and it doesn't matter too much where they were created in the code.</a:t>
            </a:r>
          </a:p>
          <a:p>
            <a:r>
              <a:rPr lang="en-US" dirty="0"/>
              <a:t>This is often described as the variables are "moved" to the top of the current scope and you can think of them that way, but it isn't totally correct.  It can lead to some hard to explain errors if you don't understand.</a:t>
            </a:r>
          </a:p>
          <a:p>
            <a:pPr marL="0" indent="0">
              <a:buNone/>
            </a:pPr>
            <a:endParaRPr lang="en-US" sz="2000" dirty="0"/>
          </a:p>
          <a:p>
            <a:pPr marL="0" indent="0">
              <a:buNone/>
            </a:pPr>
            <a:r>
              <a:rPr lang="en-US" sz="2000" dirty="0"/>
              <a:t>	x = 5; // Assign 5 to x</a:t>
            </a:r>
          </a:p>
          <a:p>
            <a:pPr marL="0" indent="0">
              <a:buNone/>
            </a:pPr>
            <a:r>
              <a:rPr lang="en-US" sz="2000" dirty="0"/>
              <a:t>	</a:t>
            </a:r>
            <a:r>
              <a:rPr lang="en-US" sz="2000" dirty="0" err="1"/>
              <a:t>elem</a:t>
            </a:r>
            <a:r>
              <a:rPr lang="en-US" sz="2000" dirty="0"/>
              <a:t> = </a:t>
            </a:r>
            <a:r>
              <a:rPr lang="en-US" sz="2000" dirty="0" err="1"/>
              <a:t>document.getElementById</a:t>
            </a:r>
            <a:r>
              <a:rPr lang="en-US" sz="2000" dirty="0"/>
              <a:t>("demo"); // Find an element </a:t>
            </a:r>
          </a:p>
          <a:p>
            <a:pPr marL="0" indent="0">
              <a:buNone/>
            </a:pPr>
            <a:r>
              <a:rPr lang="en-US" sz="2000" dirty="0"/>
              <a:t>	</a:t>
            </a:r>
            <a:r>
              <a:rPr lang="en-US" sz="2000" dirty="0" err="1"/>
              <a:t>elem.innerHTML</a:t>
            </a:r>
            <a:r>
              <a:rPr lang="en-US" sz="2000" dirty="0"/>
              <a:t> = x;                     // Display x in the element</a:t>
            </a:r>
          </a:p>
          <a:p>
            <a:pPr marL="0" indent="0">
              <a:buNone/>
            </a:pPr>
            <a:r>
              <a:rPr lang="en-US" sz="2000" dirty="0"/>
              <a:t>	var x; // Declare x </a:t>
            </a:r>
          </a:p>
          <a:p>
            <a:r>
              <a:rPr lang="en-US" dirty="0"/>
              <a:t>You should </a:t>
            </a:r>
            <a:r>
              <a:rPr lang="en-US" b="1" dirty="0"/>
              <a:t>ALWAYS</a:t>
            </a:r>
            <a:r>
              <a:rPr lang="en-US" dirty="0"/>
              <a:t> declare your variables at the top of the script for global variables and the top of any function for local variables so that hoisting never needs to be used and can't cause any confusion.</a:t>
            </a:r>
          </a:p>
        </p:txBody>
      </p:sp>
    </p:spTree>
    <p:extLst>
      <p:ext uri="{BB962C8B-B14F-4D97-AF65-F5344CB8AC3E}">
        <p14:creationId xmlns:p14="http://schemas.microsoft.com/office/powerpoint/2010/main" val="40640953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6D3EB-2951-40CE-8F9C-31A063F4F027}"/>
              </a:ext>
            </a:extLst>
          </p:cNvPr>
          <p:cNvSpPr>
            <a:spLocks noGrp="1"/>
          </p:cNvSpPr>
          <p:nvPr>
            <p:ph type="title"/>
          </p:nvPr>
        </p:nvSpPr>
        <p:spPr>
          <a:xfrm>
            <a:off x="1063752" y="0"/>
            <a:ext cx="10058400" cy="1190847"/>
          </a:xfrm>
        </p:spPr>
        <p:txBody>
          <a:bodyPr/>
          <a:lstStyle/>
          <a:p>
            <a:r>
              <a:rPr lang="en-US" dirty="0"/>
              <a:t>Hoisting Examples</a:t>
            </a:r>
          </a:p>
        </p:txBody>
      </p:sp>
      <p:sp>
        <p:nvSpPr>
          <p:cNvPr id="3" name="Content Placeholder 2">
            <a:extLst>
              <a:ext uri="{FF2B5EF4-FFF2-40B4-BE49-F238E27FC236}">
                <a16:creationId xmlns:a16="http://schemas.microsoft.com/office/drawing/2014/main" id="{8E1AA163-E773-47FC-9B8E-F4F774865C22}"/>
              </a:ext>
            </a:extLst>
          </p:cNvPr>
          <p:cNvSpPr>
            <a:spLocks noGrp="1"/>
          </p:cNvSpPr>
          <p:nvPr>
            <p:ph idx="1"/>
          </p:nvPr>
        </p:nvSpPr>
        <p:spPr>
          <a:xfrm>
            <a:off x="1063752" y="1190847"/>
            <a:ext cx="10058400" cy="4880344"/>
          </a:xfrm>
        </p:spPr>
        <p:txBody>
          <a:bodyPr>
            <a:normAutofit lnSpcReduction="10000"/>
          </a:bodyPr>
          <a:lstStyle/>
          <a:p>
            <a:r>
              <a:rPr lang="en-US" dirty="0"/>
              <a:t>USING a variable before it is initialized IS a problem.</a:t>
            </a:r>
          </a:p>
          <a:p>
            <a:r>
              <a:rPr lang="en-US" dirty="0"/>
              <a:t>You cannot modify let variables in the "temporal dead zone" which is the area between creation and initialization.</a:t>
            </a:r>
          </a:p>
          <a:p>
            <a:pPr marL="0" indent="0">
              <a:buNone/>
            </a:pPr>
            <a:endParaRPr lang="en-US" dirty="0"/>
          </a:p>
          <a:p>
            <a:pPr marL="0" indent="0">
              <a:buNone/>
            </a:pPr>
            <a:endParaRPr lang="en-US" sz="2000" dirty="0"/>
          </a:p>
          <a:p>
            <a:pPr marL="0" indent="0">
              <a:buNone/>
            </a:pPr>
            <a:endParaRPr lang="en-US" dirty="0"/>
          </a:p>
          <a:p>
            <a:pPr marL="0" indent="0">
              <a:buNone/>
            </a:pPr>
            <a:endParaRPr lang="en-US" sz="2000" dirty="0"/>
          </a:p>
          <a:p>
            <a:pPr marL="0" indent="0">
              <a:buNone/>
            </a:pPr>
            <a:endParaRPr lang="en-US" dirty="0"/>
          </a:p>
          <a:p>
            <a:r>
              <a:rPr lang="en-US" dirty="0"/>
              <a:t>var variables are hoisted and initialized to </a:t>
            </a:r>
            <a:r>
              <a:rPr lang="en-US" b="1" i="1" dirty="0"/>
              <a:t>undefined</a:t>
            </a:r>
            <a:r>
              <a:rPr lang="en-US" dirty="0"/>
              <a:t>.</a:t>
            </a:r>
          </a:p>
          <a:p>
            <a:r>
              <a:rPr lang="en-US" dirty="0"/>
              <a:t>let variables are hoisted and left uninitialized.  They will NOT be initialized until the let declaration is reached during runtime.</a:t>
            </a:r>
          </a:p>
          <a:p>
            <a:r>
              <a:rPr lang="en-US" dirty="0"/>
              <a:t>JavaScript WILL NOT let you use uninitialized variables at all, hence the error with let.</a:t>
            </a:r>
          </a:p>
          <a:p>
            <a:pPr marL="0" indent="0">
              <a:buNone/>
            </a:pPr>
            <a:endParaRPr lang="en-US" sz="2000" dirty="0"/>
          </a:p>
        </p:txBody>
      </p:sp>
      <p:sp>
        <p:nvSpPr>
          <p:cNvPr id="4" name="TextBox 3">
            <a:extLst>
              <a:ext uri="{FF2B5EF4-FFF2-40B4-BE49-F238E27FC236}">
                <a16:creationId xmlns:a16="http://schemas.microsoft.com/office/drawing/2014/main" id="{7D986AB0-F553-4015-A641-8C474D03F030}"/>
              </a:ext>
            </a:extLst>
          </p:cNvPr>
          <p:cNvSpPr txBox="1"/>
          <p:nvPr/>
        </p:nvSpPr>
        <p:spPr>
          <a:xfrm>
            <a:off x="1839929" y="2381694"/>
            <a:ext cx="2416815" cy="1477328"/>
          </a:xfrm>
          <a:prstGeom prst="rect">
            <a:avLst/>
          </a:prstGeom>
          <a:noFill/>
          <a:ln>
            <a:solidFill>
              <a:schemeClr val="accent1"/>
            </a:solidFill>
          </a:ln>
        </p:spPr>
        <p:txBody>
          <a:bodyPr wrap="none" rtlCol="0">
            <a:spAutoFit/>
          </a:bodyPr>
          <a:lstStyle/>
          <a:p>
            <a:r>
              <a:rPr lang="en-US" dirty="0" err="1"/>
              <a:t>console.log</a:t>
            </a:r>
            <a:r>
              <a:rPr lang="en-US" dirty="0"/>
              <a:t>(x + 1);</a:t>
            </a:r>
          </a:p>
          <a:p>
            <a:r>
              <a:rPr lang="en-US" dirty="0"/>
              <a:t>x = 5; // Assign 5 to x</a:t>
            </a:r>
          </a:p>
          <a:p>
            <a:r>
              <a:rPr lang="en-US" dirty="0"/>
              <a:t>var x; // Declare x </a:t>
            </a:r>
          </a:p>
          <a:p>
            <a:endParaRPr lang="en-US" dirty="0"/>
          </a:p>
          <a:p>
            <a:r>
              <a:rPr lang="en-US" dirty="0"/>
              <a:t>//Displays </a:t>
            </a:r>
            <a:r>
              <a:rPr lang="en-US" dirty="0" err="1"/>
              <a:t>NaN</a:t>
            </a:r>
            <a:endParaRPr lang="en-US" dirty="0"/>
          </a:p>
        </p:txBody>
      </p:sp>
      <p:sp>
        <p:nvSpPr>
          <p:cNvPr id="5" name="TextBox 4">
            <a:extLst>
              <a:ext uri="{FF2B5EF4-FFF2-40B4-BE49-F238E27FC236}">
                <a16:creationId xmlns:a16="http://schemas.microsoft.com/office/drawing/2014/main" id="{59AFEBA7-EB93-4113-AB82-38168E24A99A}"/>
              </a:ext>
            </a:extLst>
          </p:cNvPr>
          <p:cNvSpPr txBox="1"/>
          <p:nvPr/>
        </p:nvSpPr>
        <p:spPr>
          <a:xfrm>
            <a:off x="4455362" y="2381694"/>
            <a:ext cx="2416815" cy="1477328"/>
          </a:xfrm>
          <a:prstGeom prst="rect">
            <a:avLst/>
          </a:prstGeom>
          <a:noFill/>
          <a:ln>
            <a:solidFill>
              <a:schemeClr val="accent1"/>
            </a:solidFill>
          </a:ln>
        </p:spPr>
        <p:txBody>
          <a:bodyPr wrap="none" rtlCol="0">
            <a:spAutoFit/>
          </a:bodyPr>
          <a:lstStyle/>
          <a:p>
            <a:r>
              <a:rPr lang="en-US" dirty="0"/>
              <a:t>x = 5; // Assign 5 to x</a:t>
            </a:r>
          </a:p>
          <a:p>
            <a:r>
              <a:rPr lang="en-US" dirty="0" err="1"/>
              <a:t>console.log</a:t>
            </a:r>
            <a:r>
              <a:rPr lang="en-US" dirty="0"/>
              <a:t>(x + 1);</a:t>
            </a:r>
          </a:p>
          <a:p>
            <a:r>
              <a:rPr lang="en-US" dirty="0"/>
              <a:t>var x; // Declare x </a:t>
            </a:r>
          </a:p>
          <a:p>
            <a:endParaRPr lang="en-US" dirty="0"/>
          </a:p>
          <a:p>
            <a:r>
              <a:rPr lang="en-US" dirty="0"/>
              <a:t>//Displays 6</a:t>
            </a:r>
          </a:p>
        </p:txBody>
      </p:sp>
      <p:sp>
        <p:nvSpPr>
          <p:cNvPr id="6" name="TextBox 5">
            <a:extLst>
              <a:ext uri="{FF2B5EF4-FFF2-40B4-BE49-F238E27FC236}">
                <a16:creationId xmlns:a16="http://schemas.microsoft.com/office/drawing/2014/main" id="{3850AE27-C023-426D-89F4-78B5390661FE}"/>
              </a:ext>
            </a:extLst>
          </p:cNvPr>
          <p:cNvSpPr txBox="1"/>
          <p:nvPr/>
        </p:nvSpPr>
        <p:spPr>
          <a:xfrm>
            <a:off x="7070797" y="2381694"/>
            <a:ext cx="2416815" cy="1477328"/>
          </a:xfrm>
          <a:prstGeom prst="rect">
            <a:avLst/>
          </a:prstGeom>
          <a:noFill/>
          <a:ln>
            <a:solidFill>
              <a:schemeClr val="accent1"/>
            </a:solidFill>
          </a:ln>
        </p:spPr>
        <p:txBody>
          <a:bodyPr wrap="none" rtlCol="0">
            <a:spAutoFit/>
          </a:bodyPr>
          <a:lstStyle/>
          <a:p>
            <a:r>
              <a:rPr lang="en-US" dirty="0"/>
              <a:t>x = 5; // Assign 5 to x</a:t>
            </a:r>
          </a:p>
          <a:p>
            <a:r>
              <a:rPr lang="en-US" dirty="0" err="1"/>
              <a:t>console.log</a:t>
            </a:r>
            <a:r>
              <a:rPr lang="en-US" dirty="0"/>
              <a:t>(x + 1);</a:t>
            </a:r>
          </a:p>
          <a:p>
            <a:r>
              <a:rPr lang="en-US" dirty="0"/>
              <a:t>let x; // Declare x </a:t>
            </a:r>
          </a:p>
          <a:p>
            <a:endParaRPr lang="en-US" dirty="0"/>
          </a:p>
          <a:p>
            <a:r>
              <a:rPr lang="en-US" dirty="0"/>
              <a:t>//Gives an error</a:t>
            </a:r>
          </a:p>
        </p:txBody>
      </p:sp>
    </p:spTree>
    <p:extLst>
      <p:ext uri="{BB962C8B-B14F-4D97-AF65-F5344CB8AC3E}">
        <p14:creationId xmlns:p14="http://schemas.microsoft.com/office/powerpoint/2010/main" val="15916348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0B3AD-7CF7-442F-87AB-48FA56DBEC4F}"/>
              </a:ext>
            </a:extLst>
          </p:cNvPr>
          <p:cNvSpPr>
            <a:spLocks noGrp="1"/>
          </p:cNvSpPr>
          <p:nvPr>
            <p:ph type="title"/>
          </p:nvPr>
        </p:nvSpPr>
        <p:spPr/>
        <p:txBody>
          <a:bodyPr/>
          <a:lstStyle/>
          <a:p>
            <a:r>
              <a:rPr lang="en-US" dirty="0"/>
              <a:t>First-class functions</a:t>
            </a:r>
          </a:p>
        </p:txBody>
      </p:sp>
      <p:sp>
        <p:nvSpPr>
          <p:cNvPr id="3" name="Content Placeholder 2">
            <a:extLst>
              <a:ext uri="{FF2B5EF4-FFF2-40B4-BE49-F238E27FC236}">
                <a16:creationId xmlns:a16="http://schemas.microsoft.com/office/drawing/2014/main" id="{6022D289-3D1C-4710-84DC-5A9B24CB137C}"/>
              </a:ext>
            </a:extLst>
          </p:cNvPr>
          <p:cNvSpPr>
            <a:spLocks noGrp="1"/>
          </p:cNvSpPr>
          <p:nvPr>
            <p:ph idx="1"/>
          </p:nvPr>
        </p:nvSpPr>
        <p:spPr/>
        <p:txBody>
          <a:bodyPr/>
          <a:lstStyle/>
          <a:p>
            <a:r>
              <a:rPr lang="en-US" dirty="0"/>
              <a:t>Functions can be assigned to variables.</a:t>
            </a:r>
          </a:p>
          <a:p>
            <a:r>
              <a:rPr lang="en-US" dirty="0"/>
              <a:t>You can pass functions as parameter.</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7335225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E7755-4B27-488A-B579-C4B65C46B31C}"/>
              </a:ext>
            </a:extLst>
          </p:cNvPr>
          <p:cNvSpPr>
            <a:spLocks noGrp="1"/>
          </p:cNvSpPr>
          <p:nvPr>
            <p:ph type="title"/>
          </p:nvPr>
        </p:nvSpPr>
        <p:spPr/>
        <p:txBody>
          <a:bodyPr/>
          <a:lstStyle/>
          <a:p>
            <a:r>
              <a:rPr lang="en-US" dirty="0"/>
              <a:t>Anonymous functions</a:t>
            </a:r>
          </a:p>
        </p:txBody>
      </p:sp>
      <p:sp>
        <p:nvSpPr>
          <p:cNvPr id="3" name="Content Placeholder 2">
            <a:extLst>
              <a:ext uri="{FF2B5EF4-FFF2-40B4-BE49-F238E27FC236}">
                <a16:creationId xmlns:a16="http://schemas.microsoft.com/office/drawing/2014/main" id="{94F0B302-CCF1-4082-B1EC-D0B8570A93F8}"/>
              </a:ext>
            </a:extLst>
          </p:cNvPr>
          <p:cNvSpPr>
            <a:spLocks noGrp="1"/>
          </p:cNvSpPr>
          <p:nvPr>
            <p:ph idx="1"/>
          </p:nvPr>
        </p:nvSpPr>
        <p:spPr/>
        <p:txBody>
          <a:bodyPr>
            <a:normAutofit fontScale="92500" lnSpcReduction="20000"/>
          </a:bodyPr>
          <a:lstStyle/>
          <a:p>
            <a:r>
              <a:rPr lang="en-US" dirty="0"/>
              <a:t>Not anonymous.  The function is named test.</a:t>
            </a:r>
          </a:p>
          <a:p>
            <a:pPr marL="0" indent="0">
              <a:buNone/>
            </a:pPr>
            <a:r>
              <a:rPr lang="en-US" dirty="0"/>
              <a:t>	function test(x, y) {</a:t>
            </a:r>
          </a:p>
          <a:p>
            <a:pPr marL="0" indent="0">
              <a:buNone/>
            </a:pPr>
            <a:r>
              <a:rPr lang="en-US" dirty="0"/>
              <a:t>		return </a:t>
            </a:r>
            <a:r>
              <a:rPr lang="en-US" dirty="0" err="1"/>
              <a:t>x+y</a:t>
            </a:r>
            <a:r>
              <a:rPr lang="en-US" dirty="0"/>
              <a:t>;</a:t>
            </a:r>
          </a:p>
          <a:p>
            <a:pPr marL="0" indent="0">
              <a:buNone/>
            </a:pPr>
            <a:r>
              <a:rPr lang="en-US" dirty="0"/>
              <a:t>	}</a:t>
            </a:r>
          </a:p>
          <a:p>
            <a:r>
              <a:rPr lang="en-US" dirty="0"/>
              <a:t>Called this way:     test(5, 6);</a:t>
            </a:r>
          </a:p>
          <a:p>
            <a:pPr marL="0" indent="0">
              <a:buNone/>
            </a:pPr>
            <a:endParaRPr lang="en-US" dirty="0"/>
          </a:p>
          <a:p>
            <a:r>
              <a:rPr lang="en-US" dirty="0"/>
              <a:t>Anonymous </a:t>
            </a:r>
          </a:p>
          <a:p>
            <a:pPr marL="0" indent="0">
              <a:buNone/>
            </a:pPr>
            <a:r>
              <a:rPr lang="en-US" dirty="0"/>
              <a:t>	function(</a:t>
            </a:r>
            <a:r>
              <a:rPr lang="en-US" dirty="0" err="1"/>
              <a:t>x,y</a:t>
            </a:r>
            <a:r>
              <a:rPr lang="en-US" dirty="0"/>
              <a:t>) {</a:t>
            </a:r>
          </a:p>
          <a:p>
            <a:pPr marL="0" indent="0">
              <a:buNone/>
            </a:pPr>
            <a:r>
              <a:rPr lang="en-US" dirty="0"/>
              <a:t>		return </a:t>
            </a:r>
            <a:r>
              <a:rPr lang="en-US" dirty="0" err="1"/>
              <a:t>x+y</a:t>
            </a:r>
            <a:r>
              <a:rPr lang="en-US" dirty="0"/>
              <a:t>;</a:t>
            </a:r>
          </a:p>
          <a:p>
            <a:pPr marL="0" indent="0">
              <a:buNone/>
            </a:pPr>
            <a:r>
              <a:rPr lang="en-US" dirty="0"/>
              <a:t>	}</a:t>
            </a:r>
          </a:p>
          <a:p>
            <a:r>
              <a:rPr lang="en-US" dirty="0"/>
              <a:t>How to call?  Can be assigned to a variable or passed as a parameter.</a:t>
            </a:r>
          </a:p>
        </p:txBody>
      </p:sp>
    </p:spTree>
    <p:extLst>
      <p:ext uri="{BB962C8B-B14F-4D97-AF65-F5344CB8AC3E}">
        <p14:creationId xmlns:p14="http://schemas.microsoft.com/office/powerpoint/2010/main" val="37462330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E7755-4B27-488A-B579-C4B65C46B31C}"/>
              </a:ext>
            </a:extLst>
          </p:cNvPr>
          <p:cNvSpPr>
            <a:spLocks noGrp="1"/>
          </p:cNvSpPr>
          <p:nvPr>
            <p:ph type="title"/>
          </p:nvPr>
        </p:nvSpPr>
        <p:spPr/>
        <p:txBody>
          <a:bodyPr/>
          <a:lstStyle/>
          <a:p>
            <a:r>
              <a:rPr lang="en-US" dirty="0"/>
              <a:t>Using Anonymous functions</a:t>
            </a:r>
          </a:p>
        </p:txBody>
      </p:sp>
      <p:sp>
        <p:nvSpPr>
          <p:cNvPr id="3" name="Content Placeholder 2">
            <a:extLst>
              <a:ext uri="{FF2B5EF4-FFF2-40B4-BE49-F238E27FC236}">
                <a16:creationId xmlns:a16="http://schemas.microsoft.com/office/drawing/2014/main" id="{94F0B302-CCF1-4082-B1EC-D0B8570A93F8}"/>
              </a:ext>
            </a:extLst>
          </p:cNvPr>
          <p:cNvSpPr>
            <a:spLocks noGrp="1"/>
          </p:cNvSpPr>
          <p:nvPr>
            <p:ph idx="1"/>
          </p:nvPr>
        </p:nvSpPr>
        <p:spPr/>
        <p:txBody>
          <a:bodyPr>
            <a:normAutofit/>
          </a:bodyPr>
          <a:lstStyle/>
          <a:p>
            <a:r>
              <a:rPr lang="en-US" dirty="0"/>
              <a:t>Variable</a:t>
            </a:r>
          </a:p>
          <a:p>
            <a:pPr marL="0" indent="0">
              <a:buNone/>
            </a:pPr>
            <a:r>
              <a:rPr lang="en-US" dirty="0"/>
              <a:t>	const f = function (</a:t>
            </a:r>
            <a:r>
              <a:rPr lang="en-US" dirty="0" err="1"/>
              <a:t>x,y</a:t>
            </a:r>
            <a:r>
              <a:rPr lang="en-US" dirty="0"/>
              <a:t>) {</a:t>
            </a:r>
          </a:p>
          <a:p>
            <a:pPr marL="0" indent="0">
              <a:buNone/>
            </a:pPr>
            <a:r>
              <a:rPr lang="en-US" dirty="0"/>
              <a:t>		return </a:t>
            </a:r>
            <a:r>
              <a:rPr lang="en-US" dirty="0" err="1"/>
              <a:t>x+y</a:t>
            </a:r>
            <a:r>
              <a:rPr lang="en-US" dirty="0"/>
              <a:t>;</a:t>
            </a:r>
          </a:p>
          <a:p>
            <a:pPr marL="0" indent="0">
              <a:buNone/>
            </a:pPr>
            <a:r>
              <a:rPr lang="en-US" dirty="0"/>
              <a:t>	}</a:t>
            </a:r>
          </a:p>
          <a:p>
            <a:pPr marL="0" indent="0">
              <a:buNone/>
            </a:pPr>
            <a:r>
              <a:rPr lang="en-US" dirty="0"/>
              <a:t>	f(5,6); //returns 11</a:t>
            </a:r>
          </a:p>
          <a:p>
            <a:pPr marL="0" indent="0">
              <a:buNone/>
            </a:pPr>
            <a:endParaRPr lang="en-US" dirty="0"/>
          </a:p>
          <a:p>
            <a:r>
              <a:rPr lang="en-US" dirty="0"/>
              <a:t>Argument</a:t>
            </a:r>
          </a:p>
          <a:p>
            <a:pPr marL="0" indent="0">
              <a:buNone/>
            </a:pPr>
            <a:r>
              <a:rPr lang="en-US" dirty="0"/>
              <a:t>	</a:t>
            </a:r>
            <a:r>
              <a:rPr lang="en-US" dirty="0" err="1"/>
              <a:t>setTimeout</a:t>
            </a:r>
            <a:r>
              <a:rPr lang="en-US" dirty="0"/>
              <a:t>( function () { …JavaScript Code… }, 1000);</a:t>
            </a:r>
          </a:p>
          <a:p>
            <a:pPr marL="0" indent="0">
              <a:buNone/>
            </a:pPr>
            <a:r>
              <a:rPr lang="en-US" dirty="0"/>
              <a:t>​</a:t>
            </a:r>
          </a:p>
        </p:txBody>
      </p:sp>
    </p:spTree>
    <p:extLst>
      <p:ext uri="{BB962C8B-B14F-4D97-AF65-F5344CB8AC3E}">
        <p14:creationId xmlns:p14="http://schemas.microsoft.com/office/powerpoint/2010/main" val="10219379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E7755-4B27-488A-B579-C4B65C46B31C}"/>
              </a:ext>
            </a:extLst>
          </p:cNvPr>
          <p:cNvSpPr>
            <a:spLocks noGrp="1"/>
          </p:cNvSpPr>
          <p:nvPr>
            <p:ph type="title"/>
          </p:nvPr>
        </p:nvSpPr>
        <p:spPr>
          <a:xfrm>
            <a:off x="1066800" y="191864"/>
            <a:ext cx="10058400" cy="493936"/>
          </a:xfrm>
        </p:spPr>
        <p:txBody>
          <a:bodyPr>
            <a:normAutofit fontScale="90000"/>
          </a:bodyPr>
          <a:lstStyle/>
          <a:p>
            <a:r>
              <a:rPr lang="en-US" dirty="0"/>
              <a:t>Using Anonymous functions Explained</a:t>
            </a:r>
          </a:p>
        </p:txBody>
      </p:sp>
      <p:sp>
        <p:nvSpPr>
          <p:cNvPr id="3" name="Content Placeholder 2">
            <a:extLst>
              <a:ext uri="{FF2B5EF4-FFF2-40B4-BE49-F238E27FC236}">
                <a16:creationId xmlns:a16="http://schemas.microsoft.com/office/drawing/2014/main" id="{94F0B302-CCF1-4082-B1EC-D0B8570A93F8}"/>
              </a:ext>
            </a:extLst>
          </p:cNvPr>
          <p:cNvSpPr>
            <a:spLocks noGrp="1"/>
          </p:cNvSpPr>
          <p:nvPr>
            <p:ph idx="1"/>
          </p:nvPr>
        </p:nvSpPr>
        <p:spPr>
          <a:xfrm>
            <a:off x="1069848" y="850232"/>
            <a:ext cx="10058400" cy="5321968"/>
          </a:xfrm>
        </p:spPr>
        <p:txBody>
          <a:bodyPr>
            <a:normAutofit fontScale="85000" lnSpcReduction="20000"/>
          </a:bodyPr>
          <a:lstStyle/>
          <a:p>
            <a:r>
              <a:rPr lang="en-US" sz="2800" dirty="0"/>
              <a:t>Variable</a:t>
            </a:r>
          </a:p>
          <a:p>
            <a:pPr marL="0" indent="0">
              <a:buNone/>
            </a:pPr>
            <a:r>
              <a:rPr lang="en-US" sz="2800" dirty="0"/>
              <a:t>	const a = function (</a:t>
            </a:r>
            <a:r>
              <a:rPr lang="en-US" sz="2800" dirty="0" err="1"/>
              <a:t>x,y</a:t>
            </a:r>
            <a:r>
              <a:rPr lang="en-US" sz="2800" dirty="0"/>
              <a:t>) {</a:t>
            </a:r>
          </a:p>
          <a:p>
            <a:pPr marL="0" indent="0">
              <a:buNone/>
            </a:pPr>
            <a:r>
              <a:rPr lang="en-US" sz="2800" dirty="0"/>
              <a:t>		return </a:t>
            </a:r>
            <a:r>
              <a:rPr lang="en-US" sz="2800" dirty="0" err="1"/>
              <a:t>x+y</a:t>
            </a:r>
            <a:r>
              <a:rPr lang="en-US" sz="2800" dirty="0"/>
              <a:t>;</a:t>
            </a:r>
          </a:p>
          <a:p>
            <a:pPr marL="0" indent="0">
              <a:buNone/>
            </a:pPr>
            <a:r>
              <a:rPr lang="en-US" sz="2800" dirty="0"/>
              <a:t>	}</a:t>
            </a:r>
          </a:p>
          <a:p>
            <a:pPr marL="0" indent="0">
              <a:buNone/>
            </a:pPr>
            <a:r>
              <a:rPr lang="en-US" sz="2800" dirty="0"/>
              <a:t>	const s = function (</a:t>
            </a:r>
            <a:r>
              <a:rPr lang="en-US" sz="2800" dirty="0" err="1"/>
              <a:t>x,y</a:t>
            </a:r>
            <a:r>
              <a:rPr lang="en-US" sz="2800" dirty="0"/>
              <a:t>) {</a:t>
            </a:r>
          </a:p>
          <a:p>
            <a:pPr marL="0" indent="0">
              <a:buNone/>
            </a:pPr>
            <a:r>
              <a:rPr lang="en-US" sz="2800" dirty="0"/>
              <a:t>		return x-y;</a:t>
            </a:r>
          </a:p>
          <a:p>
            <a:pPr marL="0" indent="0">
              <a:buNone/>
            </a:pPr>
            <a:r>
              <a:rPr lang="en-US" sz="2800" dirty="0"/>
              <a:t>	}</a:t>
            </a:r>
          </a:p>
          <a:p>
            <a:pPr marL="0" indent="0">
              <a:buNone/>
            </a:pPr>
            <a:r>
              <a:rPr lang="en-US" sz="2800" dirty="0"/>
              <a:t>	function test (m, n, y) {</a:t>
            </a:r>
          </a:p>
          <a:p>
            <a:pPr marL="0" indent="0">
              <a:buNone/>
            </a:pPr>
            <a:r>
              <a:rPr lang="en-US" sz="2800" dirty="0"/>
              <a:t>		return y(</a:t>
            </a:r>
            <a:r>
              <a:rPr lang="en-US" sz="2800" dirty="0" err="1"/>
              <a:t>m,n</a:t>
            </a:r>
            <a:r>
              <a:rPr lang="en-US" sz="2800" dirty="0"/>
              <a:t>);</a:t>
            </a:r>
          </a:p>
          <a:p>
            <a:pPr marL="0" indent="0">
              <a:buNone/>
            </a:pPr>
            <a:r>
              <a:rPr lang="en-US" sz="2800" dirty="0"/>
              <a:t>	}</a:t>
            </a:r>
          </a:p>
          <a:p>
            <a:pPr marL="0" indent="0">
              <a:buNone/>
            </a:pPr>
            <a:endParaRPr lang="en-US" sz="2800" dirty="0"/>
          </a:p>
          <a:p>
            <a:pPr marL="0" indent="0">
              <a:buNone/>
            </a:pPr>
            <a:r>
              <a:rPr lang="en-US" sz="2800" dirty="0"/>
              <a:t>	test(</a:t>
            </a:r>
            <a:r>
              <a:rPr lang="en-US" sz="2800" dirty="0" err="1"/>
              <a:t>4,3,a</a:t>
            </a:r>
            <a:r>
              <a:rPr lang="en-US" sz="2800" dirty="0"/>
              <a:t>);  //7</a:t>
            </a:r>
          </a:p>
          <a:p>
            <a:pPr marL="0" indent="0">
              <a:buNone/>
            </a:pPr>
            <a:r>
              <a:rPr lang="en-US" sz="2800" dirty="0"/>
              <a:t>	test(</a:t>
            </a:r>
            <a:r>
              <a:rPr lang="en-US" sz="2800" dirty="0" err="1"/>
              <a:t>4,3,s</a:t>
            </a:r>
            <a:r>
              <a:rPr lang="en-US" sz="2800" dirty="0"/>
              <a:t>);  //1</a:t>
            </a:r>
          </a:p>
        </p:txBody>
      </p:sp>
    </p:spTree>
    <p:extLst>
      <p:ext uri="{BB962C8B-B14F-4D97-AF65-F5344CB8AC3E}">
        <p14:creationId xmlns:p14="http://schemas.microsoft.com/office/powerpoint/2010/main" val="21754984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9BC63-9960-4551-9AA7-F0F026D767F5}"/>
              </a:ext>
            </a:extLst>
          </p:cNvPr>
          <p:cNvSpPr>
            <a:spLocks noGrp="1"/>
          </p:cNvSpPr>
          <p:nvPr>
            <p:ph type="title"/>
          </p:nvPr>
        </p:nvSpPr>
        <p:spPr/>
        <p:txBody>
          <a:bodyPr/>
          <a:lstStyle/>
          <a:p>
            <a:r>
              <a:rPr lang="en-US" dirty="0"/>
              <a:t>Immediately invokable function expression (</a:t>
            </a:r>
            <a:r>
              <a:rPr lang="en-US" dirty="0" err="1"/>
              <a:t>iife</a:t>
            </a:r>
            <a:r>
              <a:rPr lang="en-US" dirty="0"/>
              <a:t>)</a:t>
            </a:r>
          </a:p>
        </p:txBody>
      </p:sp>
      <p:sp>
        <p:nvSpPr>
          <p:cNvPr id="3" name="Content Placeholder 2">
            <a:extLst>
              <a:ext uri="{FF2B5EF4-FFF2-40B4-BE49-F238E27FC236}">
                <a16:creationId xmlns:a16="http://schemas.microsoft.com/office/drawing/2014/main" id="{690DCBDD-9242-4E2F-8DD8-A661A1E0AA4C}"/>
              </a:ext>
            </a:extLst>
          </p:cNvPr>
          <p:cNvSpPr>
            <a:spLocks noGrp="1"/>
          </p:cNvSpPr>
          <p:nvPr>
            <p:ph idx="1"/>
          </p:nvPr>
        </p:nvSpPr>
        <p:spPr/>
        <p:txBody>
          <a:bodyPr>
            <a:normAutofit lnSpcReduction="10000"/>
          </a:bodyPr>
          <a:lstStyle/>
          <a:p>
            <a:pPr marL="0" indent="0">
              <a:buNone/>
            </a:pPr>
            <a:r>
              <a:rPr lang="en-US" dirty="0"/>
              <a:t>(function(parameters) {</a:t>
            </a:r>
          </a:p>
          <a:p>
            <a:pPr marL="0" indent="0">
              <a:buNone/>
            </a:pPr>
            <a:r>
              <a:rPr lang="en-US" dirty="0"/>
              <a:t>    statements</a:t>
            </a:r>
          </a:p>
          <a:p>
            <a:pPr marL="0" indent="0">
              <a:buNone/>
            </a:pPr>
            <a:r>
              <a:rPr lang="en-US" dirty="0"/>
              <a:t>})(arguments);</a:t>
            </a:r>
          </a:p>
          <a:p>
            <a:pPr marL="0" indent="0">
              <a:buNone/>
            </a:pPr>
            <a:endParaRPr lang="en-US" dirty="0"/>
          </a:p>
          <a:p>
            <a:pPr marL="0" indent="0">
              <a:buNone/>
            </a:pPr>
            <a:r>
              <a:rPr lang="es-ES" dirty="0"/>
              <a:t>&lt;script&gt;</a:t>
            </a:r>
          </a:p>
          <a:p>
            <a:pPr marL="0" indent="0">
              <a:buNone/>
            </a:pPr>
            <a:r>
              <a:rPr lang="es-ES" dirty="0"/>
              <a:t>	 (</a:t>
            </a:r>
            <a:r>
              <a:rPr lang="es-ES" dirty="0" err="1"/>
              <a:t>function</a:t>
            </a:r>
            <a:r>
              <a:rPr lang="es-ES" dirty="0"/>
              <a:t> (x, y) {</a:t>
            </a:r>
          </a:p>
          <a:p>
            <a:pPr marL="0" indent="0">
              <a:buNone/>
            </a:pPr>
            <a:r>
              <a:rPr lang="es-ES" dirty="0"/>
              <a:t>	        </a:t>
            </a:r>
            <a:r>
              <a:rPr lang="es-ES" dirty="0" err="1"/>
              <a:t>document.write</a:t>
            </a:r>
            <a:r>
              <a:rPr lang="es-ES" dirty="0"/>
              <a:t>("&lt;h1&gt;"+(x + y)+"&lt;/h1&gt;");</a:t>
            </a:r>
          </a:p>
          <a:p>
            <a:pPr marL="0" indent="0">
              <a:buNone/>
            </a:pPr>
            <a:r>
              <a:rPr lang="es-ES" dirty="0"/>
              <a:t>	  })(3, 4);</a:t>
            </a:r>
          </a:p>
          <a:p>
            <a:pPr marL="0" indent="0">
              <a:buNone/>
            </a:pPr>
            <a:r>
              <a:rPr lang="es-ES" dirty="0"/>
              <a:t>&lt;/script&gt;</a:t>
            </a:r>
          </a:p>
          <a:p>
            <a:r>
              <a:rPr lang="es-ES" dirty="0" err="1"/>
              <a:t>Not</a:t>
            </a:r>
            <a:r>
              <a:rPr lang="es-ES" dirty="0"/>
              <a:t> </a:t>
            </a:r>
            <a:r>
              <a:rPr lang="es-ES" dirty="0" err="1"/>
              <a:t>really</a:t>
            </a:r>
            <a:r>
              <a:rPr lang="es-ES" dirty="0"/>
              <a:t> a </a:t>
            </a:r>
            <a:r>
              <a:rPr lang="es-ES" dirty="0" err="1"/>
              <a:t>good</a:t>
            </a:r>
            <a:r>
              <a:rPr lang="es-ES" dirty="0"/>
              <a:t> </a:t>
            </a:r>
            <a:r>
              <a:rPr lang="es-ES" dirty="0" err="1"/>
              <a:t>practice</a:t>
            </a:r>
            <a:r>
              <a:rPr lang="es-ES" dirty="0"/>
              <a:t> </a:t>
            </a:r>
            <a:r>
              <a:rPr lang="es-ES" dirty="0" err="1"/>
              <a:t>to</a:t>
            </a:r>
            <a:r>
              <a:rPr lang="es-ES" dirty="0"/>
              <a:t> use </a:t>
            </a:r>
            <a:r>
              <a:rPr lang="es-ES" dirty="0" err="1"/>
              <a:t>IIFE</a:t>
            </a:r>
            <a:r>
              <a:rPr lang="es-ES" dirty="0"/>
              <a:t>.</a:t>
            </a:r>
            <a:endParaRPr lang="en-US" dirty="0"/>
          </a:p>
        </p:txBody>
      </p:sp>
    </p:spTree>
    <p:extLst>
      <p:ext uri="{BB962C8B-B14F-4D97-AF65-F5344CB8AC3E}">
        <p14:creationId xmlns:p14="http://schemas.microsoft.com/office/powerpoint/2010/main" val="41662145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08EBE-1CF9-4660-A5E7-45789FAC3A31}"/>
              </a:ext>
            </a:extLst>
          </p:cNvPr>
          <p:cNvSpPr>
            <a:spLocks noGrp="1"/>
          </p:cNvSpPr>
          <p:nvPr>
            <p:ph type="title"/>
          </p:nvPr>
        </p:nvSpPr>
        <p:spPr/>
        <p:txBody>
          <a:bodyPr/>
          <a:lstStyle/>
          <a:p>
            <a:r>
              <a:rPr lang="en-US" dirty="0"/>
              <a:t>Anonymous Functions and arrow notation</a:t>
            </a:r>
          </a:p>
        </p:txBody>
      </p:sp>
      <p:sp>
        <p:nvSpPr>
          <p:cNvPr id="3" name="Content Placeholder 2">
            <a:extLst>
              <a:ext uri="{FF2B5EF4-FFF2-40B4-BE49-F238E27FC236}">
                <a16:creationId xmlns:a16="http://schemas.microsoft.com/office/drawing/2014/main" id="{4C20895F-20FC-4347-AB67-CA052DF23F5A}"/>
              </a:ext>
            </a:extLst>
          </p:cNvPr>
          <p:cNvSpPr>
            <a:spLocks noGrp="1"/>
          </p:cNvSpPr>
          <p:nvPr>
            <p:ph idx="1"/>
          </p:nvPr>
        </p:nvSpPr>
        <p:spPr/>
        <p:txBody>
          <a:bodyPr>
            <a:normAutofit fontScale="92500" lnSpcReduction="10000"/>
          </a:bodyPr>
          <a:lstStyle/>
          <a:p>
            <a:pPr marL="0" indent="0">
              <a:buNone/>
            </a:pPr>
            <a:r>
              <a:rPr lang="en-US" dirty="0" err="1"/>
              <a:t>ES6</a:t>
            </a:r>
            <a:r>
              <a:rPr lang="en-US" dirty="0"/>
              <a:t> introduced the "Arrow Notation" way to create anonymous functions</a:t>
            </a:r>
          </a:p>
          <a:p>
            <a:pPr marL="0" indent="0">
              <a:buNone/>
            </a:pPr>
            <a:r>
              <a:rPr lang="en-US" dirty="0"/>
              <a:t>	(</a:t>
            </a:r>
            <a:r>
              <a:rPr lang="en-US" dirty="0" err="1"/>
              <a:t>x,y</a:t>
            </a:r>
            <a:r>
              <a:rPr lang="en-US" dirty="0"/>
              <a:t>) =&gt; {</a:t>
            </a:r>
          </a:p>
          <a:p>
            <a:pPr marL="0" indent="0">
              <a:buNone/>
            </a:pPr>
            <a:r>
              <a:rPr lang="en-US" dirty="0"/>
              <a:t>		return </a:t>
            </a:r>
            <a:r>
              <a:rPr lang="en-US" dirty="0" err="1"/>
              <a:t>x+y</a:t>
            </a:r>
            <a:r>
              <a:rPr lang="en-US" dirty="0"/>
              <a:t>;</a:t>
            </a:r>
          </a:p>
          <a:p>
            <a:pPr marL="0" indent="0">
              <a:buNone/>
            </a:pPr>
            <a:r>
              <a:rPr lang="en-US" dirty="0"/>
              <a:t>	}</a:t>
            </a:r>
          </a:p>
          <a:p>
            <a:r>
              <a:rPr lang="en-US" dirty="0"/>
              <a:t>If you only want to return a single expression, you can use this form.</a:t>
            </a:r>
          </a:p>
          <a:p>
            <a:pPr marL="0" indent="0">
              <a:buNone/>
            </a:pPr>
            <a:r>
              <a:rPr lang="en-US" dirty="0"/>
              <a:t>	(x, y) =&gt; </a:t>
            </a:r>
            <a:r>
              <a:rPr lang="en-US" dirty="0" err="1"/>
              <a:t>x+y</a:t>
            </a:r>
            <a:r>
              <a:rPr lang="en-US" dirty="0"/>
              <a:t>;</a:t>
            </a:r>
          </a:p>
          <a:p>
            <a:r>
              <a:rPr lang="en-US" dirty="0"/>
              <a:t>An arrow function expression is a syntactically compact alternative to a regular function expression.</a:t>
            </a:r>
          </a:p>
          <a:p>
            <a:r>
              <a:rPr lang="en-US" dirty="0"/>
              <a:t>No binding to </a:t>
            </a:r>
            <a:r>
              <a:rPr lang="en-US" b="1" i="1" dirty="0"/>
              <a:t>this</a:t>
            </a:r>
            <a:r>
              <a:rPr lang="en-US" dirty="0"/>
              <a:t>, </a:t>
            </a:r>
            <a:r>
              <a:rPr lang="en-US" b="1" i="1" dirty="0"/>
              <a:t>arguments</a:t>
            </a:r>
            <a:r>
              <a:rPr lang="en-US" dirty="0"/>
              <a:t>, </a:t>
            </a:r>
            <a:r>
              <a:rPr lang="en-US" b="1" i="1" dirty="0"/>
              <a:t>super</a:t>
            </a:r>
            <a:r>
              <a:rPr lang="en-US" dirty="0"/>
              <a:t>, or </a:t>
            </a:r>
            <a:r>
              <a:rPr lang="en-US" b="1" i="1" dirty="0" err="1"/>
              <a:t>new.target</a:t>
            </a:r>
            <a:r>
              <a:rPr lang="en-US" dirty="0"/>
              <a:t> keywords. </a:t>
            </a:r>
          </a:p>
          <a:p>
            <a:r>
              <a:rPr lang="en-US" dirty="0"/>
              <a:t>Arrow function expressions are ill suited as methods, and they cannot be used as constructors.</a:t>
            </a:r>
          </a:p>
        </p:txBody>
      </p:sp>
    </p:spTree>
    <p:extLst>
      <p:ext uri="{BB962C8B-B14F-4D97-AF65-F5344CB8AC3E}">
        <p14:creationId xmlns:p14="http://schemas.microsoft.com/office/powerpoint/2010/main" val="13740236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08EBE-1CF9-4660-A5E7-45789FAC3A31}"/>
              </a:ext>
            </a:extLst>
          </p:cNvPr>
          <p:cNvSpPr>
            <a:spLocks noGrp="1"/>
          </p:cNvSpPr>
          <p:nvPr>
            <p:ph type="title"/>
          </p:nvPr>
        </p:nvSpPr>
        <p:spPr/>
        <p:txBody>
          <a:bodyPr/>
          <a:lstStyle/>
          <a:p>
            <a:r>
              <a:rPr lang="en-US" dirty="0"/>
              <a:t>Functions and arrow notation</a:t>
            </a:r>
          </a:p>
        </p:txBody>
      </p:sp>
      <p:sp>
        <p:nvSpPr>
          <p:cNvPr id="3" name="Content Placeholder 2">
            <a:extLst>
              <a:ext uri="{FF2B5EF4-FFF2-40B4-BE49-F238E27FC236}">
                <a16:creationId xmlns:a16="http://schemas.microsoft.com/office/drawing/2014/main" id="{4C20895F-20FC-4347-AB67-CA052DF23F5A}"/>
              </a:ext>
            </a:extLst>
          </p:cNvPr>
          <p:cNvSpPr>
            <a:spLocks noGrp="1"/>
          </p:cNvSpPr>
          <p:nvPr>
            <p:ph idx="1"/>
          </p:nvPr>
        </p:nvSpPr>
        <p:spPr/>
        <p:txBody>
          <a:bodyPr/>
          <a:lstStyle/>
          <a:p>
            <a:pPr marL="0" indent="0">
              <a:buNone/>
            </a:pPr>
            <a:r>
              <a:rPr lang="en-US" dirty="0"/>
              <a:t>What will this do?</a:t>
            </a:r>
          </a:p>
          <a:p>
            <a:pPr marL="0" indent="0">
              <a:buNone/>
            </a:pPr>
            <a:r>
              <a:rPr lang="en-US" dirty="0"/>
              <a:t>	z = (</a:t>
            </a:r>
            <a:r>
              <a:rPr lang="en-US" dirty="0" err="1"/>
              <a:t>x,y</a:t>
            </a:r>
            <a:r>
              <a:rPr lang="en-US" dirty="0"/>
              <a:t>) =&gt; x + y;</a:t>
            </a:r>
          </a:p>
          <a:p>
            <a:pPr marL="0" indent="0">
              <a:buNone/>
            </a:pPr>
            <a:endParaRPr lang="en-US" dirty="0"/>
          </a:p>
          <a:p>
            <a:pPr marL="0" indent="0">
              <a:buNone/>
            </a:pPr>
            <a:r>
              <a:rPr lang="en-US" dirty="0"/>
              <a:t>What will this do?</a:t>
            </a:r>
          </a:p>
          <a:p>
            <a:pPr marL="0" indent="0">
              <a:buNone/>
            </a:pPr>
            <a:r>
              <a:rPr lang="en-US" dirty="0"/>
              <a:t>	z = ((</a:t>
            </a:r>
            <a:r>
              <a:rPr lang="en-US" dirty="0" err="1"/>
              <a:t>x,y</a:t>
            </a:r>
            <a:r>
              <a:rPr lang="en-US" dirty="0"/>
              <a:t>) =&gt; x + y)(1,2);</a:t>
            </a:r>
          </a:p>
          <a:p>
            <a:pPr marL="0" indent="0">
              <a:buNone/>
            </a:pPr>
            <a:endParaRPr lang="en-US" dirty="0"/>
          </a:p>
          <a:p>
            <a:pPr marL="0" indent="0">
              <a:buNone/>
            </a:pPr>
            <a:endParaRPr lang="en-US" dirty="0"/>
          </a:p>
          <a:p>
            <a:pPr marL="0" indent="0">
              <a:buNone/>
            </a:pPr>
            <a:r>
              <a:rPr lang="en-US" dirty="0"/>
              <a:t>	</a:t>
            </a:r>
          </a:p>
        </p:txBody>
      </p:sp>
    </p:spTree>
    <p:extLst>
      <p:ext uri="{BB962C8B-B14F-4D97-AF65-F5344CB8AC3E}">
        <p14:creationId xmlns:p14="http://schemas.microsoft.com/office/powerpoint/2010/main" val="36971050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Functions and objects</a:t>
            </a:r>
          </a:p>
        </p:txBody>
      </p:sp>
      <p:sp>
        <p:nvSpPr>
          <p:cNvPr id="3" name="Content Placeholder 2"/>
          <p:cNvSpPr>
            <a:spLocks noGrp="1"/>
          </p:cNvSpPr>
          <p:nvPr>
            <p:ph idx="1"/>
          </p:nvPr>
        </p:nvSpPr>
        <p:spPr/>
        <p:txBody>
          <a:bodyPr/>
          <a:lstStyle/>
          <a:p>
            <a:r>
              <a:rPr lang="en-US" dirty="0"/>
              <a:t>The objects we built before were simply holders of data.</a:t>
            </a:r>
          </a:p>
          <a:p>
            <a:r>
              <a:rPr lang="en-US" dirty="0"/>
              <a:t>But objects in Java can be more than that.</a:t>
            </a:r>
          </a:p>
          <a:p>
            <a:r>
              <a:rPr lang="en-US" dirty="0"/>
              <a:t>Objects, functions, and classes are all bound together in JavaScript.</a:t>
            </a:r>
          </a:p>
          <a:p>
            <a:r>
              <a:rPr lang="en-US" dirty="0"/>
              <a:t>We don't have classes exactly in JavaScript, BUT the way objects and functions are created gives us a data structure we can use like a class.</a:t>
            </a:r>
          </a:p>
        </p:txBody>
      </p:sp>
    </p:spTree>
    <p:extLst>
      <p:ext uri="{BB962C8B-B14F-4D97-AF65-F5344CB8AC3E}">
        <p14:creationId xmlns:p14="http://schemas.microsoft.com/office/powerpoint/2010/main" val="1531459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62197-90CD-402F-B6B3-C675E55E29D5}"/>
              </a:ext>
            </a:extLst>
          </p:cNvPr>
          <p:cNvSpPr>
            <a:spLocks noGrp="1"/>
          </p:cNvSpPr>
          <p:nvPr>
            <p:ph type="title"/>
          </p:nvPr>
        </p:nvSpPr>
        <p:spPr>
          <a:xfrm>
            <a:off x="1066800" y="117277"/>
            <a:ext cx="10058400" cy="1137046"/>
          </a:xfrm>
        </p:spPr>
        <p:txBody>
          <a:bodyPr/>
          <a:lstStyle/>
          <a:p>
            <a:r>
              <a:rPr lang="en-US" dirty="0"/>
              <a:t>methods</a:t>
            </a:r>
          </a:p>
        </p:txBody>
      </p:sp>
      <p:sp>
        <p:nvSpPr>
          <p:cNvPr id="3" name="Content Placeholder 2">
            <a:extLst>
              <a:ext uri="{FF2B5EF4-FFF2-40B4-BE49-F238E27FC236}">
                <a16:creationId xmlns:a16="http://schemas.microsoft.com/office/drawing/2014/main" id="{74CE598F-13B7-43B2-B875-BF351F02B2C9}"/>
              </a:ext>
            </a:extLst>
          </p:cNvPr>
          <p:cNvSpPr>
            <a:spLocks noGrp="1"/>
          </p:cNvSpPr>
          <p:nvPr>
            <p:ph idx="1"/>
          </p:nvPr>
        </p:nvSpPr>
        <p:spPr>
          <a:xfrm>
            <a:off x="1069848" y="1254323"/>
            <a:ext cx="10058400" cy="4917877"/>
          </a:xfrm>
        </p:spPr>
        <p:txBody>
          <a:bodyPr>
            <a:normAutofit fontScale="92500" lnSpcReduction="10000"/>
          </a:bodyPr>
          <a:lstStyle/>
          <a:p>
            <a:r>
              <a:rPr lang="en-US" dirty="0"/>
              <a:t>Since objects hold </a:t>
            </a:r>
            <a:r>
              <a:rPr lang="en-US" dirty="0" err="1"/>
              <a:t>name:value</a:t>
            </a:r>
            <a:r>
              <a:rPr lang="en-US" dirty="0"/>
              <a:t> pairs and since functions are first-class, we can have </a:t>
            </a:r>
            <a:r>
              <a:rPr lang="en-US" dirty="0" err="1"/>
              <a:t>name:value</a:t>
            </a:r>
            <a:r>
              <a:rPr lang="en-US" dirty="0"/>
              <a:t> pairs where the value is a function.</a:t>
            </a:r>
          </a:p>
          <a:p>
            <a:pPr marL="274320" lvl="1" indent="0">
              <a:buNone/>
            </a:pPr>
            <a:r>
              <a:rPr lang="en-US" dirty="0"/>
              <a:t>const person = {</a:t>
            </a:r>
          </a:p>
          <a:p>
            <a:pPr marL="274320" lvl="1" indent="0">
              <a:buNone/>
            </a:pPr>
            <a:r>
              <a:rPr lang="en-US" dirty="0"/>
              <a:t>  name: ['Bob', 'Smith'],</a:t>
            </a:r>
          </a:p>
          <a:p>
            <a:pPr marL="274320" lvl="1" indent="0">
              <a:buNone/>
            </a:pPr>
            <a:r>
              <a:rPr lang="en-US" dirty="0"/>
              <a:t>  age: 32,</a:t>
            </a:r>
          </a:p>
          <a:p>
            <a:pPr marL="274320" lvl="1" indent="0">
              <a:buNone/>
            </a:pPr>
            <a:r>
              <a:rPr lang="en-US" dirty="0"/>
              <a:t>  gender: 'male',</a:t>
            </a:r>
          </a:p>
          <a:p>
            <a:pPr marL="274320" lvl="1" indent="0">
              <a:buNone/>
            </a:pPr>
            <a:r>
              <a:rPr lang="en-US" dirty="0"/>
              <a:t>  interests: ['music', 'skiing'],</a:t>
            </a:r>
          </a:p>
          <a:p>
            <a:pPr marL="274320" lvl="1" indent="0">
              <a:buNone/>
            </a:pPr>
            <a:r>
              <a:rPr lang="en-US" dirty="0"/>
              <a:t>  bio: function() {</a:t>
            </a:r>
          </a:p>
          <a:p>
            <a:pPr marL="274320" lvl="1" indent="0">
              <a:buNone/>
            </a:pPr>
            <a:r>
              <a:rPr lang="en-US" dirty="0"/>
              <a:t>    alert(</a:t>
            </a:r>
            <a:r>
              <a:rPr lang="en-US" dirty="0" err="1"/>
              <a:t>this.name</a:t>
            </a:r>
            <a:r>
              <a:rPr lang="en-US" dirty="0"/>
              <a:t>[0] + ' ' + </a:t>
            </a:r>
            <a:r>
              <a:rPr lang="en-US" dirty="0" err="1"/>
              <a:t>this.name</a:t>
            </a:r>
            <a:r>
              <a:rPr lang="en-US" dirty="0"/>
              <a:t>[1] + ' is ' + </a:t>
            </a:r>
            <a:r>
              <a:rPr lang="en-US" dirty="0" err="1"/>
              <a:t>this.age</a:t>
            </a:r>
            <a:r>
              <a:rPr lang="en-US" dirty="0"/>
              <a:t> + ' years old. He likes ' </a:t>
            </a:r>
          </a:p>
          <a:p>
            <a:pPr marL="274320" lvl="1" indent="0">
              <a:buNone/>
            </a:pPr>
            <a:r>
              <a:rPr lang="en-US" dirty="0"/>
              <a:t>	+ </a:t>
            </a:r>
            <a:r>
              <a:rPr lang="en-US" dirty="0" err="1"/>
              <a:t>this.interests</a:t>
            </a:r>
            <a:r>
              <a:rPr lang="en-US" dirty="0"/>
              <a:t>[0] + ' and ' + </a:t>
            </a:r>
            <a:r>
              <a:rPr lang="en-US" dirty="0" err="1"/>
              <a:t>this.interests</a:t>
            </a:r>
            <a:r>
              <a:rPr lang="en-US" dirty="0"/>
              <a:t>[1] + '.');</a:t>
            </a:r>
          </a:p>
          <a:p>
            <a:pPr marL="274320" lvl="1" indent="0">
              <a:buNone/>
            </a:pPr>
            <a:r>
              <a:rPr lang="en-US" dirty="0"/>
              <a:t>  },</a:t>
            </a:r>
          </a:p>
          <a:p>
            <a:pPr marL="274320" lvl="1" indent="0">
              <a:buNone/>
            </a:pPr>
            <a:r>
              <a:rPr lang="en-US" dirty="0"/>
              <a:t>  greeting: function() {</a:t>
            </a:r>
          </a:p>
          <a:p>
            <a:pPr marL="274320" lvl="1" indent="0">
              <a:buNone/>
            </a:pPr>
            <a:r>
              <a:rPr lang="en-US" dirty="0"/>
              <a:t>    alert('Hi! I\'m ' + </a:t>
            </a:r>
            <a:r>
              <a:rPr lang="en-US" dirty="0" err="1"/>
              <a:t>this.name</a:t>
            </a:r>
            <a:r>
              <a:rPr lang="en-US" dirty="0"/>
              <a:t>[0] + '.');</a:t>
            </a:r>
          </a:p>
          <a:p>
            <a:pPr marL="274320" lvl="1" indent="0">
              <a:buNone/>
            </a:pPr>
            <a:r>
              <a:rPr lang="en-US" dirty="0"/>
              <a:t>  }</a:t>
            </a:r>
          </a:p>
          <a:p>
            <a:pPr marL="274320" lvl="1" indent="0">
              <a:buNone/>
            </a:pPr>
            <a:r>
              <a:rPr lang="en-US" dirty="0"/>
              <a:t>};</a:t>
            </a:r>
          </a:p>
          <a:p>
            <a:r>
              <a:rPr lang="en-US" dirty="0"/>
              <a:t>A method is simply a function inside of an object.</a:t>
            </a:r>
          </a:p>
        </p:txBody>
      </p:sp>
    </p:spTree>
    <p:extLst>
      <p:ext uri="{BB962C8B-B14F-4D97-AF65-F5344CB8AC3E}">
        <p14:creationId xmlns:p14="http://schemas.microsoft.com/office/powerpoint/2010/main" val="323519910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5A47B-96DE-425F-8438-3F7B8E8B2CE1}"/>
              </a:ext>
            </a:extLst>
          </p:cNvPr>
          <p:cNvSpPr>
            <a:spLocks noGrp="1"/>
          </p:cNvSpPr>
          <p:nvPr>
            <p:ph type="title"/>
          </p:nvPr>
        </p:nvSpPr>
        <p:spPr>
          <a:xfrm>
            <a:off x="1066800" y="0"/>
            <a:ext cx="10058400" cy="1609344"/>
          </a:xfrm>
        </p:spPr>
        <p:txBody>
          <a:bodyPr/>
          <a:lstStyle/>
          <a:p>
            <a:r>
              <a:rPr lang="en-US" dirty="0"/>
              <a:t>More objects</a:t>
            </a:r>
          </a:p>
        </p:txBody>
      </p:sp>
      <p:sp>
        <p:nvSpPr>
          <p:cNvPr id="3" name="Content Placeholder 2">
            <a:extLst>
              <a:ext uri="{FF2B5EF4-FFF2-40B4-BE49-F238E27FC236}">
                <a16:creationId xmlns:a16="http://schemas.microsoft.com/office/drawing/2014/main" id="{CB34FB38-C9B3-49F3-A0A8-817E58394DA7}"/>
              </a:ext>
            </a:extLst>
          </p:cNvPr>
          <p:cNvSpPr>
            <a:spLocks noGrp="1"/>
          </p:cNvSpPr>
          <p:nvPr>
            <p:ph idx="1"/>
          </p:nvPr>
        </p:nvSpPr>
        <p:spPr>
          <a:xfrm>
            <a:off x="1069848" y="1392865"/>
            <a:ext cx="10058400" cy="4779335"/>
          </a:xfrm>
        </p:spPr>
        <p:txBody>
          <a:bodyPr>
            <a:normAutofit/>
          </a:bodyPr>
          <a:lstStyle/>
          <a:p>
            <a:r>
              <a:rPr lang="en-US" dirty="0"/>
              <a:t>Object literal notation</a:t>
            </a:r>
          </a:p>
          <a:p>
            <a:pPr marL="274320" lvl="1" indent="0">
              <a:buNone/>
            </a:pPr>
            <a:r>
              <a:rPr lang="en-US" dirty="0"/>
              <a:t>const </a:t>
            </a:r>
            <a:r>
              <a:rPr lang="en-US" dirty="0" err="1"/>
              <a:t>objectName</a:t>
            </a:r>
            <a:r>
              <a:rPr lang="en-US" dirty="0"/>
              <a:t> = {</a:t>
            </a:r>
          </a:p>
          <a:p>
            <a:pPr marL="274320" lvl="1" indent="0">
              <a:buNone/>
            </a:pPr>
            <a:r>
              <a:rPr lang="en-US" dirty="0"/>
              <a:t>  </a:t>
            </a:r>
            <a:r>
              <a:rPr lang="en-US" dirty="0" err="1"/>
              <a:t>member1Name</a:t>
            </a:r>
            <a:r>
              <a:rPr lang="en-US" dirty="0"/>
              <a:t>: </a:t>
            </a:r>
            <a:r>
              <a:rPr lang="en-US" dirty="0" err="1"/>
              <a:t>member1Value</a:t>
            </a:r>
            <a:r>
              <a:rPr lang="en-US" dirty="0"/>
              <a:t>,</a:t>
            </a:r>
          </a:p>
          <a:p>
            <a:pPr marL="274320" lvl="1" indent="0">
              <a:buNone/>
            </a:pPr>
            <a:r>
              <a:rPr lang="en-US" dirty="0"/>
              <a:t>  </a:t>
            </a:r>
            <a:r>
              <a:rPr lang="en-US" dirty="0" err="1"/>
              <a:t>member2Name</a:t>
            </a:r>
            <a:r>
              <a:rPr lang="en-US" dirty="0"/>
              <a:t>: </a:t>
            </a:r>
            <a:r>
              <a:rPr lang="en-US" dirty="0" err="1"/>
              <a:t>member2Value</a:t>
            </a:r>
            <a:r>
              <a:rPr lang="en-US" dirty="0"/>
              <a:t>,</a:t>
            </a:r>
          </a:p>
          <a:p>
            <a:pPr marL="274320" lvl="1" indent="0">
              <a:buNone/>
            </a:pPr>
            <a:r>
              <a:rPr lang="en-US" dirty="0"/>
              <a:t>  </a:t>
            </a:r>
            <a:r>
              <a:rPr lang="en-US" dirty="0" err="1"/>
              <a:t>member3Name</a:t>
            </a:r>
            <a:r>
              <a:rPr lang="en-US" dirty="0"/>
              <a:t>: </a:t>
            </a:r>
            <a:r>
              <a:rPr lang="en-US" dirty="0" err="1"/>
              <a:t>member3Value</a:t>
            </a:r>
            <a:endParaRPr lang="en-US" dirty="0"/>
          </a:p>
          <a:p>
            <a:pPr marL="274320" lvl="1" indent="0">
              <a:buNone/>
            </a:pPr>
            <a:r>
              <a:rPr lang="en-US" dirty="0"/>
              <a:t>};</a:t>
            </a:r>
          </a:p>
          <a:p>
            <a:r>
              <a:rPr lang="en-US" dirty="0"/>
              <a:t>Where the values can be pretty much anything: strings, numbers, arrays, functions, even other object.</a:t>
            </a:r>
          </a:p>
          <a:p>
            <a:r>
              <a:rPr lang="en-US" dirty="0"/>
              <a:t>Easy data transfer when sending a request to the server to be put into a database.</a:t>
            </a:r>
          </a:p>
          <a:p>
            <a:r>
              <a:rPr lang="en-US" dirty="0"/>
              <a:t>Sending a single object is much more efficient than sending several items individually</a:t>
            </a:r>
          </a:p>
          <a:p>
            <a:r>
              <a:rPr lang="en-US" dirty="0"/>
              <a:t>It is easier to work with than an array, when you want to identify individual items by name.</a:t>
            </a:r>
          </a:p>
        </p:txBody>
      </p:sp>
    </p:spTree>
    <p:extLst>
      <p:ext uri="{BB962C8B-B14F-4D97-AF65-F5344CB8AC3E}">
        <p14:creationId xmlns:p14="http://schemas.microsoft.com/office/powerpoint/2010/main" val="19066364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647F5-FCB6-4887-8B97-770DC6E107E1}"/>
              </a:ext>
            </a:extLst>
          </p:cNvPr>
          <p:cNvSpPr>
            <a:spLocks noGrp="1"/>
          </p:cNvSpPr>
          <p:nvPr>
            <p:ph type="title"/>
          </p:nvPr>
        </p:nvSpPr>
        <p:spPr>
          <a:xfrm>
            <a:off x="1069848" y="99095"/>
            <a:ext cx="10058400" cy="1609344"/>
          </a:xfrm>
        </p:spPr>
        <p:txBody>
          <a:bodyPr/>
          <a:lstStyle/>
          <a:p>
            <a:r>
              <a:rPr lang="en-US" dirty="0"/>
              <a:t>This keyword</a:t>
            </a:r>
          </a:p>
        </p:txBody>
      </p:sp>
      <p:sp>
        <p:nvSpPr>
          <p:cNvPr id="3" name="Content Placeholder 2">
            <a:extLst>
              <a:ext uri="{FF2B5EF4-FFF2-40B4-BE49-F238E27FC236}">
                <a16:creationId xmlns:a16="http://schemas.microsoft.com/office/drawing/2014/main" id="{14B9FED2-889E-480B-B6B6-7AD9B68EFC7D}"/>
              </a:ext>
            </a:extLst>
          </p:cNvPr>
          <p:cNvSpPr>
            <a:spLocks noGrp="1"/>
          </p:cNvSpPr>
          <p:nvPr>
            <p:ph idx="1"/>
          </p:nvPr>
        </p:nvSpPr>
        <p:spPr>
          <a:xfrm>
            <a:off x="1063752" y="1377290"/>
            <a:ext cx="4299594" cy="4050792"/>
          </a:xfrm>
        </p:spPr>
        <p:txBody>
          <a:bodyPr/>
          <a:lstStyle/>
          <a:p>
            <a:r>
              <a:rPr lang="en-US" dirty="0"/>
              <a:t>Keyword </a:t>
            </a:r>
            <a:r>
              <a:rPr lang="en-US" b="1" i="1" dirty="0"/>
              <a:t>this</a:t>
            </a:r>
            <a:r>
              <a:rPr lang="en-US" dirty="0"/>
              <a:t> refers to the current object.</a:t>
            </a:r>
          </a:p>
          <a:p>
            <a:r>
              <a:rPr lang="en-US" dirty="0"/>
              <a:t>Same as Java, makes a distinction between object variables and local variables.</a:t>
            </a:r>
          </a:p>
        </p:txBody>
      </p:sp>
      <p:pic>
        <p:nvPicPr>
          <p:cNvPr id="5" name="Picture 4" descr="Rectangle with border containing the text Hi Ted on the top line and Hi Max on the bottom line.">
            <a:extLst>
              <a:ext uri="{FF2B5EF4-FFF2-40B4-BE49-F238E27FC236}">
                <a16:creationId xmlns:a16="http://schemas.microsoft.com/office/drawing/2014/main" id="{D5105FB6-8BA3-43E2-9D67-865C22E259EC}"/>
              </a:ext>
            </a:extLst>
          </p:cNvPr>
          <p:cNvPicPr>
            <a:picLocks noChangeAspect="1"/>
          </p:cNvPicPr>
          <p:nvPr/>
        </p:nvPicPr>
        <p:blipFill>
          <a:blip r:embed="rId2"/>
          <a:stretch>
            <a:fillRect/>
          </a:stretch>
        </p:blipFill>
        <p:spPr>
          <a:xfrm>
            <a:off x="2684911" y="4102506"/>
            <a:ext cx="1057275" cy="885825"/>
          </a:xfrm>
          <a:prstGeom prst="rect">
            <a:avLst/>
          </a:prstGeom>
          <a:ln>
            <a:solidFill>
              <a:schemeClr val="accent1"/>
            </a:solidFill>
          </a:ln>
        </p:spPr>
      </p:pic>
      <p:sp>
        <p:nvSpPr>
          <p:cNvPr id="4" name="TextBox 3">
            <a:extLst>
              <a:ext uri="{FF2B5EF4-FFF2-40B4-BE49-F238E27FC236}">
                <a16:creationId xmlns:a16="http://schemas.microsoft.com/office/drawing/2014/main" id="{6B6CB2AC-59F6-485D-8237-A9FD299CC762}"/>
              </a:ext>
            </a:extLst>
          </p:cNvPr>
          <p:cNvSpPr txBox="1"/>
          <p:nvPr/>
        </p:nvSpPr>
        <p:spPr>
          <a:xfrm>
            <a:off x="6096000" y="903767"/>
            <a:ext cx="5986575" cy="4524315"/>
          </a:xfrm>
          <a:prstGeom prst="rect">
            <a:avLst/>
          </a:prstGeom>
          <a:noFill/>
        </p:spPr>
        <p:txBody>
          <a:bodyPr wrap="none" rtlCol="0">
            <a:spAutoFit/>
          </a:bodyPr>
          <a:lstStyle/>
          <a:p>
            <a:r>
              <a:rPr lang="en-US" dirty="0"/>
              <a:t>  const obj = {</a:t>
            </a:r>
          </a:p>
          <a:p>
            <a:r>
              <a:rPr lang="en-US" dirty="0"/>
              <a:t>	  name: 'Carrot',</a:t>
            </a:r>
          </a:p>
          <a:p>
            <a:r>
              <a:rPr lang="en-US" dirty="0"/>
              <a:t>	  owner: 'Max', </a:t>
            </a:r>
          </a:p>
          <a:p>
            <a:r>
              <a:rPr lang="en-US" dirty="0"/>
              <a:t>	  details: {</a:t>
            </a:r>
          </a:p>
          <a:p>
            <a:r>
              <a:rPr lang="en-US" dirty="0"/>
              <a:t>	    color: 'orange',</a:t>
            </a:r>
          </a:p>
          <a:p>
            <a:r>
              <a:rPr lang="en-US" dirty="0"/>
              <a:t>	    size: 12</a:t>
            </a:r>
          </a:p>
          <a:p>
            <a:r>
              <a:rPr lang="en-US" dirty="0"/>
              <a:t>   },</a:t>
            </a:r>
          </a:p>
          <a:p>
            <a:r>
              <a:rPr lang="en-US" dirty="0"/>
              <a:t>   </a:t>
            </a:r>
            <a:r>
              <a:rPr lang="en-US" dirty="0" err="1"/>
              <a:t>greeting1</a:t>
            </a:r>
            <a:r>
              <a:rPr lang="en-US" dirty="0"/>
              <a:t>: function(owner) {</a:t>
            </a:r>
          </a:p>
          <a:p>
            <a:r>
              <a:rPr lang="en-US" dirty="0"/>
              <a:t>      </a:t>
            </a:r>
            <a:r>
              <a:rPr lang="en-US" dirty="0" err="1"/>
              <a:t>document.write</a:t>
            </a:r>
            <a:r>
              <a:rPr lang="en-US" dirty="0"/>
              <a:t>("&lt;h1&gt;Hi " + owner + "&lt;/h1&gt;");</a:t>
            </a:r>
          </a:p>
          <a:p>
            <a:r>
              <a:rPr lang="en-US" dirty="0"/>
              <a:t>    },</a:t>
            </a:r>
          </a:p>
          <a:p>
            <a:r>
              <a:rPr lang="en-US" dirty="0"/>
              <a:t>    </a:t>
            </a:r>
            <a:r>
              <a:rPr lang="en-US" dirty="0" err="1"/>
              <a:t>greeting2</a:t>
            </a:r>
            <a:r>
              <a:rPr lang="en-US" dirty="0"/>
              <a:t>: function(owner) {</a:t>
            </a:r>
          </a:p>
          <a:p>
            <a:r>
              <a:rPr lang="en-US" dirty="0"/>
              <a:t>      </a:t>
            </a:r>
            <a:r>
              <a:rPr lang="en-US" dirty="0" err="1"/>
              <a:t>document.write</a:t>
            </a:r>
            <a:r>
              <a:rPr lang="en-US" dirty="0"/>
              <a:t>("&lt;h1&gt;Hi " + </a:t>
            </a:r>
            <a:r>
              <a:rPr lang="en-US" dirty="0" err="1"/>
              <a:t>this.owner</a:t>
            </a:r>
            <a:r>
              <a:rPr lang="en-US" dirty="0"/>
              <a:t> + "&lt;/h1&gt;");</a:t>
            </a:r>
          </a:p>
          <a:p>
            <a:r>
              <a:rPr lang="en-US" dirty="0"/>
              <a:t>    }</a:t>
            </a:r>
          </a:p>
          <a:p>
            <a:r>
              <a:rPr lang="en-US" dirty="0"/>
              <a:t>  };</a:t>
            </a:r>
          </a:p>
          <a:p>
            <a:r>
              <a:rPr lang="en-US" dirty="0"/>
              <a:t>  </a:t>
            </a:r>
            <a:r>
              <a:rPr lang="en-US" dirty="0" err="1"/>
              <a:t>obj.greeting1</a:t>
            </a:r>
            <a:r>
              <a:rPr lang="en-US" dirty="0"/>
              <a:t>("Ted");</a:t>
            </a:r>
          </a:p>
          <a:p>
            <a:r>
              <a:rPr lang="en-US" dirty="0"/>
              <a:t>  </a:t>
            </a:r>
            <a:r>
              <a:rPr lang="en-US" dirty="0" err="1"/>
              <a:t>obj.greeting2</a:t>
            </a:r>
            <a:r>
              <a:rPr lang="en-US" dirty="0"/>
              <a:t>("Ted");</a:t>
            </a:r>
          </a:p>
        </p:txBody>
      </p:sp>
    </p:spTree>
    <p:extLst>
      <p:ext uri="{BB962C8B-B14F-4D97-AF65-F5344CB8AC3E}">
        <p14:creationId xmlns:p14="http://schemas.microsoft.com/office/powerpoint/2010/main" val="27909840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99145" y="198882"/>
            <a:ext cx="6569977" cy="1043917"/>
          </a:xfrm>
        </p:spPr>
        <p:txBody>
          <a:bodyPr>
            <a:normAutofit/>
          </a:bodyPr>
          <a:lstStyle/>
          <a:p>
            <a:r>
              <a:rPr lang="en-US" dirty="0"/>
              <a:t>Problem with this</a:t>
            </a:r>
          </a:p>
        </p:txBody>
      </p:sp>
      <p:sp>
        <p:nvSpPr>
          <p:cNvPr id="7" name="TextBox 6"/>
          <p:cNvSpPr txBox="1"/>
          <p:nvPr/>
        </p:nvSpPr>
        <p:spPr>
          <a:xfrm>
            <a:off x="699145" y="1390990"/>
            <a:ext cx="6384043" cy="3970318"/>
          </a:xfrm>
          <a:prstGeom prst="rect">
            <a:avLst/>
          </a:prstGeom>
          <a:noFill/>
        </p:spPr>
        <p:txBody>
          <a:bodyPr wrap="square" rtlCol="0">
            <a:spAutoFit/>
          </a:bodyPr>
          <a:lstStyle/>
          <a:p>
            <a:pPr marL="285750" indent="-285750">
              <a:buFont typeface="Arial" panose="020B0604020202020204" pitchFamily="34" charset="0"/>
              <a:buChar char="•"/>
            </a:pPr>
            <a:r>
              <a:rPr lang="en-US" dirty="0" err="1"/>
              <a:t>t.fullName</a:t>
            </a:r>
            <a:r>
              <a:rPr lang="en-US" dirty="0"/>
              <a:t> is bound to object t.  </a:t>
            </a:r>
          </a:p>
          <a:p>
            <a:pPr marL="285750" indent="-285750">
              <a:buFont typeface="Arial" panose="020B0604020202020204" pitchFamily="34" charset="0"/>
              <a:buChar char="•"/>
            </a:pPr>
            <a:r>
              <a:rPr lang="en-US" dirty="0"/>
              <a:t>let </a:t>
            </a:r>
            <a:r>
              <a:rPr lang="en-US" dirty="0" err="1"/>
              <a:t>fullname</a:t>
            </a:r>
            <a:r>
              <a:rPr lang="en-US" dirty="0"/>
              <a:t> = </a:t>
            </a:r>
            <a:r>
              <a:rPr lang="en-US" dirty="0" err="1"/>
              <a:t>t.fullName</a:t>
            </a:r>
            <a:r>
              <a:rPr lang="en-US" dirty="0"/>
              <a:t>; </a:t>
            </a:r>
            <a:r>
              <a:rPr lang="en-US" dirty="0" err="1"/>
              <a:t>fullname</a:t>
            </a:r>
            <a:r>
              <a:rPr lang="en-US" dirty="0"/>
              <a:t> is NOT bound to t.  It is bound to the global object.</a:t>
            </a:r>
          </a:p>
          <a:p>
            <a:pPr marL="285750" indent="-285750">
              <a:buFont typeface="Arial" panose="020B0604020202020204" pitchFamily="34" charset="0"/>
              <a:buChar char="•"/>
            </a:pPr>
            <a:r>
              <a:rPr lang="en-US" dirty="0"/>
              <a:t>Keyword </a:t>
            </a:r>
            <a:r>
              <a:rPr lang="en-US" i="1" dirty="0"/>
              <a:t>this</a:t>
            </a:r>
            <a:r>
              <a:rPr lang="en-US" dirty="0"/>
              <a:t> inside of </a:t>
            </a:r>
            <a:r>
              <a:rPr lang="en-US" dirty="0" err="1"/>
              <a:t>t.fullName</a:t>
            </a:r>
            <a:r>
              <a:rPr lang="en-US" dirty="0"/>
              <a:t> refers to this </a:t>
            </a:r>
            <a:r>
              <a:rPr lang="en-US" dirty="0" err="1"/>
              <a:t>object,t</a:t>
            </a:r>
            <a:r>
              <a:rPr lang="en-US" dirty="0"/>
              <a:t>, which DOES have a first and last field.</a:t>
            </a:r>
          </a:p>
          <a:p>
            <a:pPr marL="285750" indent="-285750">
              <a:buFont typeface="Arial" panose="020B0604020202020204" pitchFamily="34" charset="0"/>
              <a:buChar char="•"/>
            </a:pPr>
            <a:r>
              <a:rPr lang="en-US" dirty="0" err="1"/>
              <a:t>fullName</a:t>
            </a:r>
            <a:r>
              <a:rPr lang="en-US" dirty="0"/>
              <a:t>, even though derived from </a:t>
            </a:r>
            <a:r>
              <a:rPr lang="en-US" dirty="0" err="1"/>
              <a:t>t.fullName</a:t>
            </a:r>
            <a:r>
              <a:rPr lang="en-US" dirty="0"/>
              <a:t>, it is not bound to t and, by default, IS bound to the default global object. </a:t>
            </a:r>
          </a:p>
          <a:p>
            <a:pPr marL="285750" indent="-285750">
              <a:buFont typeface="Arial" panose="020B0604020202020204" pitchFamily="34" charset="0"/>
              <a:buChar char="•"/>
            </a:pPr>
            <a:r>
              <a:rPr lang="en-US" dirty="0"/>
              <a:t>Keyword </a:t>
            </a:r>
            <a:r>
              <a:rPr lang="en-US" b="1" i="1" dirty="0"/>
              <a:t>this</a:t>
            </a:r>
            <a:r>
              <a:rPr lang="en-US" dirty="0"/>
              <a:t> refers to the global object, which doesn't have a first or last field, which is why you get undefined.</a:t>
            </a:r>
          </a:p>
          <a:p>
            <a:pPr marL="285750" indent="-285750">
              <a:buFont typeface="Arial" panose="020B0604020202020204" pitchFamily="34" charset="0"/>
              <a:buChar char="•"/>
            </a:pPr>
            <a:r>
              <a:rPr lang="en-US" dirty="0">
                <a:hlinkClick r:id="rId2"/>
              </a:rPr>
              <a:t>Example</a:t>
            </a:r>
            <a:endParaRPr lang="en-US" dirty="0"/>
          </a:p>
          <a:p>
            <a:pPr marL="285750" indent="-285750">
              <a:buFont typeface="Arial" panose="020B0604020202020204" pitchFamily="34" charset="0"/>
              <a:buChar char="•"/>
            </a:pPr>
            <a:r>
              <a:rPr lang="en-US" dirty="0"/>
              <a:t>Items to note:</a:t>
            </a:r>
          </a:p>
          <a:p>
            <a:pPr marL="742950" lvl="1" indent="-285750">
              <a:buFont typeface="Arial" panose="020B0604020202020204" pitchFamily="34" charset="0"/>
              <a:buChar char="•"/>
            </a:pPr>
            <a:r>
              <a:rPr lang="en-US" dirty="0"/>
              <a:t>Removing </a:t>
            </a:r>
            <a:r>
              <a:rPr lang="en-US" b="1" i="1" u="sng" dirty="0"/>
              <a:t>this</a:t>
            </a:r>
            <a:r>
              <a:rPr lang="en-US" dirty="0"/>
              <a:t> from </a:t>
            </a:r>
            <a:r>
              <a:rPr lang="en-US" dirty="0" err="1"/>
              <a:t>fullName</a:t>
            </a:r>
            <a:r>
              <a:rPr lang="en-US" dirty="0"/>
              <a:t> causes it to work.</a:t>
            </a:r>
          </a:p>
          <a:p>
            <a:pPr marL="742950" lvl="1" indent="-285750">
              <a:buFont typeface="Arial" panose="020B0604020202020204" pitchFamily="34" charset="0"/>
              <a:buChar char="•"/>
            </a:pPr>
            <a:r>
              <a:rPr lang="en-US" dirty="0"/>
              <a:t>You don't have to say first: first, a simple first will do.</a:t>
            </a:r>
          </a:p>
        </p:txBody>
      </p:sp>
      <p:sp>
        <p:nvSpPr>
          <p:cNvPr id="4" name="TextBox 3"/>
          <p:cNvSpPr txBox="1"/>
          <p:nvPr/>
        </p:nvSpPr>
        <p:spPr>
          <a:xfrm>
            <a:off x="7269122" y="464297"/>
            <a:ext cx="4290532" cy="5047536"/>
          </a:xfrm>
          <a:prstGeom prst="rect">
            <a:avLst/>
          </a:prstGeom>
          <a:noFill/>
          <a:ln>
            <a:solidFill>
              <a:schemeClr val="accent1"/>
            </a:solidFill>
          </a:ln>
        </p:spPr>
        <p:txBody>
          <a:bodyPr wrap="square" rtlCol="0">
            <a:spAutoFit/>
          </a:bodyPr>
          <a:lstStyle/>
          <a:p>
            <a:r>
              <a:rPr lang="en-US" sz="1600" dirty="0"/>
              <a:t>function </a:t>
            </a:r>
            <a:r>
              <a:rPr lang="en-US" sz="1600" dirty="0" err="1"/>
              <a:t>makePerson</a:t>
            </a:r>
            <a:r>
              <a:rPr lang="en-US" sz="1600" dirty="0"/>
              <a:t>(first, last) {</a:t>
            </a:r>
          </a:p>
          <a:p>
            <a:r>
              <a:rPr lang="en-US" sz="1600" dirty="0"/>
              <a:t>  </a:t>
            </a:r>
            <a:r>
              <a:rPr lang="en-US" sz="1600" b="1" i="1" u="sng" dirty="0">
                <a:solidFill>
                  <a:srgbClr val="FF0000"/>
                </a:solidFill>
              </a:rPr>
              <a:t>return</a:t>
            </a:r>
            <a:r>
              <a:rPr lang="en-US" sz="1600" b="1" u="sng" dirty="0">
                <a:solidFill>
                  <a:srgbClr val="FF0000"/>
                </a:solidFill>
              </a:rPr>
              <a:t> </a:t>
            </a:r>
            <a:r>
              <a:rPr lang="en-US" sz="1600" dirty="0"/>
              <a:t>{</a:t>
            </a:r>
          </a:p>
          <a:p>
            <a:r>
              <a:rPr lang="en-US" sz="1600" dirty="0"/>
              <a:t>    first: first,</a:t>
            </a:r>
          </a:p>
          <a:p>
            <a:r>
              <a:rPr lang="en-US" sz="1600" dirty="0"/>
              <a:t>    last: last,</a:t>
            </a:r>
          </a:p>
          <a:p>
            <a:r>
              <a:rPr lang="en-US" sz="1600" dirty="0"/>
              <a:t>    </a:t>
            </a:r>
            <a:r>
              <a:rPr lang="en-US" sz="1600" dirty="0" err="1"/>
              <a:t>fullName</a:t>
            </a:r>
            <a:r>
              <a:rPr lang="en-US" sz="1600" dirty="0"/>
              <a:t>: function() {</a:t>
            </a:r>
          </a:p>
          <a:p>
            <a:r>
              <a:rPr lang="en-US" sz="1600" dirty="0"/>
              <a:t>      return </a:t>
            </a:r>
            <a:r>
              <a:rPr lang="en-US" sz="1600" dirty="0" err="1"/>
              <a:t>this.first</a:t>
            </a:r>
            <a:r>
              <a:rPr lang="en-US" sz="1600" dirty="0"/>
              <a:t> + ' ' + </a:t>
            </a:r>
            <a:r>
              <a:rPr lang="en-US" sz="1600" dirty="0" err="1"/>
              <a:t>this.last</a:t>
            </a:r>
            <a:r>
              <a:rPr lang="en-US" sz="1600" dirty="0"/>
              <a:t>;</a:t>
            </a:r>
          </a:p>
          <a:p>
            <a:r>
              <a:rPr lang="en-US" sz="1600" dirty="0"/>
              <a:t>    },</a:t>
            </a:r>
          </a:p>
          <a:p>
            <a:r>
              <a:rPr lang="en-US" sz="1600" dirty="0"/>
              <a:t>    </a:t>
            </a:r>
            <a:r>
              <a:rPr lang="en-US" sz="1600" dirty="0" err="1"/>
              <a:t>fullNameReversed</a:t>
            </a:r>
            <a:r>
              <a:rPr lang="en-US" sz="1600" dirty="0"/>
              <a:t>: function() {</a:t>
            </a:r>
          </a:p>
          <a:p>
            <a:r>
              <a:rPr lang="en-US" sz="1600" dirty="0"/>
              <a:t>      return </a:t>
            </a:r>
            <a:r>
              <a:rPr lang="en-US" sz="1600" dirty="0" err="1"/>
              <a:t>this.last</a:t>
            </a:r>
            <a:r>
              <a:rPr lang="en-US" sz="1600" dirty="0"/>
              <a:t> + ', ' + </a:t>
            </a:r>
            <a:r>
              <a:rPr lang="en-US" sz="1600" dirty="0" err="1"/>
              <a:t>this.first</a:t>
            </a:r>
            <a:r>
              <a:rPr lang="en-US" sz="1600" dirty="0"/>
              <a:t>;</a:t>
            </a:r>
          </a:p>
          <a:p>
            <a:r>
              <a:rPr lang="en-US" sz="1600" dirty="0"/>
              <a:t>    }</a:t>
            </a:r>
          </a:p>
          <a:p>
            <a:r>
              <a:rPr lang="en-US" sz="1600" dirty="0"/>
              <a:t>  };</a:t>
            </a:r>
          </a:p>
          <a:p>
            <a:r>
              <a:rPr lang="en-US" sz="1600" dirty="0"/>
              <a:t>}</a:t>
            </a:r>
          </a:p>
          <a:p>
            <a:endParaRPr lang="en-US" sz="1600" dirty="0"/>
          </a:p>
          <a:p>
            <a:r>
              <a:rPr lang="en-US" sz="1600" dirty="0" err="1"/>
              <a:t>const</a:t>
            </a:r>
            <a:r>
              <a:rPr lang="en-US" sz="1600" dirty="0"/>
              <a:t> s = </a:t>
            </a:r>
            <a:r>
              <a:rPr lang="en-US" sz="1600" dirty="0" err="1"/>
              <a:t>makePerson</a:t>
            </a:r>
            <a:r>
              <a:rPr lang="en-US" sz="1600" dirty="0"/>
              <a:t>('Simon', 'Willison');</a:t>
            </a:r>
          </a:p>
          <a:p>
            <a:r>
              <a:rPr lang="en-US" sz="1600" dirty="0" err="1"/>
              <a:t>s.fullName</a:t>
            </a:r>
            <a:r>
              <a:rPr lang="en-US" sz="1600" dirty="0"/>
              <a:t>(); // "Simon Willison"</a:t>
            </a:r>
          </a:p>
          <a:p>
            <a:r>
              <a:rPr lang="en-US" sz="1600" dirty="0" err="1"/>
              <a:t>s.fullNameReversed</a:t>
            </a:r>
            <a:r>
              <a:rPr lang="en-US" sz="1600" dirty="0"/>
              <a:t>(); // "Willison, Simon"</a:t>
            </a:r>
          </a:p>
          <a:p>
            <a:r>
              <a:rPr lang="en-US" sz="1600" dirty="0" err="1"/>
              <a:t>const</a:t>
            </a:r>
            <a:r>
              <a:rPr lang="en-US" sz="1600" dirty="0"/>
              <a:t> t = </a:t>
            </a:r>
            <a:r>
              <a:rPr lang="en-US" sz="1600" dirty="0" err="1"/>
              <a:t>makePerson</a:t>
            </a:r>
            <a:r>
              <a:rPr lang="en-US" sz="1600" dirty="0"/>
              <a:t>('Simon', 'Willison');</a:t>
            </a:r>
          </a:p>
          <a:p>
            <a:r>
              <a:rPr lang="en-US" sz="1600" b="1" i="1" u="sng" dirty="0">
                <a:solidFill>
                  <a:srgbClr val="FF0000"/>
                </a:solidFill>
              </a:rPr>
              <a:t>let </a:t>
            </a:r>
            <a:r>
              <a:rPr lang="en-US" sz="1600" b="1" i="1" u="sng" dirty="0" err="1">
                <a:solidFill>
                  <a:srgbClr val="FF0000"/>
                </a:solidFill>
              </a:rPr>
              <a:t>fullName</a:t>
            </a:r>
            <a:r>
              <a:rPr lang="en-US" sz="1600" b="1" i="1" u="sng" dirty="0">
                <a:solidFill>
                  <a:srgbClr val="FF0000"/>
                </a:solidFill>
              </a:rPr>
              <a:t> = </a:t>
            </a:r>
            <a:r>
              <a:rPr lang="en-US" sz="1600" b="1" i="1" u="sng" dirty="0" err="1">
                <a:solidFill>
                  <a:srgbClr val="FF0000"/>
                </a:solidFill>
              </a:rPr>
              <a:t>t.fullName</a:t>
            </a:r>
            <a:r>
              <a:rPr lang="en-US" sz="1600" b="1" i="1" u="sng" dirty="0">
                <a:solidFill>
                  <a:srgbClr val="FF0000"/>
                </a:solidFill>
              </a:rPr>
              <a:t>; </a:t>
            </a:r>
          </a:p>
          <a:p>
            <a:r>
              <a:rPr lang="en-US" sz="1600" b="1" i="1" u="sng" dirty="0" err="1">
                <a:solidFill>
                  <a:srgbClr val="FF0000"/>
                </a:solidFill>
              </a:rPr>
              <a:t>fullName</a:t>
            </a:r>
            <a:r>
              <a:rPr lang="en-US" sz="1600" b="1" i="1" u="sng" dirty="0">
                <a:solidFill>
                  <a:srgbClr val="FF0000"/>
                </a:solidFill>
              </a:rPr>
              <a:t>(); // undefined </a:t>
            </a:r>
            <a:r>
              <a:rPr lang="en-US" sz="1600" b="1" i="1" u="sng" dirty="0" err="1">
                <a:solidFill>
                  <a:srgbClr val="FF0000"/>
                </a:solidFill>
              </a:rPr>
              <a:t>undefined</a:t>
            </a:r>
            <a:endParaRPr lang="en-US" sz="1600" b="1" i="1" u="sng" dirty="0">
              <a:solidFill>
                <a:srgbClr val="FF0000"/>
              </a:solidFill>
            </a:endParaRPr>
          </a:p>
          <a:p>
            <a:endParaRPr lang="en-US" dirty="0"/>
          </a:p>
        </p:txBody>
      </p:sp>
    </p:spTree>
    <p:extLst>
      <p:ext uri="{BB962C8B-B14F-4D97-AF65-F5344CB8AC3E}">
        <p14:creationId xmlns:p14="http://schemas.microsoft.com/office/powerpoint/2010/main" val="324109555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C148A-CEA8-4BF7-9C0A-837F58AB30C4}"/>
              </a:ext>
            </a:extLst>
          </p:cNvPr>
          <p:cNvSpPr>
            <a:spLocks noGrp="1"/>
          </p:cNvSpPr>
          <p:nvPr>
            <p:ph type="title"/>
          </p:nvPr>
        </p:nvSpPr>
        <p:spPr>
          <a:xfrm>
            <a:off x="1069848" y="33695"/>
            <a:ext cx="10058400" cy="1609344"/>
          </a:xfrm>
        </p:spPr>
        <p:txBody>
          <a:bodyPr/>
          <a:lstStyle/>
          <a:p>
            <a:r>
              <a:rPr lang="en-US" dirty="0"/>
              <a:t>Creating objects – one way</a:t>
            </a:r>
          </a:p>
        </p:txBody>
      </p:sp>
      <p:sp>
        <p:nvSpPr>
          <p:cNvPr id="3" name="Content Placeholder 2">
            <a:extLst>
              <a:ext uri="{FF2B5EF4-FFF2-40B4-BE49-F238E27FC236}">
                <a16:creationId xmlns:a16="http://schemas.microsoft.com/office/drawing/2014/main" id="{CFAEF850-5AE7-4B68-9068-CDA37C936A69}"/>
              </a:ext>
            </a:extLst>
          </p:cNvPr>
          <p:cNvSpPr>
            <a:spLocks noGrp="1"/>
          </p:cNvSpPr>
          <p:nvPr>
            <p:ph idx="1"/>
          </p:nvPr>
        </p:nvSpPr>
        <p:spPr>
          <a:xfrm>
            <a:off x="1069848" y="1215025"/>
            <a:ext cx="10058400" cy="5148197"/>
          </a:xfrm>
        </p:spPr>
        <p:txBody>
          <a:bodyPr>
            <a:normAutofit/>
          </a:bodyPr>
          <a:lstStyle/>
          <a:p>
            <a:r>
              <a:rPr lang="en-US" dirty="0"/>
              <a:t>Not the best way.  See the </a:t>
            </a:r>
            <a:r>
              <a:rPr lang="en-US" i="1" dirty="0"/>
              <a:t>class</a:t>
            </a:r>
            <a:r>
              <a:rPr lang="en-US" dirty="0"/>
              <a:t> keyword in later slides.</a:t>
            </a:r>
          </a:p>
          <a:p>
            <a:pPr marL="0" indent="0">
              <a:buNone/>
            </a:pPr>
            <a:r>
              <a:rPr lang="en-US" dirty="0"/>
              <a:t>function </a:t>
            </a:r>
            <a:r>
              <a:rPr lang="en-US" dirty="0" err="1"/>
              <a:t>createNewPerson</a:t>
            </a:r>
            <a:r>
              <a:rPr lang="en-US" dirty="0"/>
              <a:t>(name) {</a:t>
            </a:r>
          </a:p>
          <a:p>
            <a:pPr marL="0" indent="0">
              <a:buNone/>
            </a:pPr>
            <a:r>
              <a:rPr lang="en-US" dirty="0"/>
              <a:t>  const obj = {};</a:t>
            </a:r>
          </a:p>
          <a:p>
            <a:pPr marL="0" indent="0">
              <a:buNone/>
            </a:pPr>
            <a:r>
              <a:rPr lang="en-US" dirty="0"/>
              <a:t>  </a:t>
            </a:r>
            <a:r>
              <a:rPr lang="en-US" dirty="0" err="1"/>
              <a:t>obj.name</a:t>
            </a:r>
            <a:r>
              <a:rPr lang="en-US" dirty="0"/>
              <a:t> = name;</a:t>
            </a:r>
          </a:p>
          <a:p>
            <a:pPr marL="0" indent="0">
              <a:buNone/>
            </a:pPr>
            <a:r>
              <a:rPr lang="en-US" dirty="0"/>
              <a:t>  </a:t>
            </a:r>
            <a:r>
              <a:rPr lang="en-US" dirty="0" err="1"/>
              <a:t>obj.greeting</a:t>
            </a:r>
            <a:r>
              <a:rPr lang="en-US" dirty="0"/>
              <a:t> = function() {</a:t>
            </a:r>
          </a:p>
          <a:p>
            <a:pPr marL="0" indent="0">
              <a:buNone/>
            </a:pPr>
            <a:r>
              <a:rPr lang="en-US" dirty="0"/>
              <a:t>    alert('Hi! I\'m ' + </a:t>
            </a:r>
            <a:r>
              <a:rPr lang="en-US" dirty="0" err="1"/>
              <a:t>obj.name</a:t>
            </a:r>
            <a:r>
              <a:rPr lang="en-US" dirty="0"/>
              <a:t> + '.');</a:t>
            </a:r>
          </a:p>
          <a:p>
            <a:pPr marL="0" indent="0">
              <a:buNone/>
            </a:pPr>
            <a:r>
              <a:rPr lang="en-US" dirty="0"/>
              <a:t>  };</a:t>
            </a:r>
          </a:p>
          <a:p>
            <a:pPr marL="0" indent="0">
              <a:buNone/>
            </a:pPr>
            <a:r>
              <a:rPr lang="en-US" dirty="0"/>
              <a:t>  return obj;</a:t>
            </a:r>
          </a:p>
          <a:p>
            <a:pPr marL="0" indent="0">
              <a:buNone/>
            </a:pPr>
            <a:r>
              <a:rPr lang="en-US" dirty="0"/>
              <a:t>}</a:t>
            </a:r>
          </a:p>
          <a:p>
            <a:pPr marL="0" indent="0">
              <a:buNone/>
            </a:pPr>
            <a:r>
              <a:rPr lang="en-US" dirty="0"/>
              <a:t>const </a:t>
            </a:r>
            <a:r>
              <a:rPr lang="en-US" dirty="0" err="1"/>
              <a:t>salva</a:t>
            </a:r>
            <a:r>
              <a:rPr lang="en-US" dirty="0"/>
              <a:t> = </a:t>
            </a:r>
            <a:r>
              <a:rPr lang="en-US" dirty="0" err="1"/>
              <a:t>createNewPerson</a:t>
            </a:r>
            <a:r>
              <a:rPr lang="en-US" dirty="0"/>
              <a:t>('Salva');</a:t>
            </a:r>
          </a:p>
          <a:p>
            <a:pPr marL="0" indent="0">
              <a:buNone/>
            </a:pPr>
            <a:r>
              <a:rPr lang="en-US" dirty="0" err="1"/>
              <a:t>salva.name</a:t>
            </a:r>
            <a:r>
              <a:rPr lang="en-US" dirty="0"/>
              <a:t>;</a:t>
            </a:r>
          </a:p>
          <a:p>
            <a:pPr marL="0" indent="0">
              <a:buNone/>
            </a:pPr>
            <a:r>
              <a:rPr lang="en-US" dirty="0" err="1"/>
              <a:t>salva.greeting</a:t>
            </a:r>
            <a:r>
              <a:rPr lang="en-US" dirty="0"/>
              <a:t>();</a:t>
            </a:r>
          </a:p>
        </p:txBody>
      </p:sp>
    </p:spTree>
    <p:extLst>
      <p:ext uri="{BB962C8B-B14F-4D97-AF65-F5344CB8AC3E}">
        <p14:creationId xmlns:p14="http://schemas.microsoft.com/office/powerpoint/2010/main" val="179433564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79A19-6DEA-4078-9F19-3758C6424E99}"/>
              </a:ext>
            </a:extLst>
          </p:cNvPr>
          <p:cNvSpPr>
            <a:spLocks noGrp="1"/>
          </p:cNvSpPr>
          <p:nvPr>
            <p:ph type="title"/>
          </p:nvPr>
        </p:nvSpPr>
        <p:spPr>
          <a:xfrm>
            <a:off x="1066800" y="126450"/>
            <a:ext cx="10058400" cy="1118700"/>
          </a:xfrm>
        </p:spPr>
        <p:txBody>
          <a:bodyPr>
            <a:normAutofit/>
          </a:bodyPr>
          <a:lstStyle/>
          <a:p>
            <a:r>
              <a:rPr lang="en-US" dirty="0"/>
              <a:t>Creating object – a better way</a:t>
            </a:r>
          </a:p>
        </p:txBody>
      </p:sp>
      <p:sp>
        <p:nvSpPr>
          <p:cNvPr id="3" name="Content Placeholder 2">
            <a:extLst>
              <a:ext uri="{FF2B5EF4-FFF2-40B4-BE49-F238E27FC236}">
                <a16:creationId xmlns:a16="http://schemas.microsoft.com/office/drawing/2014/main" id="{781B48B1-3E1A-48FF-8BE0-9D60684E409F}"/>
              </a:ext>
            </a:extLst>
          </p:cNvPr>
          <p:cNvSpPr>
            <a:spLocks noGrp="1"/>
          </p:cNvSpPr>
          <p:nvPr>
            <p:ph idx="1"/>
          </p:nvPr>
        </p:nvSpPr>
        <p:spPr>
          <a:xfrm>
            <a:off x="1066800" y="1245150"/>
            <a:ext cx="8978900" cy="4927050"/>
          </a:xfrm>
        </p:spPr>
        <p:txBody>
          <a:bodyPr>
            <a:normAutofit fontScale="92500" lnSpcReduction="20000"/>
          </a:bodyPr>
          <a:lstStyle/>
          <a:p>
            <a:r>
              <a:rPr lang="en-US" dirty="0"/>
              <a:t>But still not the best way.  See the </a:t>
            </a:r>
            <a:r>
              <a:rPr lang="en-US" i="1" dirty="0"/>
              <a:t>class</a:t>
            </a:r>
            <a:r>
              <a:rPr lang="en-US" dirty="0"/>
              <a:t> keyword in later slides.</a:t>
            </a:r>
          </a:p>
          <a:p>
            <a:pPr marL="0" indent="0">
              <a:buNone/>
            </a:pPr>
            <a:r>
              <a:rPr lang="en-US" dirty="0"/>
              <a:t>	function Person(name) { //The constructor name IS the class name</a:t>
            </a:r>
          </a:p>
          <a:p>
            <a:pPr marL="0" indent="0">
              <a:buNone/>
            </a:pPr>
            <a:r>
              <a:rPr lang="en-US" dirty="0"/>
              <a:t>	  this.name = name;</a:t>
            </a:r>
          </a:p>
          <a:p>
            <a:pPr marL="0" indent="0">
              <a:buNone/>
            </a:pPr>
            <a:r>
              <a:rPr lang="en-US" dirty="0"/>
              <a:t>	  </a:t>
            </a:r>
            <a:r>
              <a:rPr lang="en-US" dirty="0" err="1"/>
              <a:t>this.greeting</a:t>
            </a:r>
            <a:r>
              <a:rPr lang="en-US" dirty="0"/>
              <a:t> = function() {</a:t>
            </a:r>
          </a:p>
          <a:p>
            <a:pPr marL="0" indent="0">
              <a:buNone/>
            </a:pPr>
            <a:r>
              <a:rPr lang="en-US" dirty="0"/>
              <a:t>	    alert('Hi! I\'m ' + </a:t>
            </a:r>
            <a:r>
              <a:rPr lang="en-US" dirty="0" err="1"/>
              <a:t>this.name</a:t>
            </a:r>
            <a:r>
              <a:rPr lang="en-US" dirty="0"/>
              <a:t> + '.');</a:t>
            </a:r>
          </a:p>
          <a:p>
            <a:pPr marL="0" indent="0">
              <a:buNone/>
            </a:pPr>
            <a:r>
              <a:rPr lang="en-US" dirty="0"/>
              <a:t>	  };</a:t>
            </a:r>
          </a:p>
          <a:p>
            <a:pPr marL="0" indent="0">
              <a:buNone/>
            </a:pPr>
            <a:r>
              <a:rPr lang="en-US" dirty="0"/>
              <a:t>	}</a:t>
            </a:r>
          </a:p>
          <a:p>
            <a:pPr marL="0" indent="0">
              <a:buNone/>
            </a:pPr>
            <a:r>
              <a:rPr lang="en-US" dirty="0"/>
              <a:t>	</a:t>
            </a:r>
            <a:r>
              <a:rPr lang="en-US" dirty="0" err="1"/>
              <a:t>const</a:t>
            </a:r>
            <a:r>
              <a:rPr lang="en-US" dirty="0"/>
              <a:t> person1 = new Person('Bob');  </a:t>
            </a:r>
          </a:p>
          <a:p>
            <a:pPr marL="0" indent="0">
              <a:buNone/>
            </a:pPr>
            <a:r>
              <a:rPr lang="en-US" dirty="0"/>
              <a:t>	</a:t>
            </a:r>
            <a:r>
              <a:rPr lang="en-US" dirty="0" err="1"/>
              <a:t>const</a:t>
            </a:r>
            <a:r>
              <a:rPr lang="en-US" dirty="0"/>
              <a:t> person2 = new Person('Sarah'); </a:t>
            </a:r>
          </a:p>
          <a:p>
            <a:pPr marL="0" indent="0">
              <a:buNone/>
            </a:pPr>
            <a:r>
              <a:rPr lang="en-US" dirty="0"/>
              <a:t>	</a:t>
            </a:r>
            <a:r>
              <a:rPr lang="en-US" dirty="0" err="1"/>
              <a:t>document.write</a:t>
            </a:r>
            <a:r>
              <a:rPr lang="en-US" dirty="0"/>
              <a:t>("&lt;h1&gt;" + person1.name + "&lt;/h1&gt;");</a:t>
            </a:r>
          </a:p>
          <a:p>
            <a:pPr marL="0" indent="0">
              <a:buNone/>
            </a:pPr>
            <a:r>
              <a:rPr lang="en-US" dirty="0"/>
              <a:t>	person1.greeting();</a:t>
            </a:r>
          </a:p>
          <a:p>
            <a:pPr marL="0" indent="0">
              <a:buNone/>
            </a:pPr>
            <a:r>
              <a:rPr lang="en-US" dirty="0"/>
              <a:t>	</a:t>
            </a:r>
            <a:r>
              <a:rPr lang="en-US" dirty="0" err="1"/>
              <a:t>document.write</a:t>
            </a:r>
            <a:r>
              <a:rPr lang="en-US" dirty="0"/>
              <a:t>("&lt;h1&gt;" + person2.name + "&lt;/h1&gt;");</a:t>
            </a:r>
          </a:p>
          <a:p>
            <a:pPr marL="0" indent="0">
              <a:buNone/>
            </a:pPr>
            <a:r>
              <a:rPr lang="en-US" dirty="0"/>
              <a:t>	person2.greeting();</a:t>
            </a:r>
          </a:p>
        </p:txBody>
      </p:sp>
    </p:spTree>
    <p:extLst>
      <p:ext uri="{BB962C8B-B14F-4D97-AF65-F5344CB8AC3E}">
        <p14:creationId xmlns:p14="http://schemas.microsoft.com/office/powerpoint/2010/main" val="193801341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5C786-2C75-40E7-BBB2-FE58FA895E2E}"/>
              </a:ext>
            </a:extLst>
          </p:cNvPr>
          <p:cNvSpPr>
            <a:spLocks noGrp="1"/>
          </p:cNvSpPr>
          <p:nvPr>
            <p:ph type="title"/>
          </p:nvPr>
        </p:nvSpPr>
        <p:spPr/>
        <p:txBody>
          <a:bodyPr/>
          <a:lstStyle/>
          <a:p>
            <a:r>
              <a:rPr lang="en-US" dirty="0"/>
              <a:t>prototype</a:t>
            </a:r>
          </a:p>
        </p:txBody>
      </p:sp>
      <p:sp>
        <p:nvSpPr>
          <p:cNvPr id="3" name="Content Placeholder 2">
            <a:extLst>
              <a:ext uri="{FF2B5EF4-FFF2-40B4-BE49-F238E27FC236}">
                <a16:creationId xmlns:a16="http://schemas.microsoft.com/office/drawing/2014/main" id="{8066B4FD-2734-4D9C-B060-BFB4A421C07F}"/>
              </a:ext>
            </a:extLst>
          </p:cNvPr>
          <p:cNvSpPr>
            <a:spLocks noGrp="1"/>
          </p:cNvSpPr>
          <p:nvPr>
            <p:ph idx="1"/>
          </p:nvPr>
        </p:nvSpPr>
        <p:spPr/>
        <p:txBody>
          <a:bodyPr/>
          <a:lstStyle/>
          <a:p>
            <a:r>
              <a:rPr lang="en-US" dirty="0"/>
              <a:t>All JavaScript objects inherit properties and methods from a prototype:</a:t>
            </a:r>
          </a:p>
          <a:p>
            <a:endParaRPr lang="en-US" dirty="0"/>
          </a:p>
          <a:p>
            <a:pPr lvl="1"/>
            <a:r>
              <a:rPr lang="en-US" dirty="0"/>
              <a:t>Date objects inherit from </a:t>
            </a:r>
            <a:r>
              <a:rPr lang="en-US" dirty="0" err="1"/>
              <a:t>Date.prototype</a:t>
            </a:r>
            <a:endParaRPr lang="en-US" dirty="0"/>
          </a:p>
          <a:p>
            <a:pPr lvl="1"/>
            <a:r>
              <a:rPr lang="en-US" dirty="0"/>
              <a:t>Array objects inherit from </a:t>
            </a:r>
            <a:r>
              <a:rPr lang="en-US" dirty="0" err="1"/>
              <a:t>Array.prototype</a:t>
            </a:r>
            <a:endParaRPr lang="en-US" dirty="0"/>
          </a:p>
          <a:p>
            <a:pPr lvl="1"/>
            <a:r>
              <a:rPr lang="en-US" dirty="0"/>
              <a:t>Person objects inherit from </a:t>
            </a:r>
            <a:r>
              <a:rPr lang="en-US" dirty="0" err="1"/>
              <a:t>Person.prototype</a:t>
            </a:r>
            <a:endParaRPr lang="en-US" dirty="0"/>
          </a:p>
          <a:p>
            <a:pPr lvl="1"/>
            <a:endParaRPr lang="en-US" dirty="0"/>
          </a:p>
          <a:p>
            <a:r>
              <a:rPr lang="en-US" dirty="0"/>
              <a:t>The </a:t>
            </a:r>
            <a:r>
              <a:rPr lang="en-US" dirty="0" err="1"/>
              <a:t>Object.prototype</a:t>
            </a:r>
            <a:r>
              <a:rPr lang="en-US" dirty="0"/>
              <a:t> is on the top of the prototype inheritance chain:</a:t>
            </a:r>
          </a:p>
          <a:p>
            <a:endParaRPr lang="en-US" dirty="0"/>
          </a:p>
          <a:p>
            <a:r>
              <a:rPr lang="en-US" dirty="0"/>
              <a:t>Date objects, Array objects, and Person objects inherit from </a:t>
            </a:r>
            <a:r>
              <a:rPr lang="en-US" dirty="0" err="1"/>
              <a:t>Object.prototype</a:t>
            </a:r>
            <a:r>
              <a:rPr lang="en-US" dirty="0"/>
              <a:t>.</a:t>
            </a:r>
          </a:p>
        </p:txBody>
      </p:sp>
    </p:spTree>
    <p:extLst>
      <p:ext uri="{BB962C8B-B14F-4D97-AF65-F5344CB8AC3E}">
        <p14:creationId xmlns:p14="http://schemas.microsoft.com/office/powerpoint/2010/main" val="235313329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89D88-3119-4E4D-806E-24DB717D5AEE}"/>
              </a:ext>
            </a:extLst>
          </p:cNvPr>
          <p:cNvSpPr>
            <a:spLocks noGrp="1"/>
          </p:cNvSpPr>
          <p:nvPr>
            <p:ph type="title"/>
          </p:nvPr>
        </p:nvSpPr>
        <p:spPr/>
        <p:txBody>
          <a:bodyPr/>
          <a:lstStyle/>
          <a:p>
            <a:r>
              <a:rPr lang="en-US" dirty="0"/>
              <a:t>Prototype 2</a:t>
            </a:r>
          </a:p>
        </p:txBody>
      </p:sp>
      <p:sp>
        <p:nvSpPr>
          <p:cNvPr id="3" name="Content Placeholder 2">
            <a:extLst>
              <a:ext uri="{FF2B5EF4-FFF2-40B4-BE49-F238E27FC236}">
                <a16:creationId xmlns:a16="http://schemas.microsoft.com/office/drawing/2014/main" id="{4CA2F576-C1FF-4849-9470-4D18AB239441}"/>
              </a:ext>
            </a:extLst>
          </p:cNvPr>
          <p:cNvSpPr>
            <a:spLocks noGrp="1"/>
          </p:cNvSpPr>
          <p:nvPr>
            <p:ph idx="1"/>
          </p:nvPr>
        </p:nvSpPr>
        <p:spPr/>
        <p:txBody>
          <a:bodyPr>
            <a:normAutofit fontScale="85000" lnSpcReduction="10000"/>
          </a:bodyPr>
          <a:lstStyle/>
          <a:p>
            <a:r>
              <a:rPr lang="en-US" dirty="0"/>
              <a:t>Sometimes you want to add new properties (or methods) to all existing objects of a given type.</a:t>
            </a:r>
          </a:p>
          <a:p>
            <a:r>
              <a:rPr lang="en-US" dirty="0"/>
              <a:t>Sometimes you want to add new properties (or methods) to an object constructor.</a:t>
            </a:r>
          </a:p>
          <a:p>
            <a:pPr marL="0" indent="0">
              <a:buNone/>
            </a:pPr>
            <a:r>
              <a:rPr lang="en-US" dirty="0"/>
              <a:t>	function Person(first, last, age, </a:t>
            </a:r>
            <a:r>
              <a:rPr lang="en-US" dirty="0" err="1"/>
              <a:t>eyecolor</a:t>
            </a:r>
            <a:r>
              <a:rPr lang="en-US" dirty="0"/>
              <a:t>) {</a:t>
            </a:r>
            <a:br>
              <a:rPr lang="en-US" dirty="0"/>
            </a:br>
            <a:r>
              <a:rPr lang="en-US" dirty="0"/>
              <a:t>	  </a:t>
            </a:r>
            <a:r>
              <a:rPr lang="en-US" dirty="0" err="1"/>
              <a:t>this.firstName</a:t>
            </a:r>
            <a:r>
              <a:rPr lang="en-US" dirty="0"/>
              <a:t> = first;</a:t>
            </a:r>
            <a:br>
              <a:rPr lang="en-US" dirty="0"/>
            </a:br>
            <a:r>
              <a:rPr lang="en-US" dirty="0"/>
              <a:t>	  </a:t>
            </a:r>
            <a:r>
              <a:rPr lang="en-US" dirty="0" err="1"/>
              <a:t>this.lastName</a:t>
            </a:r>
            <a:r>
              <a:rPr lang="en-US" dirty="0"/>
              <a:t> = last;</a:t>
            </a:r>
            <a:br>
              <a:rPr lang="en-US" dirty="0"/>
            </a:br>
            <a:r>
              <a:rPr lang="en-US" dirty="0"/>
              <a:t>	  </a:t>
            </a:r>
            <a:r>
              <a:rPr lang="en-US" dirty="0" err="1"/>
              <a:t>this.age</a:t>
            </a:r>
            <a:r>
              <a:rPr lang="en-US" dirty="0"/>
              <a:t> = age;</a:t>
            </a:r>
            <a:br>
              <a:rPr lang="en-US" dirty="0"/>
            </a:br>
            <a:r>
              <a:rPr lang="en-US" dirty="0"/>
              <a:t>	  </a:t>
            </a:r>
            <a:r>
              <a:rPr lang="en-US" dirty="0" err="1"/>
              <a:t>this.eyeColor</a:t>
            </a:r>
            <a:r>
              <a:rPr lang="en-US" dirty="0"/>
              <a:t> = </a:t>
            </a:r>
            <a:r>
              <a:rPr lang="en-US" dirty="0" err="1"/>
              <a:t>eyecolor</a:t>
            </a:r>
            <a:r>
              <a:rPr lang="en-US" dirty="0"/>
              <a:t>;</a:t>
            </a:r>
            <a:br>
              <a:rPr lang="en-US" dirty="0"/>
            </a:br>
            <a:r>
              <a:rPr lang="en-US" dirty="0"/>
              <a:t>	}</a:t>
            </a:r>
            <a:br>
              <a:rPr lang="en-US" dirty="0"/>
            </a:br>
            <a:br>
              <a:rPr lang="en-US" dirty="0"/>
            </a:br>
            <a:r>
              <a:rPr lang="en-US" dirty="0"/>
              <a:t>	const </a:t>
            </a:r>
            <a:r>
              <a:rPr lang="en-US" dirty="0" err="1"/>
              <a:t>person1</a:t>
            </a:r>
            <a:r>
              <a:rPr lang="en-US" dirty="0"/>
              <a:t> = new Person('Bob');</a:t>
            </a:r>
          </a:p>
          <a:p>
            <a:pPr marL="0" indent="0">
              <a:buNone/>
            </a:pPr>
            <a:r>
              <a:rPr lang="en-US" dirty="0"/>
              <a:t>	const </a:t>
            </a:r>
            <a:r>
              <a:rPr lang="en-US" dirty="0" err="1"/>
              <a:t>person2</a:t>
            </a:r>
            <a:r>
              <a:rPr lang="en-US" dirty="0"/>
              <a:t> = new Person('Sarah'); </a:t>
            </a:r>
          </a:p>
          <a:p>
            <a:pPr marL="0" indent="0">
              <a:buNone/>
            </a:pPr>
            <a:r>
              <a:rPr lang="en-US" dirty="0"/>
              <a:t>	</a:t>
            </a:r>
            <a:r>
              <a:rPr lang="en-US" dirty="0" err="1"/>
              <a:t>Person.prototype.nationality</a:t>
            </a:r>
            <a:r>
              <a:rPr lang="en-US" dirty="0"/>
              <a:t> = "English"; //Note added AFTER objects were created.</a:t>
            </a:r>
          </a:p>
          <a:p>
            <a:pPr marL="0" indent="0">
              <a:buNone/>
            </a:pPr>
            <a:r>
              <a:rPr lang="en-US" dirty="0"/>
              <a:t>	console.log(person1.nationality);  //Prints English.</a:t>
            </a:r>
          </a:p>
          <a:p>
            <a:pPr marL="0" indent="0">
              <a:buNone/>
            </a:pPr>
            <a:r>
              <a:rPr lang="en-US" dirty="0"/>
              <a:t>	</a:t>
            </a:r>
            <a:r>
              <a:rPr lang="en-US" dirty="0" err="1"/>
              <a:t>console.log</a:t>
            </a:r>
            <a:r>
              <a:rPr lang="en-US" dirty="0"/>
              <a:t>(</a:t>
            </a:r>
            <a:r>
              <a:rPr lang="en-US" dirty="0" err="1"/>
              <a:t>person2.nationality</a:t>
            </a:r>
            <a:r>
              <a:rPr lang="en-US" dirty="0"/>
              <a:t>);   //Prints English</a:t>
            </a:r>
          </a:p>
        </p:txBody>
      </p:sp>
    </p:spTree>
    <p:extLst>
      <p:ext uri="{BB962C8B-B14F-4D97-AF65-F5344CB8AC3E}">
        <p14:creationId xmlns:p14="http://schemas.microsoft.com/office/powerpoint/2010/main" val="207851741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D54C6B8D-B642-DF06-3F23-0CD47EEFEF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510710-9D48-880B-C9F8-DA3AB6C38F72}"/>
              </a:ext>
            </a:extLst>
          </p:cNvPr>
          <p:cNvSpPr>
            <a:spLocks noGrp="1"/>
          </p:cNvSpPr>
          <p:nvPr>
            <p:ph type="title"/>
          </p:nvPr>
        </p:nvSpPr>
        <p:spPr/>
        <p:txBody>
          <a:bodyPr/>
          <a:lstStyle/>
          <a:p>
            <a:r>
              <a:rPr lang="en-US" dirty="0"/>
              <a:t>Prototype 3</a:t>
            </a:r>
          </a:p>
        </p:txBody>
      </p:sp>
      <p:sp>
        <p:nvSpPr>
          <p:cNvPr id="3" name="Content Placeholder 2">
            <a:extLst>
              <a:ext uri="{FF2B5EF4-FFF2-40B4-BE49-F238E27FC236}">
                <a16:creationId xmlns:a16="http://schemas.microsoft.com/office/drawing/2014/main" id="{B8D351C4-41AB-627C-5E29-F6BB39515DE0}"/>
              </a:ext>
            </a:extLst>
          </p:cNvPr>
          <p:cNvSpPr>
            <a:spLocks noGrp="1"/>
          </p:cNvSpPr>
          <p:nvPr>
            <p:ph idx="1"/>
          </p:nvPr>
        </p:nvSpPr>
        <p:spPr>
          <a:xfrm>
            <a:off x="1069848" y="2121408"/>
            <a:ext cx="10832592" cy="4050792"/>
          </a:xfrm>
        </p:spPr>
        <p:txBody>
          <a:bodyPr>
            <a:normAutofit fontScale="62500" lnSpcReduction="20000"/>
          </a:bodyPr>
          <a:lstStyle/>
          <a:p>
            <a:pPr>
              <a:lnSpc>
                <a:spcPct val="120000"/>
              </a:lnSpc>
              <a:spcBef>
                <a:spcPts val="0"/>
              </a:spcBef>
            </a:pPr>
            <a:r>
              <a:rPr lang="en-US" dirty="0"/>
              <a:t>Sometimes you want to add new properties (or methods) to all existing objects of a given type.</a:t>
            </a:r>
          </a:p>
          <a:p>
            <a:pPr>
              <a:lnSpc>
                <a:spcPct val="120000"/>
              </a:lnSpc>
              <a:spcBef>
                <a:spcPts val="0"/>
              </a:spcBef>
            </a:pPr>
            <a:r>
              <a:rPr lang="en-US" dirty="0"/>
              <a:t>Sometimes you want to add new properties (or methods) to an object constructor.</a:t>
            </a:r>
          </a:p>
          <a:p>
            <a:pPr marL="0" indent="0">
              <a:lnSpc>
                <a:spcPct val="120000"/>
              </a:lnSpc>
              <a:spcBef>
                <a:spcPts val="0"/>
              </a:spcBef>
              <a:buNone/>
            </a:pPr>
            <a:r>
              <a:rPr lang="en-US" dirty="0"/>
              <a:t>     </a:t>
            </a:r>
          </a:p>
          <a:p>
            <a:pPr marL="0" indent="0">
              <a:lnSpc>
                <a:spcPct val="120000"/>
              </a:lnSpc>
              <a:spcBef>
                <a:spcPts val="0"/>
              </a:spcBef>
              <a:buNone/>
            </a:pPr>
            <a:r>
              <a:rPr lang="en-US" dirty="0"/>
              <a:t>     function Person (name) {</a:t>
            </a:r>
          </a:p>
          <a:p>
            <a:pPr marL="0" indent="0">
              <a:lnSpc>
                <a:spcPct val="120000"/>
              </a:lnSpc>
              <a:spcBef>
                <a:spcPts val="0"/>
              </a:spcBef>
              <a:buNone/>
            </a:pPr>
            <a:r>
              <a:rPr lang="en-US" dirty="0"/>
              <a:t>        this.name = name;</a:t>
            </a:r>
          </a:p>
          <a:p>
            <a:pPr marL="0" indent="0">
              <a:lnSpc>
                <a:spcPct val="120000"/>
              </a:lnSpc>
              <a:spcBef>
                <a:spcPts val="0"/>
              </a:spcBef>
              <a:buNone/>
            </a:pPr>
            <a:r>
              <a:rPr lang="en-US" dirty="0"/>
              <a:t>      }</a:t>
            </a:r>
          </a:p>
          <a:p>
            <a:pPr marL="0" indent="0">
              <a:lnSpc>
                <a:spcPct val="120000"/>
              </a:lnSpc>
              <a:spcBef>
                <a:spcPts val="0"/>
              </a:spcBef>
              <a:buNone/>
            </a:pPr>
            <a:r>
              <a:rPr lang="en-US" dirty="0"/>
              <a:t>      const p1 = new Person('Amy');</a:t>
            </a:r>
          </a:p>
          <a:p>
            <a:pPr marL="0" indent="0">
              <a:lnSpc>
                <a:spcPct val="120000"/>
              </a:lnSpc>
              <a:spcBef>
                <a:spcPts val="0"/>
              </a:spcBef>
              <a:buNone/>
            </a:pPr>
            <a:r>
              <a:rPr lang="en-US" dirty="0"/>
              <a:t>      const p2 = new Person('Julia'); </a:t>
            </a:r>
          </a:p>
          <a:p>
            <a:pPr marL="0" indent="0">
              <a:lnSpc>
                <a:spcPct val="120000"/>
              </a:lnSpc>
              <a:spcBef>
                <a:spcPts val="0"/>
              </a:spcBef>
              <a:buNone/>
            </a:pPr>
            <a:r>
              <a:rPr lang="en-US" dirty="0"/>
              <a:t>      </a:t>
            </a:r>
            <a:r>
              <a:rPr lang="en-US" dirty="0" err="1"/>
              <a:t>Person.prototype.state</a:t>
            </a:r>
            <a:r>
              <a:rPr lang="en-US" dirty="0"/>
              <a:t> = "Happy"; //Note added AFTER objects were created.</a:t>
            </a:r>
          </a:p>
          <a:p>
            <a:pPr marL="0" indent="0">
              <a:lnSpc>
                <a:spcPct val="120000"/>
              </a:lnSpc>
              <a:spcBef>
                <a:spcPts val="0"/>
              </a:spcBef>
              <a:buNone/>
            </a:pPr>
            <a:r>
              <a:rPr lang="en-US" dirty="0"/>
              <a:t>      console.log(p1.name + ":" + p1.state);  //Prints </a:t>
            </a:r>
            <a:r>
              <a:rPr lang="en-US" dirty="0" err="1"/>
              <a:t>Amy:Happy</a:t>
            </a:r>
            <a:endParaRPr lang="en-US" dirty="0"/>
          </a:p>
          <a:p>
            <a:pPr marL="0" indent="0">
              <a:lnSpc>
                <a:spcPct val="120000"/>
              </a:lnSpc>
              <a:spcBef>
                <a:spcPts val="0"/>
              </a:spcBef>
              <a:buNone/>
            </a:pPr>
            <a:r>
              <a:rPr lang="en-US" dirty="0"/>
              <a:t>      console.log(p2.name + ":" + p2.state);  //Prints </a:t>
            </a:r>
            <a:r>
              <a:rPr lang="en-US" dirty="0" err="1"/>
              <a:t>Julia:Happy</a:t>
            </a:r>
            <a:endParaRPr lang="en-US" dirty="0"/>
          </a:p>
          <a:p>
            <a:pPr marL="0" indent="0">
              <a:lnSpc>
                <a:spcPct val="120000"/>
              </a:lnSpc>
              <a:spcBef>
                <a:spcPts val="0"/>
              </a:spcBef>
              <a:buNone/>
            </a:pPr>
            <a:r>
              <a:rPr lang="en-US" dirty="0"/>
              <a:t>      p2.state = "Sad";</a:t>
            </a:r>
          </a:p>
          <a:p>
            <a:pPr marL="0" indent="0">
              <a:lnSpc>
                <a:spcPct val="120000"/>
              </a:lnSpc>
              <a:spcBef>
                <a:spcPts val="0"/>
              </a:spcBef>
              <a:buNone/>
            </a:pPr>
            <a:r>
              <a:rPr lang="en-US" dirty="0"/>
              <a:t>      console.log(p1.name + ":" + p1.state);  //Prints </a:t>
            </a:r>
            <a:r>
              <a:rPr lang="en-US" dirty="0" err="1"/>
              <a:t>Amy:Happy</a:t>
            </a:r>
            <a:endParaRPr lang="en-US" dirty="0"/>
          </a:p>
          <a:p>
            <a:pPr marL="0" indent="0">
              <a:lnSpc>
                <a:spcPct val="120000"/>
              </a:lnSpc>
              <a:spcBef>
                <a:spcPts val="0"/>
              </a:spcBef>
              <a:buNone/>
            </a:pPr>
            <a:r>
              <a:rPr lang="en-US" dirty="0"/>
              <a:t>      console.log(p2.name + ":" + p2.state);  //Prints </a:t>
            </a:r>
            <a:r>
              <a:rPr lang="en-US" dirty="0" err="1"/>
              <a:t>Julia:Sad</a:t>
            </a:r>
            <a:r>
              <a:rPr lang="en-US" dirty="0"/>
              <a:t> </a:t>
            </a:r>
          </a:p>
          <a:p>
            <a:pPr marL="0" indent="0">
              <a:lnSpc>
                <a:spcPct val="120000"/>
              </a:lnSpc>
              <a:spcBef>
                <a:spcPts val="0"/>
              </a:spcBef>
              <a:buNone/>
            </a:pPr>
            <a:r>
              <a:rPr lang="en-US" dirty="0"/>
              <a:t>      </a:t>
            </a:r>
          </a:p>
          <a:p>
            <a:pPr marL="0" indent="0">
              <a:lnSpc>
                <a:spcPct val="120000"/>
              </a:lnSpc>
              <a:spcBef>
                <a:spcPts val="0"/>
              </a:spcBef>
              <a:buNone/>
            </a:pPr>
            <a:r>
              <a:rPr lang="en-US" dirty="0"/>
              <a:t>      //ERROR.  Can't access prototype directly from object.</a:t>
            </a:r>
          </a:p>
          <a:p>
            <a:pPr marL="0" indent="0">
              <a:lnSpc>
                <a:spcPct val="120000"/>
              </a:lnSpc>
              <a:spcBef>
                <a:spcPts val="0"/>
              </a:spcBef>
              <a:buNone/>
            </a:pPr>
            <a:r>
              <a:rPr lang="en-US" dirty="0"/>
              <a:t>      p2.prototype.state = "Mad";             </a:t>
            </a:r>
          </a:p>
          <a:p>
            <a:pPr marL="0" indent="0">
              <a:lnSpc>
                <a:spcPct val="120000"/>
              </a:lnSpc>
              <a:spcBef>
                <a:spcPts val="0"/>
              </a:spcBef>
              <a:buNone/>
            </a:pPr>
            <a:r>
              <a:rPr lang="en-US" dirty="0"/>
              <a:t>      console.log(p1.name + ":" + p1.state);  //Prints English.</a:t>
            </a:r>
          </a:p>
          <a:p>
            <a:pPr marL="0" indent="0">
              <a:lnSpc>
                <a:spcPct val="120000"/>
              </a:lnSpc>
              <a:spcBef>
                <a:spcPts val="0"/>
              </a:spcBef>
              <a:buNone/>
            </a:pPr>
            <a:r>
              <a:rPr lang="en-US" dirty="0"/>
              <a:t>      console.log(p2.name + ":" + p2.state);  //Prints English. 	</a:t>
            </a:r>
          </a:p>
        </p:txBody>
      </p:sp>
    </p:spTree>
    <p:extLst>
      <p:ext uri="{BB962C8B-B14F-4D97-AF65-F5344CB8AC3E}">
        <p14:creationId xmlns:p14="http://schemas.microsoft.com/office/powerpoint/2010/main" val="163066573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4786B-E991-48FF-A3F6-5AEBCC6A14CD}"/>
              </a:ext>
            </a:extLst>
          </p:cNvPr>
          <p:cNvSpPr>
            <a:spLocks noGrp="1"/>
          </p:cNvSpPr>
          <p:nvPr>
            <p:ph type="title"/>
          </p:nvPr>
        </p:nvSpPr>
        <p:spPr/>
        <p:txBody>
          <a:bodyPr/>
          <a:lstStyle/>
          <a:p>
            <a:r>
              <a:rPr lang="en-US" dirty="0"/>
              <a:t>Methods and prototypes</a:t>
            </a:r>
          </a:p>
        </p:txBody>
      </p:sp>
      <p:sp>
        <p:nvSpPr>
          <p:cNvPr id="3" name="Content Placeholder 2">
            <a:extLst>
              <a:ext uri="{FF2B5EF4-FFF2-40B4-BE49-F238E27FC236}">
                <a16:creationId xmlns:a16="http://schemas.microsoft.com/office/drawing/2014/main" id="{50C04F7F-2C37-4976-84FD-E93D96AB6D0A}"/>
              </a:ext>
            </a:extLst>
          </p:cNvPr>
          <p:cNvSpPr>
            <a:spLocks noGrp="1"/>
          </p:cNvSpPr>
          <p:nvPr>
            <p:ph idx="1"/>
          </p:nvPr>
        </p:nvSpPr>
        <p:spPr/>
        <p:txBody>
          <a:bodyPr/>
          <a:lstStyle/>
          <a:p>
            <a:r>
              <a:rPr lang="en-US" dirty="0"/>
              <a:t>You can add methods with prototypes too</a:t>
            </a:r>
          </a:p>
          <a:p>
            <a:pPr marL="0" indent="0">
              <a:buNone/>
            </a:pPr>
            <a:r>
              <a:rPr lang="en-US" dirty="0"/>
              <a:t>function Person(first, last, age, </a:t>
            </a:r>
            <a:r>
              <a:rPr lang="en-US" dirty="0" err="1"/>
              <a:t>eyecolor</a:t>
            </a:r>
            <a:r>
              <a:rPr lang="en-US" dirty="0"/>
              <a:t>) {</a:t>
            </a:r>
            <a:br>
              <a:rPr lang="en-US" dirty="0"/>
            </a:br>
            <a:r>
              <a:rPr lang="en-US" dirty="0"/>
              <a:t>  </a:t>
            </a:r>
            <a:r>
              <a:rPr lang="en-US" dirty="0" err="1"/>
              <a:t>this.firstName</a:t>
            </a:r>
            <a:r>
              <a:rPr lang="en-US" dirty="0"/>
              <a:t> = first;</a:t>
            </a:r>
            <a:br>
              <a:rPr lang="en-US" dirty="0"/>
            </a:br>
            <a:r>
              <a:rPr lang="en-US" dirty="0"/>
              <a:t>  </a:t>
            </a:r>
            <a:r>
              <a:rPr lang="en-US" dirty="0" err="1"/>
              <a:t>this.lastName</a:t>
            </a:r>
            <a:r>
              <a:rPr lang="en-US" dirty="0"/>
              <a:t> = last;</a:t>
            </a:r>
            <a:br>
              <a:rPr lang="en-US" dirty="0"/>
            </a:br>
            <a:r>
              <a:rPr lang="en-US" dirty="0"/>
              <a:t>  </a:t>
            </a:r>
            <a:r>
              <a:rPr lang="en-US" dirty="0" err="1"/>
              <a:t>this.age</a:t>
            </a:r>
            <a:r>
              <a:rPr lang="en-US" dirty="0"/>
              <a:t> = age;</a:t>
            </a:r>
            <a:br>
              <a:rPr lang="en-US" dirty="0"/>
            </a:br>
            <a:r>
              <a:rPr lang="en-US" dirty="0"/>
              <a:t>  </a:t>
            </a:r>
            <a:r>
              <a:rPr lang="en-US" dirty="0" err="1"/>
              <a:t>this.eyeColor</a:t>
            </a:r>
            <a:r>
              <a:rPr lang="en-US" dirty="0"/>
              <a:t> = </a:t>
            </a:r>
            <a:r>
              <a:rPr lang="en-US" dirty="0" err="1"/>
              <a:t>eyecolor</a:t>
            </a:r>
            <a:r>
              <a:rPr lang="en-US" dirty="0"/>
              <a:t>;</a:t>
            </a:r>
            <a:br>
              <a:rPr lang="en-US" dirty="0"/>
            </a:br>
            <a:r>
              <a:rPr lang="en-US" dirty="0"/>
              <a:t>}</a:t>
            </a:r>
            <a:br>
              <a:rPr lang="en-US" dirty="0"/>
            </a:br>
            <a:br>
              <a:rPr lang="en-US" dirty="0"/>
            </a:br>
            <a:r>
              <a:rPr lang="en-US" dirty="0" err="1"/>
              <a:t>Person.prototype.name</a:t>
            </a:r>
            <a:r>
              <a:rPr lang="en-US" dirty="0"/>
              <a:t> = function() {</a:t>
            </a:r>
            <a:br>
              <a:rPr lang="en-US" dirty="0"/>
            </a:br>
            <a:r>
              <a:rPr lang="en-US" dirty="0"/>
              <a:t>  return </a:t>
            </a:r>
            <a:r>
              <a:rPr lang="en-US" dirty="0" err="1"/>
              <a:t>this.firstName</a:t>
            </a:r>
            <a:r>
              <a:rPr lang="en-US" dirty="0"/>
              <a:t> + " " + </a:t>
            </a:r>
            <a:r>
              <a:rPr lang="en-US" dirty="0" err="1"/>
              <a:t>this.lastName</a:t>
            </a:r>
            <a:r>
              <a:rPr lang="en-US" dirty="0"/>
              <a:t>;</a:t>
            </a:r>
            <a:br>
              <a:rPr lang="en-US" dirty="0"/>
            </a:br>
            <a:r>
              <a:rPr lang="en-US" dirty="0"/>
              <a:t>};</a:t>
            </a:r>
          </a:p>
        </p:txBody>
      </p:sp>
    </p:spTree>
    <p:extLst>
      <p:ext uri="{BB962C8B-B14F-4D97-AF65-F5344CB8AC3E}">
        <p14:creationId xmlns:p14="http://schemas.microsoft.com/office/powerpoint/2010/main" val="152048180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AADAC-F355-42F6-AC11-D2F11E38DE52}"/>
              </a:ext>
            </a:extLst>
          </p:cNvPr>
          <p:cNvSpPr>
            <a:spLocks noGrp="1"/>
          </p:cNvSpPr>
          <p:nvPr>
            <p:ph type="title"/>
          </p:nvPr>
        </p:nvSpPr>
        <p:spPr/>
        <p:txBody>
          <a:bodyPr/>
          <a:lstStyle/>
          <a:p>
            <a:r>
              <a:rPr lang="en-US" dirty="0"/>
              <a:t>Class keyword</a:t>
            </a:r>
          </a:p>
        </p:txBody>
      </p:sp>
      <p:sp>
        <p:nvSpPr>
          <p:cNvPr id="3" name="Content Placeholder 2">
            <a:extLst>
              <a:ext uri="{FF2B5EF4-FFF2-40B4-BE49-F238E27FC236}">
                <a16:creationId xmlns:a16="http://schemas.microsoft.com/office/drawing/2014/main" id="{C5F514F8-3294-4C67-B872-7D92B7823885}"/>
              </a:ext>
            </a:extLst>
          </p:cNvPr>
          <p:cNvSpPr>
            <a:spLocks noGrp="1"/>
          </p:cNvSpPr>
          <p:nvPr>
            <p:ph idx="1"/>
          </p:nvPr>
        </p:nvSpPr>
        <p:spPr>
          <a:xfrm>
            <a:off x="1069848" y="1821157"/>
            <a:ext cx="10058400" cy="4050792"/>
          </a:xfrm>
        </p:spPr>
        <p:txBody>
          <a:bodyPr>
            <a:normAutofit fontScale="70000" lnSpcReduction="20000"/>
          </a:bodyPr>
          <a:lstStyle/>
          <a:p>
            <a:r>
              <a:rPr lang="en-US" dirty="0"/>
              <a:t>Classes are in fact "special functions", and just as you can define function expressions and function declarations, the class syntax has two components: class expressions and class declarations.</a:t>
            </a:r>
          </a:p>
          <a:p>
            <a:pPr marL="0" indent="0">
              <a:buNone/>
            </a:pPr>
            <a:r>
              <a:rPr lang="en-US" dirty="0"/>
              <a:t>class Rectangle {</a:t>
            </a:r>
          </a:p>
          <a:p>
            <a:pPr marL="0" indent="0">
              <a:buNone/>
            </a:pPr>
            <a:r>
              <a:rPr lang="en-US" dirty="0"/>
              <a:t>      constructor(height, width) {</a:t>
            </a:r>
          </a:p>
          <a:p>
            <a:pPr marL="0" indent="0">
              <a:buNone/>
            </a:pPr>
            <a:r>
              <a:rPr lang="en-US" dirty="0"/>
              <a:t>          </a:t>
            </a:r>
            <a:r>
              <a:rPr lang="en-US" dirty="0" err="1"/>
              <a:t>this.height</a:t>
            </a:r>
            <a:r>
              <a:rPr lang="en-US" dirty="0"/>
              <a:t> = height;</a:t>
            </a:r>
          </a:p>
          <a:p>
            <a:pPr marL="0" indent="0">
              <a:buNone/>
            </a:pPr>
            <a:r>
              <a:rPr lang="en-US" dirty="0"/>
              <a:t>          </a:t>
            </a:r>
            <a:r>
              <a:rPr lang="en-US" dirty="0" err="1"/>
              <a:t>this.width</a:t>
            </a:r>
            <a:r>
              <a:rPr lang="en-US" dirty="0"/>
              <a:t> = width;</a:t>
            </a:r>
          </a:p>
          <a:p>
            <a:pPr marL="0" indent="0">
              <a:buNone/>
            </a:pPr>
            <a:r>
              <a:rPr lang="en-US" dirty="0"/>
              <a:t>          </a:t>
            </a:r>
            <a:r>
              <a:rPr lang="en-US" dirty="0" err="1"/>
              <a:t>this.other</a:t>
            </a:r>
            <a:r>
              <a:rPr lang="en-US" dirty="0"/>
              <a:t> = "Hi Timmie";  //Add fields with this</a:t>
            </a:r>
          </a:p>
          <a:p>
            <a:pPr marL="0" indent="0">
              <a:buNone/>
            </a:pPr>
            <a:r>
              <a:rPr lang="en-US" dirty="0"/>
              <a:t>      }</a:t>
            </a:r>
          </a:p>
          <a:p>
            <a:pPr marL="0" indent="0">
              <a:buNone/>
            </a:pPr>
            <a:r>
              <a:rPr lang="en-US" b="1" u="sng" dirty="0">
                <a:solidFill>
                  <a:srgbClr val="FF0000"/>
                </a:solidFill>
              </a:rPr>
              <a:t>//NOTE no function keyword on class </a:t>
            </a:r>
            <a:r>
              <a:rPr lang="en-US" b="1" u="sng" dirty="0" err="1">
                <a:solidFill>
                  <a:srgbClr val="FF0000"/>
                </a:solidFill>
              </a:rPr>
              <a:t>functons</a:t>
            </a:r>
            <a:r>
              <a:rPr lang="en-US" b="1" u="sng" dirty="0">
                <a:solidFill>
                  <a:srgbClr val="FF0000"/>
                </a:solidFill>
              </a:rPr>
              <a:t>.  </a:t>
            </a:r>
          </a:p>
          <a:p>
            <a:pPr marL="0" indent="0">
              <a:buNone/>
            </a:pPr>
            <a:r>
              <a:rPr lang="en-US" b="1" u="sng" dirty="0">
                <a:solidFill>
                  <a:srgbClr val="FF0000"/>
                </a:solidFill>
              </a:rPr>
              <a:t>//NOTE you must use </a:t>
            </a:r>
            <a:r>
              <a:rPr lang="en-US" b="1" i="1" u="sng" dirty="0">
                <a:solidFill>
                  <a:srgbClr val="FF0000"/>
                </a:solidFill>
              </a:rPr>
              <a:t>this</a:t>
            </a:r>
            <a:r>
              <a:rPr lang="en-US" b="1" u="sng" dirty="0">
                <a:solidFill>
                  <a:srgbClr val="FF0000"/>
                </a:solidFill>
              </a:rPr>
              <a:t> to reference class variables.</a:t>
            </a:r>
          </a:p>
          <a:p>
            <a:pPr marL="0" indent="0">
              <a:buNone/>
            </a:pPr>
            <a:r>
              <a:rPr lang="en-US" dirty="0"/>
              <a:t>      </a:t>
            </a:r>
            <a:r>
              <a:rPr lang="en-US" dirty="0" err="1"/>
              <a:t>getArea</a:t>
            </a:r>
            <a:r>
              <a:rPr lang="en-US" dirty="0"/>
              <a:t>() { </a:t>
            </a:r>
          </a:p>
          <a:p>
            <a:pPr marL="0" indent="0">
              <a:buNone/>
            </a:pPr>
            <a:r>
              <a:rPr lang="en-US" dirty="0"/>
              <a:t>           return </a:t>
            </a:r>
            <a:r>
              <a:rPr lang="en-US" dirty="0" err="1"/>
              <a:t>this.height</a:t>
            </a:r>
            <a:r>
              <a:rPr lang="en-US" dirty="0"/>
              <a:t> * </a:t>
            </a:r>
            <a:r>
              <a:rPr lang="en-US" dirty="0" err="1"/>
              <a:t>this.width</a:t>
            </a:r>
            <a:r>
              <a:rPr lang="en-US" dirty="0"/>
              <a:t>;</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132102459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629AB-460E-4434-814B-37E872B2AB96}"/>
              </a:ext>
            </a:extLst>
          </p:cNvPr>
          <p:cNvSpPr>
            <a:spLocks noGrp="1"/>
          </p:cNvSpPr>
          <p:nvPr>
            <p:ph type="title"/>
          </p:nvPr>
        </p:nvSpPr>
        <p:spPr>
          <a:xfrm>
            <a:off x="1066800" y="0"/>
            <a:ext cx="10058400" cy="1137684"/>
          </a:xfrm>
        </p:spPr>
        <p:txBody>
          <a:bodyPr/>
          <a:lstStyle/>
          <a:p>
            <a:r>
              <a:rPr lang="en-US" dirty="0"/>
              <a:t>Getters and setters</a:t>
            </a:r>
          </a:p>
        </p:txBody>
      </p:sp>
      <p:sp>
        <p:nvSpPr>
          <p:cNvPr id="3" name="Content Placeholder 2">
            <a:extLst>
              <a:ext uri="{FF2B5EF4-FFF2-40B4-BE49-F238E27FC236}">
                <a16:creationId xmlns:a16="http://schemas.microsoft.com/office/drawing/2014/main" id="{49EC8A16-379F-445B-BC19-A6BDA06EDCA2}"/>
              </a:ext>
            </a:extLst>
          </p:cNvPr>
          <p:cNvSpPr>
            <a:spLocks noGrp="1"/>
          </p:cNvSpPr>
          <p:nvPr>
            <p:ph idx="1"/>
          </p:nvPr>
        </p:nvSpPr>
        <p:spPr>
          <a:xfrm>
            <a:off x="1069848" y="1137684"/>
            <a:ext cx="10058400" cy="5034516"/>
          </a:xfrm>
        </p:spPr>
        <p:txBody>
          <a:bodyPr>
            <a:normAutofit lnSpcReduction="10000"/>
          </a:bodyPr>
          <a:lstStyle/>
          <a:p>
            <a:r>
              <a:rPr lang="en-US" dirty="0"/>
              <a:t>Not much need for getters and setters since the data in JavaScript is public.  </a:t>
            </a:r>
          </a:p>
          <a:p>
            <a:r>
              <a:rPr lang="en-US" dirty="0"/>
              <a:t>You can simply access the field directly.</a:t>
            </a:r>
          </a:p>
          <a:p>
            <a:r>
              <a:rPr lang="en-US" dirty="0"/>
              <a:t>JavaScript does have the ability to create getters and setters that are calculations but seem like fields.</a:t>
            </a:r>
          </a:p>
          <a:p>
            <a:pPr marL="274320" lvl="1" indent="0">
              <a:buNone/>
            </a:pPr>
            <a:endParaRPr lang="en-US" dirty="0"/>
          </a:p>
          <a:p>
            <a:pPr marL="274320" lvl="1" indent="0">
              <a:buNone/>
            </a:pPr>
            <a:r>
              <a:rPr lang="en-US" dirty="0"/>
              <a:t>class Rectangle {</a:t>
            </a:r>
          </a:p>
          <a:p>
            <a:pPr marL="274320" lvl="1" indent="0">
              <a:buNone/>
            </a:pPr>
            <a:r>
              <a:rPr lang="en-US" dirty="0"/>
              <a:t>      constructor(height, width) {</a:t>
            </a:r>
          </a:p>
          <a:p>
            <a:pPr marL="274320" lvl="1" indent="0">
              <a:buNone/>
            </a:pPr>
            <a:r>
              <a:rPr lang="en-US" dirty="0"/>
              <a:t>            </a:t>
            </a:r>
            <a:r>
              <a:rPr lang="en-US" dirty="0" err="1"/>
              <a:t>this.height</a:t>
            </a:r>
            <a:r>
              <a:rPr lang="en-US" dirty="0"/>
              <a:t> = height;</a:t>
            </a:r>
          </a:p>
          <a:p>
            <a:pPr marL="274320" lvl="1" indent="0">
              <a:buNone/>
            </a:pPr>
            <a:r>
              <a:rPr lang="en-US" dirty="0"/>
              <a:t>            </a:t>
            </a:r>
            <a:r>
              <a:rPr lang="en-US" dirty="0" err="1"/>
              <a:t>this.width</a:t>
            </a:r>
            <a:r>
              <a:rPr lang="en-US" dirty="0"/>
              <a:t> = width;</a:t>
            </a:r>
          </a:p>
          <a:p>
            <a:pPr marL="274320" lvl="1" indent="0">
              <a:buNone/>
            </a:pPr>
            <a:r>
              <a:rPr lang="en-US" dirty="0"/>
              <a:t>      }</a:t>
            </a:r>
          </a:p>
          <a:p>
            <a:pPr marL="274320" lvl="1" indent="0">
              <a:buNone/>
            </a:pPr>
            <a:r>
              <a:rPr lang="en-US" dirty="0"/>
              <a:t>     get area() {  </a:t>
            </a:r>
            <a:r>
              <a:rPr lang="en-US" b="1" dirty="0"/>
              <a:t>//Note the space between get and area.</a:t>
            </a:r>
          </a:p>
          <a:p>
            <a:pPr marL="274320" lvl="1" indent="0">
              <a:buNone/>
            </a:pPr>
            <a:r>
              <a:rPr lang="en-US" dirty="0"/>
              <a:t>            return </a:t>
            </a:r>
            <a:r>
              <a:rPr lang="en-US" dirty="0" err="1"/>
              <a:t>this.height</a:t>
            </a:r>
            <a:r>
              <a:rPr lang="en-US" dirty="0"/>
              <a:t> * </a:t>
            </a:r>
            <a:r>
              <a:rPr lang="en-US" dirty="0" err="1"/>
              <a:t>this.width</a:t>
            </a:r>
            <a:r>
              <a:rPr lang="en-US" dirty="0"/>
              <a:t>;</a:t>
            </a:r>
          </a:p>
          <a:p>
            <a:pPr marL="274320" lvl="1" indent="0">
              <a:buNone/>
            </a:pPr>
            <a:r>
              <a:rPr lang="en-US" dirty="0"/>
              <a:t>      }</a:t>
            </a:r>
          </a:p>
          <a:p>
            <a:pPr marL="274320" lvl="1" indent="0">
              <a:buNone/>
            </a:pPr>
            <a:r>
              <a:rPr lang="en-US" dirty="0"/>
              <a:t>}</a:t>
            </a:r>
          </a:p>
          <a:p>
            <a:pPr marL="274320" lvl="1" indent="0">
              <a:buNone/>
            </a:pPr>
            <a:r>
              <a:rPr lang="pt-BR" dirty="0"/>
              <a:t>let r = new Rectangle(10, 15);</a:t>
            </a:r>
          </a:p>
          <a:p>
            <a:pPr marL="274320" lvl="1" indent="0">
              <a:buNone/>
            </a:pPr>
            <a:r>
              <a:rPr lang="pt-BR" dirty="0"/>
              <a:t>console.log(r.area); //Prints 150 </a:t>
            </a:r>
            <a:r>
              <a:rPr lang="pt-BR" b="1" dirty="0"/>
              <a:t> Note r.area has no parenthesis</a:t>
            </a:r>
            <a:endParaRPr lang="en-US" b="1" dirty="0"/>
          </a:p>
          <a:p>
            <a:pPr marL="0" indent="0">
              <a:buNone/>
            </a:pPr>
            <a:endParaRPr lang="en-US" dirty="0"/>
          </a:p>
        </p:txBody>
      </p:sp>
    </p:spTree>
    <p:extLst>
      <p:ext uri="{BB962C8B-B14F-4D97-AF65-F5344CB8AC3E}">
        <p14:creationId xmlns:p14="http://schemas.microsoft.com/office/powerpoint/2010/main" val="69924661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46A1B-FFE7-469A-8089-D0F7C43AD9B1}"/>
              </a:ext>
            </a:extLst>
          </p:cNvPr>
          <p:cNvSpPr>
            <a:spLocks noGrp="1"/>
          </p:cNvSpPr>
          <p:nvPr>
            <p:ph type="title"/>
          </p:nvPr>
        </p:nvSpPr>
        <p:spPr>
          <a:xfrm>
            <a:off x="1063752" y="1819656"/>
            <a:ext cx="2534589" cy="1609344"/>
          </a:xfrm>
        </p:spPr>
        <p:txBody>
          <a:bodyPr>
            <a:normAutofit fontScale="90000"/>
          </a:bodyPr>
          <a:lstStyle/>
          <a:p>
            <a:r>
              <a:rPr lang="en-US" dirty="0"/>
              <a:t>Getter and setter example</a:t>
            </a:r>
          </a:p>
        </p:txBody>
      </p:sp>
      <p:sp>
        <p:nvSpPr>
          <p:cNvPr id="3" name="Content Placeholder 2">
            <a:extLst>
              <a:ext uri="{FF2B5EF4-FFF2-40B4-BE49-F238E27FC236}">
                <a16:creationId xmlns:a16="http://schemas.microsoft.com/office/drawing/2014/main" id="{B956EEC8-A1D8-430D-BA4C-57378C5F14B8}"/>
              </a:ext>
            </a:extLst>
          </p:cNvPr>
          <p:cNvSpPr>
            <a:spLocks noGrp="1"/>
          </p:cNvSpPr>
          <p:nvPr>
            <p:ph idx="1"/>
          </p:nvPr>
        </p:nvSpPr>
        <p:spPr>
          <a:xfrm>
            <a:off x="4642635" y="467832"/>
            <a:ext cx="6266370" cy="5964865"/>
          </a:xfrm>
        </p:spPr>
        <p:txBody>
          <a:bodyPr>
            <a:normAutofit fontScale="92500" lnSpcReduction="10000"/>
          </a:bodyPr>
          <a:lstStyle/>
          <a:p>
            <a:pPr marL="0" indent="0">
              <a:buNone/>
            </a:pPr>
            <a:r>
              <a:rPr lang="en-US" dirty="0"/>
              <a:t>class Rectangle {</a:t>
            </a:r>
          </a:p>
          <a:p>
            <a:pPr marL="274320" lvl="1" indent="0">
              <a:buNone/>
            </a:pPr>
            <a:r>
              <a:rPr lang="en-US" dirty="0"/>
              <a:t>  constructor(height, width) {</a:t>
            </a:r>
          </a:p>
          <a:p>
            <a:pPr marL="274320" lvl="1" indent="0">
              <a:buNone/>
            </a:pPr>
            <a:r>
              <a:rPr lang="en-US" dirty="0"/>
              <a:t>    </a:t>
            </a:r>
            <a:r>
              <a:rPr lang="en-US" dirty="0" err="1"/>
              <a:t>this.height</a:t>
            </a:r>
            <a:r>
              <a:rPr lang="en-US" dirty="0"/>
              <a:t> = height;</a:t>
            </a:r>
          </a:p>
          <a:p>
            <a:pPr marL="274320" lvl="1" indent="0">
              <a:buNone/>
            </a:pPr>
            <a:r>
              <a:rPr lang="en-US" dirty="0"/>
              <a:t>    </a:t>
            </a:r>
            <a:r>
              <a:rPr lang="en-US" dirty="0" err="1"/>
              <a:t>this.width</a:t>
            </a:r>
            <a:r>
              <a:rPr lang="en-US" dirty="0"/>
              <a:t> = width;</a:t>
            </a:r>
          </a:p>
          <a:p>
            <a:pPr marL="274320" lvl="1" indent="0">
              <a:buNone/>
            </a:pPr>
            <a:r>
              <a:rPr lang="en-US" dirty="0"/>
              <a:t>  }</a:t>
            </a:r>
          </a:p>
          <a:p>
            <a:pPr marL="274320" lvl="1" indent="0">
              <a:buNone/>
            </a:pPr>
            <a:r>
              <a:rPr lang="en-US" dirty="0"/>
              <a:t>  get area() {</a:t>
            </a:r>
          </a:p>
          <a:p>
            <a:pPr marL="274320" lvl="1" indent="0">
              <a:buNone/>
            </a:pPr>
            <a:r>
              <a:rPr lang="en-US" dirty="0"/>
              <a:t>    return </a:t>
            </a:r>
            <a:r>
              <a:rPr lang="en-US" dirty="0" err="1"/>
              <a:t>this.height</a:t>
            </a:r>
            <a:r>
              <a:rPr lang="en-US" dirty="0"/>
              <a:t> * </a:t>
            </a:r>
            <a:r>
              <a:rPr lang="en-US" dirty="0" err="1"/>
              <a:t>this.width</a:t>
            </a:r>
            <a:r>
              <a:rPr lang="en-US" dirty="0"/>
              <a:t>;</a:t>
            </a:r>
          </a:p>
          <a:p>
            <a:pPr marL="274320" lvl="1" indent="0">
              <a:buNone/>
            </a:pPr>
            <a:r>
              <a:rPr lang="en-US" dirty="0"/>
              <a:t>  }</a:t>
            </a:r>
          </a:p>
          <a:p>
            <a:pPr marL="274320" lvl="1" indent="0">
              <a:buNone/>
            </a:pPr>
            <a:r>
              <a:rPr lang="en-US" dirty="0"/>
              <a:t>  </a:t>
            </a:r>
          </a:p>
          <a:p>
            <a:pPr marL="274320" lvl="1" indent="0">
              <a:buNone/>
            </a:pPr>
            <a:r>
              <a:rPr lang="en-US" dirty="0"/>
              <a:t>  set square(x) {</a:t>
            </a:r>
          </a:p>
          <a:p>
            <a:pPr marL="274320" lvl="1" indent="0">
              <a:buNone/>
            </a:pPr>
            <a:r>
              <a:rPr lang="en-US" dirty="0"/>
              <a:t>    </a:t>
            </a:r>
            <a:r>
              <a:rPr lang="en-US" dirty="0" err="1"/>
              <a:t>this.height</a:t>
            </a:r>
            <a:r>
              <a:rPr lang="en-US" dirty="0"/>
              <a:t> = x;</a:t>
            </a:r>
          </a:p>
          <a:p>
            <a:pPr marL="274320" lvl="1" indent="0">
              <a:buNone/>
            </a:pPr>
            <a:r>
              <a:rPr lang="en-US" dirty="0"/>
              <a:t>    </a:t>
            </a:r>
            <a:r>
              <a:rPr lang="en-US" dirty="0" err="1"/>
              <a:t>this.width</a:t>
            </a:r>
            <a:r>
              <a:rPr lang="en-US" dirty="0"/>
              <a:t> = x;</a:t>
            </a:r>
          </a:p>
          <a:p>
            <a:pPr marL="274320" lvl="1" indent="0">
              <a:buNone/>
            </a:pPr>
            <a:r>
              <a:rPr lang="en-US" dirty="0"/>
              <a:t>  }</a:t>
            </a:r>
          </a:p>
          <a:p>
            <a:pPr marL="0" indent="0">
              <a:buNone/>
            </a:pPr>
            <a:r>
              <a:rPr lang="en-US" dirty="0"/>
              <a:t>}</a:t>
            </a:r>
          </a:p>
          <a:p>
            <a:pPr marL="0" indent="0">
              <a:buNone/>
            </a:pPr>
            <a:r>
              <a:rPr lang="pt-BR" dirty="0"/>
              <a:t>let r = new Rectangle(10, 15);</a:t>
            </a:r>
          </a:p>
          <a:p>
            <a:pPr marL="0" indent="0">
              <a:buNone/>
            </a:pPr>
            <a:r>
              <a:rPr lang="pt-BR" dirty="0"/>
              <a:t>console.log(r.area); //150</a:t>
            </a:r>
          </a:p>
          <a:p>
            <a:pPr marL="0" indent="0">
              <a:buNone/>
            </a:pPr>
            <a:r>
              <a:rPr lang="pt-BR" dirty="0"/>
              <a:t>r.square = 20;  </a:t>
            </a:r>
            <a:r>
              <a:rPr lang="pt-BR" b="1" dirty="0"/>
              <a:t>//This assignment puts 20 into parameter x</a:t>
            </a:r>
          </a:p>
          <a:p>
            <a:pPr marL="0" indent="0">
              <a:buNone/>
            </a:pPr>
            <a:r>
              <a:rPr lang="pt-BR" dirty="0"/>
              <a:t>console.log(r.area); //400</a:t>
            </a:r>
            <a:endParaRPr lang="en-US" dirty="0"/>
          </a:p>
        </p:txBody>
      </p:sp>
    </p:spTree>
    <p:extLst>
      <p:ext uri="{BB962C8B-B14F-4D97-AF65-F5344CB8AC3E}">
        <p14:creationId xmlns:p14="http://schemas.microsoft.com/office/powerpoint/2010/main" val="74943943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A76BB-B873-48B9-73D2-695230E28451}"/>
              </a:ext>
            </a:extLst>
          </p:cNvPr>
          <p:cNvSpPr>
            <a:spLocks noGrp="1"/>
          </p:cNvSpPr>
          <p:nvPr>
            <p:ph type="title"/>
          </p:nvPr>
        </p:nvSpPr>
        <p:spPr>
          <a:xfrm>
            <a:off x="1066800" y="205245"/>
            <a:ext cx="10058400" cy="961109"/>
          </a:xfrm>
        </p:spPr>
        <p:txBody>
          <a:bodyPr/>
          <a:lstStyle/>
          <a:p>
            <a:r>
              <a:rPr lang="en-US" dirty="0"/>
              <a:t>Multiple parameter setters</a:t>
            </a:r>
          </a:p>
        </p:txBody>
      </p:sp>
      <p:sp>
        <p:nvSpPr>
          <p:cNvPr id="3" name="Content Placeholder 2">
            <a:extLst>
              <a:ext uri="{FF2B5EF4-FFF2-40B4-BE49-F238E27FC236}">
                <a16:creationId xmlns:a16="http://schemas.microsoft.com/office/drawing/2014/main" id="{41093F77-041B-BCBC-86C2-746E4DB7BF69}"/>
              </a:ext>
            </a:extLst>
          </p:cNvPr>
          <p:cNvSpPr>
            <a:spLocks noGrp="1"/>
          </p:cNvSpPr>
          <p:nvPr>
            <p:ph idx="1"/>
          </p:nvPr>
        </p:nvSpPr>
        <p:spPr>
          <a:xfrm>
            <a:off x="1066800" y="1491214"/>
            <a:ext cx="10058400" cy="4050792"/>
          </a:xfrm>
        </p:spPr>
        <p:txBody>
          <a:bodyPr>
            <a:normAutofit/>
          </a:bodyPr>
          <a:lstStyle/>
          <a:p>
            <a:r>
              <a:rPr lang="en-US" dirty="0"/>
              <a:t>Setters with multiple parameters are not possible.</a:t>
            </a:r>
          </a:p>
          <a:p>
            <a:r>
              <a:rPr lang="en-US" dirty="0"/>
              <a:t>You can pass a single object with multiple fields.</a:t>
            </a:r>
          </a:p>
          <a:p>
            <a:pPr marL="0" indent="0">
              <a:buNone/>
            </a:pPr>
            <a:r>
              <a:rPr lang="en-US" dirty="0"/>
              <a:t> </a:t>
            </a:r>
            <a:r>
              <a:rPr lang="en-US" dirty="0">
                <a:latin typeface="Courier New" panose="02070309020205020404" pitchFamily="49" charset="0"/>
                <a:cs typeface="Courier New" panose="02070309020205020404" pitchFamily="49" charset="0"/>
              </a:rPr>
              <a:t>	set size({width, height}) {</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this.width</a:t>
            </a:r>
            <a:r>
              <a:rPr lang="en-US" dirty="0">
                <a:latin typeface="Courier New" panose="02070309020205020404" pitchFamily="49" charset="0"/>
                <a:cs typeface="Courier New" panose="02070309020205020404" pitchFamily="49" charset="0"/>
              </a:rPr>
              <a:t> = width;</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this.height</a:t>
            </a:r>
            <a:r>
              <a:rPr lang="en-US" dirty="0">
                <a:latin typeface="Courier New" panose="02070309020205020404" pitchFamily="49" charset="0"/>
                <a:cs typeface="Courier New" panose="02070309020205020404" pitchFamily="49" charset="0"/>
              </a:rPr>
              <a:t> = height;</a:t>
            </a:r>
          </a:p>
          <a:p>
            <a:pPr marL="0" indent="0">
              <a:buNone/>
            </a:pPr>
            <a:r>
              <a:rPr lang="en-US" dirty="0">
                <a:latin typeface="Courier New" panose="02070309020205020404" pitchFamily="49" charset="0"/>
                <a:cs typeface="Courier New" panose="02070309020205020404" pitchFamily="49" charset="0"/>
              </a:rPr>
              <a:t>	  }</a:t>
            </a:r>
          </a:p>
          <a:p>
            <a:pPr marL="0" indent="0">
              <a:buNone/>
            </a:pPr>
            <a:r>
              <a:rPr lang="en-US" dirty="0"/>
              <a:t>Use it like this:</a:t>
            </a:r>
          </a:p>
          <a:p>
            <a:pPr marL="0" indent="0">
              <a:buNone/>
            </a:pPr>
            <a:r>
              <a:rPr lang="en-US" dirty="0"/>
              <a:t>	</a:t>
            </a:r>
            <a:r>
              <a:rPr lang="en-US" dirty="0" err="1">
                <a:latin typeface="Courier New" panose="02070309020205020404" pitchFamily="49" charset="0"/>
                <a:cs typeface="Courier New" panose="02070309020205020404" pitchFamily="49" charset="0"/>
              </a:rPr>
              <a:t>this.size</a:t>
            </a:r>
            <a:r>
              <a:rPr lang="en-US" dirty="0">
                <a:latin typeface="Courier New" panose="02070309020205020404" pitchFamily="49" charset="0"/>
                <a:cs typeface="Courier New" panose="02070309020205020404" pitchFamily="49" charset="0"/>
              </a:rPr>
              <a:t> = {width: 800, height: 600};</a:t>
            </a:r>
          </a:p>
        </p:txBody>
      </p:sp>
    </p:spTree>
    <p:extLst>
      <p:ext uri="{BB962C8B-B14F-4D97-AF65-F5344CB8AC3E}">
        <p14:creationId xmlns:p14="http://schemas.microsoft.com/office/powerpoint/2010/main" val="294409972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7C03B-536B-4698-9373-07BCA23CB364}"/>
              </a:ext>
            </a:extLst>
          </p:cNvPr>
          <p:cNvSpPr>
            <a:spLocks noGrp="1"/>
          </p:cNvSpPr>
          <p:nvPr>
            <p:ph type="title"/>
          </p:nvPr>
        </p:nvSpPr>
        <p:spPr/>
        <p:txBody>
          <a:bodyPr/>
          <a:lstStyle/>
          <a:p>
            <a:r>
              <a:rPr lang="en-US" dirty="0"/>
              <a:t>Class hoisting or lack of</a:t>
            </a:r>
          </a:p>
        </p:txBody>
      </p:sp>
      <p:sp>
        <p:nvSpPr>
          <p:cNvPr id="3" name="Content Placeholder 2">
            <a:extLst>
              <a:ext uri="{FF2B5EF4-FFF2-40B4-BE49-F238E27FC236}">
                <a16:creationId xmlns:a16="http://schemas.microsoft.com/office/drawing/2014/main" id="{8456248C-2178-47A3-9DD7-2C96AD778F09}"/>
              </a:ext>
            </a:extLst>
          </p:cNvPr>
          <p:cNvSpPr>
            <a:spLocks noGrp="1"/>
          </p:cNvSpPr>
          <p:nvPr>
            <p:ph idx="1"/>
          </p:nvPr>
        </p:nvSpPr>
        <p:spPr>
          <a:xfrm>
            <a:off x="1066800" y="1749269"/>
            <a:ext cx="10058400" cy="4050792"/>
          </a:xfrm>
        </p:spPr>
        <p:txBody>
          <a:bodyPr/>
          <a:lstStyle/>
          <a:p>
            <a:endParaRPr lang="en-US" dirty="0"/>
          </a:p>
          <a:p>
            <a:r>
              <a:rPr lang="en-US" dirty="0"/>
              <a:t>An important difference between function declarations and class declarations is that function declarations are hoisted, </a:t>
            </a:r>
            <a:r>
              <a:rPr lang="en-US" b="1" dirty="0"/>
              <a:t>and class declarations are not</a:t>
            </a:r>
            <a:r>
              <a:rPr lang="en-US" dirty="0"/>
              <a:t>. You first need to declare your class and then access it, otherwise code like the following will throw a </a:t>
            </a:r>
            <a:r>
              <a:rPr lang="en-US" dirty="0" err="1"/>
              <a:t>ReferenceError</a:t>
            </a:r>
            <a:r>
              <a:rPr lang="en-US" dirty="0"/>
              <a:t>:</a:t>
            </a:r>
          </a:p>
          <a:p>
            <a:pPr marL="0" indent="0">
              <a:buNone/>
            </a:pPr>
            <a:endParaRPr lang="en-US" dirty="0"/>
          </a:p>
          <a:p>
            <a:pPr marL="0" indent="0">
              <a:buNone/>
            </a:pPr>
            <a:r>
              <a:rPr lang="en-US" dirty="0"/>
              <a:t>	const p = new Rectangle(); // </a:t>
            </a:r>
            <a:r>
              <a:rPr lang="en-US" dirty="0" err="1"/>
              <a:t>ReferenceError</a:t>
            </a:r>
            <a:endParaRPr lang="en-US" dirty="0"/>
          </a:p>
          <a:p>
            <a:pPr marL="0" indent="0">
              <a:buNone/>
            </a:pPr>
            <a:r>
              <a:rPr lang="en-US" dirty="0"/>
              <a:t>	class Rectangle {} //Not hoisted.  Must come first.</a:t>
            </a:r>
          </a:p>
        </p:txBody>
      </p:sp>
    </p:spTree>
    <p:extLst>
      <p:ext uri="{BB962C8B-B14F-4D97-AF65-F5344CB8AC3E}">
        <p14:creationId xmlns:p14="http://schemas.microsoft.com/office/powerpoint/2010/main" val="401145294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57672-ED53-4F5C-82B0-C37D7D8FB6E2}"/>
              </a:ext>
            </a:extLst>
          </p:cNvPr>
          <p:cNvSpPr>
            <a:spLocks noGrp="1"/>
          </p:cNvSpPr>
          <p:nvPr>
            <p:ph type="title"/>
          </p:nvPr>
        </p:nvSpPr>
        <p:spPr/>
        <p:txBody>
          <a:bodyPr/>
          <a:lstStyle/>
          <a:p>
            <a:r>
              <a:rPr lang="en-US" dirty="0"/>
              <a:t>Class expressions (weird)</a:t>
            </a:r>
          </a:p>
        </p:txBody>
      </p:sp>
      <p:sp>
        <p:nvSpPr>
          <p:cNvPr id="3" name="Content Placeholder 2">
            <a:extLst>
              <a:ext uri="{FF2B5EF4-FFF2-40B4-BE49-F238E27FC236}">
                <a16:creationId xmlns:a16="http://schemas.microsoft.com/office/drawing/2014/main" id="{D1AE7874-ABED-41C0-AB8D-1BDC6B023BEB}"/>
              </a:ext>
            </a:extLst>
          </p:cNvPr>
          <p:cNvSpPr>
            <a:spLocks noGrp="1"/>
          </p:cNvSpPr>
          <p:nvPr>
            <p:ph idx="1"/>
          </p:nvPr>
        </p:nvSpPr>
        <p:spPr/>
        <p:txBody>
          <a:bodyPr/>
          <a:lstStyle/>
          <a:p>
            <a:pPr marL="0" indent="0">
              <a:buNone/>
            </a:pPr>
            <a:r>
              <a:rPr lang="en-US" dirty="0"/>
              <a:t>// unnamed – Why?  Just use class normally.</a:t>
            </a:r>
          </a:p>
          <a:p>
            <a:pPr marL="0" indent="0">
              <a:buNone/>
            </a:pPr>
            <a:r>
              <a:rPr lang="en-US" dirty="0"/>
              <a:t>let Rectangle = class {</a:t>
            </a:r>
          </a:p>
          <a:p>
            <a:pPr marL="0" indent="0">
              <a:buNone/>
            </a:pPr>
            <a:r>
              <a:rPr lang="en-US" dirty="0"/>
              <a:t>  constructor(height, width) {</a:t>
            </a:r>
          </a:p>
          <a:p>
            <a:pPr marL="0" indent="0">
              <a:buNone/>
            </a:pPr>
            <a:r>
              <a:rPr lang="en-US" dirty="0"/>
              <a:t>    </a:t>
            </a:r>
            <a:r>
              <a:rPr lang="en-US" dirty="0" err="1"/>
              <a:t>this.height</a:t>
            </a:r>
            <a:r>
              <a:rPr lang="en-US" dirty="0"/>
              <a:t> = height;</a:t>
            </a:r>
          </a:p>
          <a:p>
            <a:pPr marL="0" indent="0">
              <a:buNone/>
            </a:pPr>
            <a:r>
              <a:rPr lang="en-US" dirty="0"/>
              <a:t>   </a:t>
            </a:r>
            <a:r>
              <a:rPr lang="en-US" dirty="0" err="1"/>
              <a:t>this.width</a:t>
            </a:r>
            <a:r>
              <a:rPr lang="en-US" dirty="0"/>
              <a:t> = width;</a:t>
            </a:r>
          </a:p>
          <a:p>
            <a:pPr marL="0" indent="0">
              <a:buNone/>
            </a:pPr>
            <a:r>
              <a:rPr lang="en-US" dirty="0"/>
              <a:t>  }</a:t>
            </a:r>
          </a:p>
          <a:p>
            <a:pPr marL="0" indent="0">
              <a:buNone/>
            </a:pPr>
            <a:r>
              <a:rPr lang="en-US" dirty="0"/>
              <a:t>};</a:t>
            </a:r>
          </a:p>
          <a:p>
            <a:pPr marL="0" indent="0">
              <a:buNone/>
            </a:pPr>
            <a:r>
              <a:rPr lang="en-US" dirty="0" err="1"/>
              <a:t>console.log</a:t>
            </a:r>
            <a:r>
              <a:rPr lang="en-US" dirty="0"/>
              <a:t>(</a:t>
            </a:r>
            <a:r>
              <a:rPr lang="en-US" dirty="0" err="1"/>
              <a:t>Rectangle.name</a:t>
            </a:r>
            <a:r>
              <a:rPr lang="en-US" dirty="0"/>
              <a:t>);</a:t>
            </a:r>
          </a:p>
          <a:p>
            <a:pPr marL="0" indent="0">
              <a:buNone/>
            </a:pPr>
            <a:r>
              <a:rPr lang="en-US" dirty="0"/>
              <a:t>// output: "Rectangle"</a:t>
            </a:r>
          </a:p>
        </p:txBody>
      </p:sp>
    </p:spTree>
    <p:extLst>
      <p:ext uri="{BB962C8B-B14F-4D97-AF65-F5344CB8AC3E}">
        <p14:creationId xmlns:p14="http://schemas.microsoft.com/office/powerpoint/2010/main" val="173333382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A51C1-C679-4E76-9714-70A4522B3D3B}"/>
              </a:ext>
            </a:extLst>
          </p:cNvPr>
          <p:cNvSpPr>
            <a:spLocks noGrp="1"/>
          </p:cNvSpPr>
          <p:nvPr>
            <p:ph type="title"/>
          </p:nvPr>
        </p:nvSpPr>
        <p:spPr>
          <a:xfrm>
            <a:off x="1069848" y="0"/>
            <a:ext cx="10058400" cy="1609344"/>
          </a:xfrm>
        </p:spPr>
        <p:txBody>
          <a:bodyPr/>
          <a:lstStyle/>
          <a:p>
            <a:r>
              <a:rPr lang="en-US" dirty="0"/>
              <a:t>Class body</a:t>
            </a:r>
          </a:p>
        </p:txBody>
      </p:sp>
      <p:sp>
        <p:nvSpPr>
          <p:cNvPr id="3" name="Content Placeholder 2">
            <a:extLst>
              <a:ext uri="{FF2B5EF4-FFF2-40B4-BE49-F238E27FC236}">
                <a16:creationId xmlns:a16="http://schemas.microsoft.com/office/drawing/2014/main" id="{813552F3-E9A6-4D79-ABCA-3D23B11C3BDE}"/>
              </a:ext>
            </a:extLst>
          </p:cNvPr>
          <p:cNvSpPr>
            <a:spLocks noGrp="1"/>
          </p:cNvSpPr>
          <p:nvPr>
            <p:ph idx="1"/>
          </p:nvPr>
        </p:nvSpPr>
        <p:spPr>
          <a:xfrm>
            <a:off x="1069848" y="1433015"/>
            <a:ext cx="10058400" cy="4739185"/>
          </a:xfrm>
        </p:spPr>
        <p:txBody>
          <a:bodyPr>
            <a:normAutofit/>
          </a:bodyPr>
          <a:lstStyle/>
          <a:p>
            <a:r>
              <a:rPr lang="en-US" dirty="0"/>
              <a:t>Strict mode (default for class descriptions without even specifying this mode.)</a:t>
            </a:r>
          </a:p>
          <a:p>
            <a:pPr lvl="1"/>
            <a:r>
              <a:rPr lang="en-US" dirty="0"/>
              <a:t>The body of a class is executed in strict mode, i.e., code written here is subject to stricter syntax for increased performance, some otherwise silent errors will be thrown, and certain keywords are reserved for future versions of ECMAScript.</a:t>
            </a:r>
          </a:p>
          <a:p>
            <a:endParaRPr lang="en-US" dirty="0"/>
          </a:p>
          <a:p>
            <a:r>
              <a:rPr lang="en-US" dirty="0"/>
              <a:t>Constructor</a:t>
            </a:r>
          </a:p>
          <a:p>
            <a:pPr lvl="1"/>
            <a:r>
              <a:rPr lang="en-US" dirty="0"/>
              <a:t>The constructor method is a special method for creating and initializing an object created with a class. There can only be one special method with the name "constructor" in a class. A </a:t>
            </a:r>
            <a:r>
              <a:rPr lang="en-US" dirty="0" err="1"/>
              <a:t>SyntaxError</a:t>
            </a:r>
            <a:r>
              <a:rPr lang="en-US" dirty="0"/>
              <a:t> will be thrown if the class contains more than one occurrence of a constructor method.</a:t>
            </a:r>
          </a:p>
          <a:p>
            <a:endParaRPr lang="en-US" dirty="0"/>
          </a:p>
          <a:p>
            <a:r>
              <a:rPr lang="en-US" dirty="0"/>
              <a:t>A constructor can use the </a:t>
            </a:r>
            <a:r>
              <a:rPr lang="en-US" b="1" dirty="0"/>
              <a:t>super</a:t>
            </a:r>
            <a:r>
              <a:rPr lang="en-US" dirty="0"/>
              <a:t> keyword to call the constructor of the super class.  See inheritance later.</a:t>
            </a:r>
          </a:p>
        </p:txBody>
      </p:sp>
    </p:spTree>
    <p:extLst>
      <p:ext uri="{BB962C8B-B14F-4D97-AF65-F5344CB8AC3E}">
        <p14:creationId xmlns:p14="http://schemas.microsoft.com/office/powerpoint/2010/main" val="331428653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73E20-2A7E-4CDB-8602-A65CA7DA4A47}"/>
              </a:ext>
            </a:extLst>
          </p:cNvPr>
          <p:cNvSpPr>
            <a:spLocks noGrp="1"/>
          </p:cNvSpPr>
          <p:nvPr>
            <p:ph type="title"/>
          </p:nvPr>
        </p:nvSpPr>
        <p:spPr/>
        <p:txBody>
          <a:bodyPr/>
          <a:lstStyle/>
          <a:p>
            <a:r>
              <a:rPr lang="en-US" dirty="0"/>
              <a:t>private fields</a:t>
            </a:r>
          </a:p>
        </p:txBody>
      </p:sp>
      <p:sp>
        <p:nvSpPr>
          <p:cNvPr id="3" name="Content Placeholder 2">
            <a:extLst>
              <a:ext uri="{FF2B5EF4-FFF2-40B4-BE49-F238E27FC236}">
                <a16:creationId xmlns:a16="http://schemas.microsoft.com/office/drawing/2014/main" id="{286FCAF7-5005-461C-A90C-D2D448FC9A04}"/>
              </a:ext>
            </a:extLst>
          </p:cNvPr>
          <p:cNvSpPr>
            <a:spLocks noGrp="1"/>
          </p:cNvSpPr>
          <p:nvPr>
            <p:ph idx="1"/>
          </p:nvPr>
        </p:nvSpPr>
        <p:spPr/>
        <p:txBody>
          <a:bodyPr>
            <a:normAutofit lnSpcReduction="10000"/>
          </a:bodyPr>
          <a:lstStyle/>
          <a:p>
            <a:pPr marL="0" indent="0">
              <a:buNone/>
            </a:pPr>
            <a:r>
              <a:rPr lang="en-US" dirty="0"/>
              <a:t>class Rectangle {</a:t>
            </a:r>
          </a:p>
          <a:p>
            <a:pPr marL="0" indent="0">
              <a:buNone/>
            </a:pPr>
            <a:r>
              <a:rPr lang="en-US" dirty="0"/>
              <a:t>  #height = 0;</a:t>
            </a:r>
          </a:p>
          <a:p>
            <a:pPr marL="0" indent="0">
              <a:buNone/>
            </a:pPr>
            <a:r>
              <a:rPr lang="en-US" dirty="0"/>
              <a:t>  #width;</a:t>
            </a:r>
          </a:p>
          <a:p>
            <a:pPr marL="0" indent="0">
              <a:buNone/>
            </a:pPr>
            <a:r>
              <a:rPr lang="en-US" dirty="0"/>
              <a:t>  constructor(height, width) {    </a:t>
            </a:r>
          </a:p>
          <a:p>
            <a:pPr marL="0" indent="0">
              <a:buNone/>
            </a:pPr>
            <a:r>
              <a:rPr lang="en-US" dirty="0"/>
              <a:t>    </a:t>
            </a:r>
            <a:r>
              <a:rPr lang="en-US" dirty="0" err="1"/>
              <a:t>this.#height</a:t>
            </a:r>
            <a:r>
              <a:rPr lang="en-US" dirty="0"/>
              <a:t> = height;</a:t>
            </a:r>
          </a:p>
          <a:p>
            <a:pPr marL="0" indent="0">
              <a:buNone/>
            </a:pPr>
            <a:r>
              <a:rPr lang="en-US" dirty="0"/>
              <a:t>    </a:t>
            </a:r>
            <a:r>
              <a:rPr lang="en-US" dirty="0" err="1"/>
              <a:t>this.#width</a:t>
            </a:r>
            <a:r>
              <a:rPr lang="en-US" dirty="0"/>
              <a:t> = width;</a:t>
            </a:r>
          </a:p>
          <a:p>
            <a:pPr marL="0" indent="0">
              <a:buNone/>
            </a:pPr>
            <a:r>
              <a:rPr lang="en-US" dirty="0"/>
              <a:t>  }</a:t>
            </a:r>
          </a:p>
          <a:p>
            <a:pPr marL="0" indent="0">
              <a:buNone/>
            </a:pPr>
            <a:r>
              <a:rPr lang="en-US" dirty="0"/>
              <a:t>}</a:t>
            </a:r>
          </a:p>
          <a:p>
            <a:r>
              <a:rPr lang="en-US" dirty="0"/>
              <a:t>Private fields cannot be created later through assigning to them, the way that normal properties can.</a:t>
            </a:r>
          </a:p>
        </p:txBody>
      </p:sp>
    </p:spTree>
    <p:extLst>
      <p:ext uri="{BB962C8B-B14F-4D97-AF65-F5344CB8AC3E}">
        <p14:creationId xmlns:p14="http://schemas.microsoft.com/office/powerpoint/2010/main" val="426746576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Are classes useful?</a:t>
            </a:r>
          </a:p>
        </p:txBody>
      </p:sp>
      <p:sp>
        <p:nvSpPr>
          <p:cNvPr id="3" name="Content Placeholder 2"/>
          <p:cNvSpPr>
            <a:spLocks noGrp="1"/>
          </p:cNvSpPr>
          <p:nvPr>
            <p:ph idx="1"/>
          </p:nvPr>
        </p:nvSpPr>
        <p:spPr/>
        <p:txBody>
          <a:bodyPr/>
          <a:lstStyle/>
          <a:p>
            <a:r>
              <a:rPr lang="en-US" dirty="0"/>
              <a:t>The CLASS keyword was added to make JavaScript more familiar to people from object-oriented languages.</a:t>
            </a:r>
          </a:p>
          <a:p>
            <a:r>
              <a:rPr lang="en-US" dirty="0"/>
              <a:t>Classes are a wrapper to create objects, but the objects are still JavaScript objects underneath with all the flaws and oddities that JavaScript implies.</a:t>
            </a:r>
          </a:p>
          <a:p>
            <a:r>
              <a:rPr lang="en-US" dirty="0"/>
              <a:t>Traditional JavaScript programmers dislike the CLASS keyword. </a:t>
            </a:r>
          </a:p>
          <a:p>
            <a:r>
              <a:rPr lang="en-US" dirty="0"/>
              <a:t>If you understand those oddities, creating objects using CLASS is perfectly valid and a matter of preference.</a:t>
            </a:r>
          </a:p>
        </p:txBody>
      </p:sp>
    </p:spTree>
    <p:extLst>
      <p:ext uri="{BB962C8B-B14F-4D97-AF65-F5344CB8AC3E}">
        <p14:creationId xmlns:p14="http://schemas.microsoft.com/office/powerpoint/2010/main" val="402892999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69848" y="0"/>
            <a:ext cx="10058400" cy="1609344"/>
          </a:xfrm>
        </p:spPr>
        <p:txBody>
          <a:bodyPr/>
          <a:lstStyle/>
          <a:p>
            <a:r>
              <a:rPr lang="en-US" dirty="0"/>
              <a:t>closures</a:t>
            </a:r>
          </a:p>
        </p:txBody>
      </p:sp>
      <p:sp>
        <p:nvSpPr>
          <p:cNvPr id="3" name="Content Placeholder 2"/>
          <p:cNvSpPr>
            <a:spLocks noGrp="1"/>
          </p:cNvSpPr>
          <p:nvPr>
            <p:ph idx="1"/>
          </p:nvPr>
        </p:nvSpPr>
        <p:spPr>
          <a:xfrm>
            <a:off x="1069848" y="1403498"/>
            <a:ext cx="10058400" cy="4768702"/>
          </a:xfrm>
        </p:spPr>
        <p:txBody>
          <a:bodyPr>
            <a:normAutofit fontScale="92500" lnSpcReduction="10000"/>
          </a:bodyPr>
          <a:lstStyle/>
          <a:p>
            <a:r>
              <a:rPr lang="en-US" dirty="0"/>
              <a:t>A discussion of JavaScript wouldn't be complete without a discussion of closures.</a:t>
            </a:r>
          </a:p>
          <a:p>
            <a:r>
              <a:rPr lang="en-US" dirty="0"/>
              <a:t>Functions in languages like Java, C, C++ are stack based.  When you call a function, local variables and parameters are pushed onto a stack.</a:t>
            </a:r>
          </a:p>
          <a:p>
            <a:r>
              <a:rPr lang="en-US" dirty="0"/>
              <a:t>When you exit the function, the data is popped off of the stack and the variables are essentially lost.</a:t>
            </a:r>
          </a:p>
          <a:p>
            <a:r>
              <a:rPr lang="en-US" dirty="0"/>
              <a:t>In JavaScript, when you call a function, an area called a closure gets created on the heap for storage of parameters and local variables.  </a:t>
            </a:r>
          </a:p>
          <a:p>
            <a:r>
              <a:rPr lang="en-US" dirty="0"/>
              <a:t>A garbage collector is responsible for reclaiming the space.  If there are any references to the space remaining, then the variables still exist even if the function finished running.</a:t>
            </a:r>
          </a:p>
          <a:p>
            <a:r>
              <a:rPr lang="en-US" dirty="0"/>
              <a:t>A closure is simply a function and its lexical storage environment.</a:t>
            </a:r>
          </a:p>
          <a:p>
            <a:r>
              <a:rPr lang="en-US" dirty="0"/>
              <a:t>There is some confusion in online documentation as to exactly what a closure is in JavaScript.  ALL FUNCTIONS IN JAVASCRIPT FORM CLOSURES.  </a:t>
            </a:r>
          </a:p>
          <a:p>
            <a:r>
              <a:rPr lang="en-US" dirty="0"/>
              <a:t>There are some special cases where closures can help out and sometimes only these special cases are called closures in online documentation.  </a:t>
            </a:r>
          </a:p>
        </p:txBody>
      </p:sp>
    </p:spTree>
    <p:extLst>
      <p:ext uri="{BB962C8B-B14F-4D97-AF65-F5344CB8AC3E}">
        <p14:creationId xmlns:p14="http://schemas.microsoft.com/office/powerpoint/2010/main" val="260042884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B73A7-2FE2-494B-A575-B1CEC230EE04}"/>
              </a:ext>
            </a:extLst>
          </p:cNvPr>
          <p:cNvSpPr>
            <a:spLocks noGrp="1"/>
          </p:cNvSpPr>
          <p:nvPr>
            <p:ph type="title"/>
          </p:nvPr>
        </p:nvSpPr>
        <p:spPr>
          <a:xfrm>
            <a:off x="1066800" y="1"/>
            <a:ext cx="10058400" cy="1222744"/>
          </a:xfrm>
        </p:spPr>
        <p:txBody>
          <a:bodyPr/>
          <a:lstStyle/>
          <a:p>
            <a:r>
              <a:rPr lang="en-US" dirty="0"/>
              <a:t>Private data with closures</a:t>
            </a:r>
          </a:p>
        </p:txBody>
      </p:sp>
      <p:sp>
        <p:nvSpPr>
          <p:cNvPr id="3" name="Content Placeholder 2">
            <a:extLst>
              <a:ext uri="{FF2B5EF4-FFF2-40B4-BE49-F238E27FC236}">
                <a16:creationId xmlns:a16="http://schemas.microsoft.com/office/drawing/2014/main" id="{8BCC9834-8ED9-4DF4-B610-5D09C5F671D7}"/>
              </a:ext>
            </a:extLst>
          </p:cNvPr>
          <p:cNvSpPr>
            <a:spLocks noGrp="1"/>
          </p:cNvSpPr>
          <p:nvPr>
            <p:ph idx="1"/>
          </p:nvPr>
        </p:nvSpPr>
        <p:spPr>
          <a:xfrm>
            <a:off x="1552352" y="1073889"/>
            <a:ext cx="9271591" cy="5399752"/>
          </a:xfrm>
        </p:spPr>
        <p:txBody>
          <a:bodyPr>
            <a:normAutofit fontScale="85000" lnSpcReduction="20000"/>
          </a:bodyPr>
          <a:lstStyle/>
          <a:p>
            <a:pPr marL="0" indent="0">
              <a:buNone/>
            </a:pPr>
            <a:r>
              <a:rPr lang="pt-BR" dirty="0"/>
              <a:t>	const Person = (function() {</a:t>
            </a:r>
          </a:p>
          <a:p>
            <a:pPr marL="0" indent="0">
              <a:buNone/>
            </a:pPr>
            <a:r>
              <a:rPr lang="pt-BR" dirty="0"/>
              <a:t>	    function Person(</a:t>
            </a:r>
            <a:r>
              <a:rPr lang="pt-BR" dirty="0">
                <a:solidFill>
                  <a:srgbClr val="FF0000"/>
                </a:solidFill>
              </a:rPr>
              <a:t>name</a:t>
            </a:r>
            <a:r>
              <a:rPr lang="pt-BR" dirty="0"/>
              <a:t>) {</a:t>
            </a:r>
          </a:p>
          <a:p>
            <a:pPr marL="0" indent="0">
              <a:buNone/>
            </a:pPr>
            <a:r>
              <a:rPr lang="pt-BR" dirty="0"/>
              <a:t>	        this.getName = function() {</a:t>
            </a:r>
          </a:p>
          <a:p>
            <a:pPr marL="0" indent="0">
              <a:buNone/>
            </a:pPr>
            <a:r>
              <a:rPr lang="pt-BR" dirty="0"/>
              <a:t>	            return name;</a:t>
            </a:r>
          </a:p>
          <a:p>
            <a:pPr marL="0" indent="0">
              <a:buNone/>
            </a:pPr>
            <a:r>
              <a:rPr lang="pt-BR" dirty="0"/>
              <a:t>	        };</a:t>
            </a:r>
          </a:p>
          <a:p>
            <a:pPr marL="0" indent="0">
              <a:buNone/>
            </a:pPr>
            <a:r>
              <a:rPr lang="pt-BR" dirty="0"/>
              <a:t>	    }</a:t>
            </a:r>
          </a:p>
          <a:p>
            <a:pPr marL="0" indent="0">
              <a:buNone/>
            </a:pPr>
            <a:r>
              <a:rPr lang="pt-BR" dirty="0"/>
              <a:t>	    return Person;</a:t>
            </a:r>
          </a:p>
          <a:p>
            <a:pPr marL="0" indent="0">
              <a:buNone/>
            </a:pPr>
            <a:r>
              <a:rPr lang="pt-BR" dirty="0"/>
              <a:t>	})();</a:t>
            </a:r>
          </a:p>
          <a:p>
            <a:endParaRPr lang="pt-BR" dirty="0"/>
          </a:p>
          <a:p>
            <a:pPr marL="0" indent="0">
              <a:buNone/>
            </a:pPr>
            <a:r>
              <a:rPr lang="pt-BR" dirty="0"/>
              <a:t>	const p = new Person('John');</a:t>
            </a:r>
          </a:p>
          <a:p>
            <a:pPr marL="0" indent="0">
              <a:buNone/>
            </a:pPr>
            <a:r>
              <a:rPr lang="pt-BR" dirty="0"/>
              <a:t>	print('Person 2 name: ' + p.getName());</a:t>
            </a:r>
          </a:p>
          <a:p>
            <a:pPr marL="0" indent="0">
              <a:buNone/>
            </a:pPr>
            <a:r>
              <a:rPr lang="pt-BR" dirty="0"/>
              <a:t>	delete p.</a:t>
            </a:r>
            <a:r>
              <a:rPr lang="pt-BR" dirty="0">
                <a:solidFill>
                  <a:srgbClr val="FF0000"/>
                </a:solidFill>
              </a:rPr>
              <a:t>name</a:t>
            </a:r>
            <a:r>
              <a:rPr lang="pt-BR" dirty="0"/>
              <a:t>;  //Name is NOT a member. It is a parameter.</a:t>
            </a:r>
          </a:p>
          <a:p>
            <a:pPr marL="0" indent="0">
              <a:buNone/>
            </a:pPr>
            <a:r>
              <a:rPr lang="pt-BR" dirty="0"/>
              <a:t>	print('Person 2 name: ' + p.getName() + ' stays private.'); </a:t>
            </a:r>
          </a:p>
          <a:p>
            <a:r>
              <a:rPr lang="en-US" dirty="0"/>
              <a:t>Since name is not a member it cannot be accessed with dot notation.</a:t>
            </a:r>
          </a:p>
          <a:p>
            <a:r>
              <a:rPr lang="en-US" dirty="0"/>
              <a:t>But name IS stored as part of the closure, and so, exists, while a pointer exists to </a:t>
            </a:r>
            <a:r>
              <a:rPr lang="en-US" dirty="0" err="1"/>
              <a:t>getName</a:t>
            </a:r>
            <a:endParaRPr lang="en-US" dirty="0"/>
          </a:p>
          <a:p>
            <a:r>
              <a:rPr lang="en-US" dirty="0"/>
              <a:t>So the method can access the data, but you can't directly access it from outside.</a:t>
            </a:r>
          </a:p>
        </p:txBody>
      </p:sp>
    </p:spTree>
    <p:extLst>
      <p:ext uri="{BB962C8B-B14F-4D97-AF65-F5344CB8AC3E}">
        <p14:creationId xmlns:p14="http://schemas.microsoft.com/office/powerpoint/2010/main" val="43247448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CB984B04-BB8B-B930-BD2B-78640DDB94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BB2790-0CE7-84BC-65EF-1313BDB320B2}"/>
              </a:ext>
            </a:extLst>
          </p:cNvPr>
          <p:cNvSpPr>
            <a:spLocks noGrp="1"/>
          </p:cNvSpPr>
          <p:nvPr>
            <p:ph type="title"/>
          </p:nvPr>
        </p:nvSpPr>
        <p:spPr>
          <a:xfrm>
            <a:off x="1066800" y="1"/>
            <a:ext cx="10058400" cy="1222744"/>
          </a:xfrm>
        </p:spPr>
        <p:txBody>
          <a:bodyPr/>
          <a:lstStyle/>
          <a:p>
            <a:r>
              <a:rPr lang="en-US" dirty="0"/>
              <a:t>Private data with closures</a:t>
            </a:r>
          </a:p>
        </p:txBody>
      </p:sp>
      <p:sp>
        <p:nvSpPr>
          <p:cNvPr id="3" name="Content Placeholder 2">
            <a:extLst>
              <a:ext uri="{FF2B5EF4-FFF2-40B4-BE49-F238E27FC236}">
                <a16:creationId xmlns:a16="http://schemas.microsoft.com/office/drawing/2014/main" id="{70EAAA91-844D-1585-93A0-C07AD63145EF}"/>
              </a:ext>
            </a:extLst>
          </p:cNvPr>
          <p:cNvSpPr>
            <a:spLocks noGrp="1"/>
          </p:cNvSpPr>
          <p:nvPr>
            <p:ph idx="1"/>
          </p:nvPr>
        </p:nvSpPr>
        <p:spPr>
          <a:xfrm>
            <a:off x="1552352" y="1073889"/>
            <a:ext cx="9271591" cy="5399752"/>
          </a:xfrm>
        </p:spPr>
        <p:txBody>
          <a:bodyPr>
            <a:normAutofit fontScale="85000" lnSpcReduction="20000"/>
          </a:bodyPr>
          <a:lstStyle/>
          <a:p>
            <a:pPr marL="0" indent="0">
              <a:lnSpc>
                <a:spcPct val="120000"/>
              </a:lnSpc>
              <a:spcBef>
                <a:spcPts val="0"/>
              </a:spcBef>
              <a:buNone/>
            </a:pPr>
            <a:r>
              <a:rPr lang="pt-BR" dirty="0">
                <a:latin typeface="Courier New" panose="02070309020205020404" pitchFamily="49" charset="0"/>
                <a:cs typeface="Courier New" panose="02070309020205020404" pitchFamily="49" charset="0"/>
              </a:rPr>
              <a:t> function person(name) {</a:t>
            </a:r>
          </a:p>
          <a:p>
            <a:pPr marL="0" indent="0">
              <a:lnSpc>
                <a:spcPct val="120000"/>
              </a:lnSpc>
              <a:spcBef>
                <a:spcPts val="0"/>
              </a:spcBef>
              <a:buNone/>
            </a:pPr>
            <a:r>
              <a:rPr lang="pt-BR" dirty="0">
                <a:latin typeface="Courier New" panose="02070309020205020404" pitchFamily="49" charset="0"/>
                <a:cs typeface="Courier New" panose="02070309020205020404" pitchFamily="49" charset="0"/>
              </a:rPr>
              <a:t>          return {</a:t>
            </a:r>
          </a:p>
          <a:p>
            <a:pPr marL="0" indent="0">
              <a:lnSpc>
                <a:spcPct val="120000"/>
              </a:lnSpc>
              <a:spcBef>
                <a:spcPts val="0"/>
              </a:spcBef>
              <a:buNone/>
            </a:pPr>
            <a:r>
              <a:rPr lang="pt-BR" dirty="0">
                <a:latin typeface="Courier New" panose="02070309020205020404" pitchFamily="49" charset="0"/>
                <a:cs typeface="Courier New" panose="02070309020205020404" pitchFamily="49" charset="0"/>
              </a:rPr>
              <a:t>            getName: function() {</a:t>
            </a:r>
          </a:p>
          <a:p>
            <a:pPr marL="0" indent="0">
              <a:lnSpc>
                <a:spcPct val="120000"/>
              </a:lnSpc>
              <a:spcBef>
                <a:spcPts val="0"/>
              </a:spcBef>
              <a:buNone/>
            </a:pPr>
            <a:r>
              <a:rPr lang="pt-BR" dirty="0">
                <a:latin typeface="Courier New" panose="02070309020205020404" pitchFamily="49" charset="0"/>
                <a:cs typeface="Courier New" panose="02070309020205020404" pitchFamily="49" charset="0"/>
              </a:rPr>
              <a:t>               return name;</a:t>
            </a:r>
          </a:p>
          <a:p>
            <a:pPr marL="0" indent="0">
              <a:lnSpc>
                <a:spcPct val="120000"/>
              </a:lnSpc>
              <a:spcBef>
                <a:spcPts val="0"/>
              </a:spcBef>
              <a:buNone/>
            </a:pPr>
            <a:r>
              <a:rPr lang="pt-BR" dirty="0">
                <a:latin typeface="Courier New" panose="02070309020205020404" pitchFamily="49" charset="0"/>
                <a:cs typeface="Courier New" panose="02070309020205020404" pitchFamily="49" charset="0"/>
              </a:rPr>
              <a:t>            },</a:t>
            </a:r>
          </a:p>
          <a:p>
            <a:pPr marL="0" indent="0">
              <a:lnSpc>
                <a:spcPct val="120000"/>
              </a:lnSpc>
              <a:spcBef>
                <a:spcPts val="0"/>
              </a:spcBef>
              <a:buNone/>
            </a:pPr>
            <a:r>
              <a:rPr lang="pt-BR" dirty="0">
                <a:latin typeface="Courier New" panose="02070309020205020404" pitchFamily="49" charset="0"/>
                <a:cs typeface="Courier New" panose="02070309020205020404" pitchFamily="49" charset="0"/>
              </a:rPr>
              <a:t>            setName: function (n) {</a:t>
            </a:r>
          </a:p>
          <a:p>
            <a:pPr marL="0" indent="0">
              <a:lnSpc>
                <a:spcPct val="120000"/>
              </a:lnSpc>
              <a:spcBef>
                <a:spcPts val="0"/>
              </a:spcBef>
              <a:buNone/>
            </a:pPr>
            <a:r>
              <a:rPr lang="pt-BR" dirty="0">
                <a:latin typeface="Courier New" panose="02070309020205020404" pitchFamily="49" charset="0"/>
                <a:cs typeface="Courier New" panose="02070309020205020404" pitchFamily="49" charset="0"/>
              </a:rPr>
              <a:t>              name = n;</a:t>
            </a:r>
          </a:p>
          <a:p>
            <a:pPr marL="0" indent="0">
              <a:lnSpc>
                <a:spcPct val="120000"/>
              </a:lnSpc>
              <a:spcBef>
                <a:spcPts val="0"/>
              </a:spcBef>
              <a:buNone/>
            </a:pPr>
            <a:r>
              <a:rPr lang="pt-BR" dirty="0">
                <a:latin typeface="Courier New" panose="02070309020205020404" pitchFamily="49" charset="0"/>
                <a:cs typeface="Courier New" panose="02070309020205020404" pitchFamily="49" charset="0"/>
              </a:rPr>
              <a:t>            }</a:t>
            </a:r>
          </a:p>
          <a:p>
            <a:pPr marL="0" indent="0">
              <a:lnSpc>
                <a:spcPct val="120000"/>
              </a:lnSpc>
              <a:spcBef>
                <a:spcPts val="0"/>
              </a:spcBef>
              <a:buNone/>
            </a:pPr>
            <a:r>
              <a:rPr lang="pt-BR" dirty="0">
                <a:latin typeface="Courier New" panose="02070309020205020404" pitchFamily="49" charset="0"/>
                <a:cs typeface="Courier New" panose="02070309020205020404" pitchFamily="49" charset="0"/>
              </a:rPr>
              <a:t>          }</a:t>
            </a:r>
          </a:p>
          <a:p>
            <a:pPr marL="0" indent="0">
              <a:lnSpc>
                <a:spcPct val="120000"/>
              </a:lnSpc>
              <a:spcBef>
                <a:spcPts val="0"/>
              </a:spcBef>
              <a:buNone/>
            </a:pPr>
            <a:r>
              <a:rPr lang="pt-BR" dirty="0">
                <a:latin typeface="Courier New" panose="02070309020205020404" pitchFamily="49" charset="0"/>
                <a:cs typeface="Courier New" panose="02070309020205020404" pitchFamily="49" charset="0"/>
              </a:rPr>
              <a:t>        }</a:t>
            </a:r>
          </a:p>
          <a:p>
            <a:pPr marL="0" indent="0">
              <a:lnSpc>
                <a:spcPct val="120000"/>
              </a:lnSpc>
              <a:spcBef>
                <a:spcPts val="0"/>
              </a:spcBef>
              <a:buNone/>
            </a:pPr>
            <a:r>
              <a:rPr lang="pt-BR" dirty="0">
                <a:latin typeface="Courier New" panose="02070309020205020404" pitchFamily="49" charset="0"/>
                <a:cs typeface="Courier New" panose="02070309020205020404" pitchFamily="49" charset="0"/>
              </a:rPr>
              <a:t>        const p = person("Bob");</a:t>
            </a:r>
          </a:p>
          <a:p>
            <a:pPr marL="0" indent="0">
              <a:lnSpc>
                <a:spcPct val="120000"/>
              </a:lnSpc>
              <a:spcBef>
                <a:spcPts val="0"/>
              </a:spcBef>
              <a:buNone/>
            </a:pPr>
            <a:r>
              <a:rPr lang="pt-BR" dirty="0">
                <a:latin typeface="Courier New" panose="02070309020205020404" pitchFamily="49" charset="0"/>
                <a:cs typeface="Courier New" panose="02070309020205020404" pitchFamily="49" charset="0"/>
              </a:rPr>
              <a:t>        console.log(p.getName()); 	//Prints Bob</a:t>
            </a:r>
          </a:p>
          <a:p>
            <a:pPr marL="0" indent="0">
              <a:lnSpc>
                <a:spcPct val="120000"/>
              </a:lnSpc>
              <a:spcBef>
                <a:spcPts val="0"/>
              </a:spcBef>
              <a:buNone/>
            </a:pPr>
            <a:r>
              <a:rPr lang="pt-BR" dirty="0">
                <a:latin typeface="Courier New" panose="02070309020205020404" pitchFamily="49" charset="0"/>
                <a:cs typeface="Courier New" panose="02070309020205020404" pitchFamily="49" charset="0"/>
              </a:rPr>
              <a:t>        p.setName("Jill");</a:t>
            </a:r>
          </a:p>
          <a:p>
            <a:pPr marL="0" indent="0">
              <a:lnSpc>
                <a:spcPct val="120000"/>
              </a:lnSpc>
              <a:spcBef>
                <a:spcPts val="0"/>
              </a:spcBef>
              <a:buNone/>
            </a:pPr>
            <a:r>
              <a:rPr lang="pt-BR" dirty="0">
                <a:latin typeface="Courier New" panose="02070309020205020404" pitchFamily="49" charset="0"/>
                <a:cs typeface="Courier New" panose="02070309020205020404" pitchFamily="49" charset="0"/>
              </a:rPr>
              <a:t>        console.log(p.getName()); 	//Prints Jill</a:t>
            </a:r>
          </a:p>
          <a:p>
            <a:pPr marL="0" indent="0">
              <a:lnSpc>
                <a:spcPct val="120000"/>
              </a:lnSpc>
              <a:spcBef>
                <a:spcPts val="0"/>
              </a:spcBef>
              <a:buNone/>
            </a:pPr>
            <a:r>
              <a:rPr lang="pt-BR" dirty="0">
                <a:latin typeface="Courier New" panose="02070309020205020404" pitchFamily="49" charset="0"/>
                <a:cs typeface="Courier New" panose="02070309020205020404" pitchFamily="49" charset="0"/>
              </a:rPr>
              <a:t>        console.log(p.name); 	//Prints undefined</a:t>
            </a:r>
          </a:p>
          <a:p>
            <a:r>
              <a:rPr lang="en-US" dirty="0"/>
              <a:t>Since name is not a member of the returned class, it cannot be accessed with dot notation.</a:t>
            </a:r>
          </a:p>
          <a:p>
            <a:r>
              <a:rPr lang="en-US" dirty="0"/>
              <a:t>But name IS stored as part of the closure which means it exists while a pointer exists to the returned class.</a:t>
            </a:r>
          </a:p>
          <a:p>
            <a:r>
              <a:rPr lang="en-US" dirty="0"/>
              <a:t>The method can access the data, but you can't directly access it from outside.</a:t>
            </a:r>
          </a:p>
        </p:txBody>
      </p:sp>
    </p:spTree>
    <p:extLst>
      <p:ext uri="{BB962C8B-B14F-4D97-AF65-F5344CB8AC3E}">
        <p14:creationId xmlns:p14="http://schemas.microsoft.com/office/powerpoint/2010/main" val="196314273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66800" y="0"/>
            <a:ext cx="10058400" cy="1609344"/>
          </a:xfrm>
        </p:spPr>
        <p:txBody>
          <a:bodyPr/>
          <a:lstStyle/>
          <a:p>
            <a:r>
              <a:rPr lang="en-US" dirty="0"/>
              <a:t>More closure weirdness</a:t>
            </a:r>
          </a:p>
        </p:txBody>
      </p:sp>
      <p:sp>
        <p:nvSpPr>
          <p:cNvPr id="4" name="TextBox 3"/>
          <p:cNvSpPr txBox="1"/>
          <p:nvPr/>
        </p:nvSpPr>
        <p:spPr>
          <a:xfrm>
            <a:off x="1537681" y="1609344"/>
            <a:ext cx="5192903" cy="4524315"/>
          </a:xfrm>
          <a:prstGeom prst="rect">
            <a:avLst/>
          </a:prstGeom>
          <a:noFill/>
        </p:spPr>
        <p:txBody>
          <a:bodyPr wrap="square" rtlCol="0">
            <a:spAutoFit/>
          </a:bodyPr>
          <a:lstStyle/>
          <a:p>
            <a:r>
              <a:rPr lang="en-US" sz="2400" dirty="0"/>
              <a:t>function </a:t>
            </a:r>
            <a:r>
              <a:rPr lang="en-US" sz="2400" dirty="0" err="1"/>
              <a:t>makeAdder</a:t>
            </a:r>
            <a:r>
              <a:rPr lang="en-US" sz="2400" dirty="0"/>
              <a:t>(x) {</a:t>
            </a:r>
          </a:p>
          <a:p>
            <a:r>
              <a:rPr lang="en-US" sz="2400" dirty="0"/>
              <a:t>  return function(y) {</a:t>
            </a:r>
          </a:p>
          <a:p>
            <a:r>
              <a:rPr lang="en-US" sz="2400" dirty="0"/>
              <a:t>    return x + y;</a:t>
            </a:r>
          </a:p>
          <a:p>
            <a:r>
              <a:rPr lang="en-US" sz="2400" dirty="0"/>
              <a:t>  };</a:t>
            </a:r>
          </a:p>
          <a:p>
            <a:r>
              <a:rPr lang="en-US" sz="2400" dirty="0"/>
              <a:t>}</a:t>
            </a:r>
          </a:p>
          <a:p>
            <a:endParaRPr lang="en-US" sz="2400" dirty="0"/>
          </a:p>
          <a:p>
            <a:r>
              <a:rPr lang="en-US" sz="2400" dirty="0"/>
              <a:t>let add5 = </a:t>
            </a:r>
            <a:r>
              <a:rPr lang="en-US" sz="2400" dirty="0" err="1"/>
              <a:t>makeAdder</a:t>
            </a:r>
            <a:r>
              <a:rPr lang="en-US" sz="2400" dirty="0"/>
              <a:t>(5);</a:t>
            </a:r>
          </a:p>
          <a:p>
            <a:r>
              <a:rPr lang="en-US" sz="2400" dirty="0"/>
              <a:t>let add10 = </a:t>
            </a:r>
            <a:r>
              <a:rPr lang="en-US" sz="2400" dirty="0" err="1"/>
              <a:t>makeAdder</a:t>
            </a:r>
            <a:r>
              <a:rPr lang="en-US" sz="2400" dirty="0"/>
              <a:t>(10);</a:t>
            </a:r>
          </a:p>
          <a:p>
            <a:endParaRPr lang="en-US" sz="2400" dirty="0"/>
          </a:p>
          <a:p>
            <a:r>
              <a:rPr lang="en-US" sz="2400" dirty="0"/>
              <a:t>console.log(add5(2));  // 7</a:t>
            </a:r>
          </a:p>
          <a:p>
            <a:r>
              <a:rPr lang="en-US" sz="2400" dirty="0"/>
              <a:t>console.log(add10(2)); // 12</a:t>
            </a:r>
          </a:p>
          <a:p>
            <a:r>
              <a:rPr lang="en-US" sz="2400" dirty="0"/>
              <a:t>//The parameter x gets saved</a:t>
            </a:r>
          </a:p>
        </p:txBody>
      </p:sp>
    </p:spTree>
    <p:extLst>
      <p:ext uri="{BB962C8B-B14F-4D97-AF65-F5344CB8AC3E}">
        <p14:creationId xmlns:p14="http://schemas.microsoft.com/office/powerpoint/2010/main" val="142619117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6D082-1A48-4BEE-AA2C-8E70BC46073F}"/>
              </a:ext>
            </a:extLst>
          </p:cNvPr>
          <p:cNvSpPr>
            <a:spLocks noGrp="1"/>
          </p:cNvSpPr>
          <p:nvPr>
            <p:ph type="title"/>
          </p:nvPr>
        </p:nvSpPr>
        <p:spPr>
          <a:xfrm>
            <a:off x="635184" y="186920"/>
            <a:ext cx="10058400" cy="738112"/>
          </a:xfrm>
        </p:spPr>
        <p:txBody>
          <a:bodyPr>
            <a:normAutofit fontScale="90000"/>
          </a:bodyPr>
          <a:lstStyle/>
          <a:p>
            <a:r>
              <a:rPr lang="en-US" dirty="0"/>
              <a:t>subclasses</a:t>
            </a:r>
          </a:p>
        </p:txBody>
      </p:sp>
      <p:sp>
        <p:nvSpPr>
          <p:cNvPr id="3" name="Content Placeholder 2">
            <a:extLst>
              <a:ext uri="{FF2B5EF4-FFF2-40B4-BE49-F238E27FC236}">
                <a16:creationId xmlns:a16="http://schemas.microsoft.com/office/drawing/2014/main" id="{54F7B2A7-B1A5-4298-8952-32576220BBB6}"/>
              </a:ext>
            </a:extLst>
          </p:cNvPr>
          <p:cNvSpPr>
            <a:spLocks noGrp="1"/>
          </p:cNvSpPr>
          <p:nvPr>
            <p:ph idx="1"/>
          </p:nvPr>
        </p:nvSpPr>
        <p:spPr>
          <a:xfrm>
            <a:off x="4089495" y="186920"/>
            <a:ext cx="7510626" cy="6288308"/>
          </a:xfrm>
        </p:spPr>
        <p:txBody>
          <a:bodyPr>
            <a:normAutofit fontScale="85000" lnSpcReduction="20000"/>
          </a:bodyPr>
          <a:lstStyle/>
          <a:p>
            <a:pPr marL="0" indent="0">
              <a:buNone/>
            </a:pPr>
            <a:r>
              <a:rPr lang="en-US" dirty="0"/>
              <a:t>class Animal { </a:t>
            </a:r>
          </a:p>
          <a:p>
            <a:pPr marL="0" indent="0">
              <a:buNone/>
            </a:pPr>
            <a:r>
              <a:rPr lang="en-US" dirty="0"/>
              <a:t>  constructor(name) {</a:t>
            </a:r>
          </a:p>
          <a:p>
            <a:pPr marL="0" indent="0">
              <a:buNone/>
            </a:pPr>
            <a:r>
              <a:rPr lang="en-US" dirty="0"/>
              <a:t>    </a:t>
            </a:r>
            <a:r>
              <a:rPr lang="en-US" dirty="0" err="1"/>
              <a:t>this.name</a:t>
            </a:r>
            <a:r>
              <a:rPr lang="en-US" dirty="0"/>
              <a:t> = name;</a:t>
            </a:r>
          </a:p>
          <a:p>
            <a:pPr marL="0" indent="0">
              <a:buNone/>
            </a:pPr>
            <a:r>
              <a:rPr lang="en-US" dirty="0"/>
              <a:t>  }</a:t>
            </a:r>
          </a:p>
          <a:p>
            <a:pPr marL="0" indent="0">
              <a:buNone/>
            </a:pPr>
            <a:r>
              <a:rPr lang="en-US" dirty="0"/>
              <a:t> speak() {</a:t>
            </a:r>
          </a:p>
          <a:p>
            <a:pPr marL="0" indent="0">
              <a:buNone/>
            </a:pPr>
            <a:r>
              <a:rPr lang="en-US" dirty="0"/>
              <a:t>    </a:t>
            </a:r>
            <a:r>
              <a:rPr lang="en-US" dirty="0" err="1"/>
              <a:t>console.log</a:t>
            </a:r>
            <a:r>
              <a:rPr lang="en-US" dirty="0"/>
              <a:t>(`${</a:t>
            </a:r>
            <a:r>
              <a:rPr lang="en-US" dirty="0" err="1"/>
              <a:t>this.name</a:t>
            </a:r>
            <a:r>
              <a:rPr lang="en-US" dirty="0"/>
              <a:t>} makes a noise.`);</a:t>
            </a:r>
          </a:p>
          <a:p>
            <a:pPr marL="0" indent="0">
              <a:buNone/>
            </a:pPr>
            <a:r>
              <a:rPr lang="en-US" dirty="0"/>
              <a:t>  }</a:t>
            </a:r>
          </a:p>
          <a:p>
            <a:pPr marL="0" indent="0">
              <a:buNone/>
            </a:pPr>
            <a:r>
              <a:rPr lang="en-US" dirty="0"/>
              <a:t>}</a:t>
            </a:r>
          </a:p>
          <a:p>
            <a:pPr marL="0" indent="0">
              <a:buNone/>
            </a:pPr>
            <a:r>
              <a:rPr lang="en-US" dirty="0"/>
              <a:t>class Dog extends Animal {</a:t>
            </a:r>
          </a:p>
          <a:p>
            <a:pPr marL="0" indent="0">
              <a:buNone/>
            </a:pPr>
            <a:r>
              <a:rPr lang="en-US" dirty="0"/>
              <a:t>  constructor(name) {</a:t>
            </a:r>
          </a:p>
          <a:p>
            <a:pPr marL="0" indent="0">
              <a:buNone/>
            </a:pPr>
            <a:r>
              <a:rPr lang="en-US" dirty="0"/>
              <a:t>    super(name); // call the super class constructor and pass in the name parameter</a:t>
            </a:r>
          </a:p>
          <a:p>
            <a:pPr marL="0" indent="0">
              <a:buNone/>
            </a:pPr>
            <a:r>
              <a:rPr lang="en-US" dirty="0"/>
              <a:t>  }</a:t>
            </a:r>
          </a:p>
          <a:p>
            <a:pPr marL="0" indent="0">
              <a:buNone/>
            </a:pPr>
            <a:r>
              <a:rPr lang="en-US" dirty="0"/>
              <a:t>  speak() {</a:t>
            </a:r>
          </a:p>
          <a:p>
            <a:pPr marL="0" indent="0">
              <a:buNone/>
            </a:pPr>
            <a:r>
              <a:rPr lang="en-US" dirty="0"/>
              <a:t>    </a:t>
            </a:r>
            <a:r>
              <a:rPr lang="en-US" dirty="0" err="1"/>
              <a:t>console.log</a:t>
            </a:r>
            <a:r>
              <a:rPr lang="en-US" dirty="0"/>
              <a:t>(`${</a:t>
            </a:r>
            <a:r>
              <a:rPr lang="en-US" dirty="0" err="1"/>
              <a:t>this.name</a:t>
            </a:r>
            <a:r>
              <a:rPr lang="en-US" dirty="0"/>
              <a:t>} barks.`);</a:t>
            </a:r>
          </a:p>
          <a:p>
            <a:pPr marL="0" indent="0">
              <a:buNone/>
            </a:pPr>
            <a:r>
              <a:rPr lang="en-US" dirty="0"/>
              <a:t>  }</a:t>
            </a:r>
          </a:p>
          <a:p>
            <a:pPr marL="0" indent="0">
              <a:buNone/>
            </a:pPr>
            <a:r>
              <a:rPr lang="en-US" dirty="0"/>
              <a:t>}</a:t>
            </a:r>
          </a:p>
          <a:p>
            <a:pPr marL="0" indent="0">
              <a:buNone/>
            </a:pPr>
            <a:r>
              <a:rPr lang="en-US" dirty="0"/>
              <a:t>let d = new Dog('Mitzie');</a:t>
            </a:r>
          </a:p>
          <a:p>
            <a:pPr marL="0" indent="0">
              <a:buNone/>
            </a:pPr>
            <a:r>
              <a:rPr lang="en-US" dirty="0" err="1"/>
              <a:t>d.speak</a:t>
            </a:r>
            <a:r>
              <a:rPr lang="en-US" dirty="0"/>
              <a:t>(); // Mitzie barks.</a:t>
            </a:r>
          </a:p>
        </p:txBody>
      </p:sp>
    </p:spTree>
    <p:extLst>
      <p:ext uri="{BB962C8B-B14F-4D97-AF65-F5344CB8AC3E}">
        <p14:creationId xmlns:p14="http://schemas.microsoft.com/office/powerpoint/2010/main" val="270929836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63752" y="0"/>
            <a:ext cx="10058400" cy="1609344"/>
          </a:xfrm>
        </p:spPr>
        <p:txBody>
          <a:bodyPr/>
          <a:lstStyle/>
          <a:p>
            <a:r>
              <a:rPr lang="en-US" dirty="0"/>
              <a:t>comparisons</a:t>
            </a:r>
          </a:p>
        </p:txBody>
      </p:sp>
      <p:sp>
        <p:nvSpPr>
          <p:cNvPr id="3" name="Content Placeholder 2"/>
          <p:cNvSpPr>
            <a:spLocks noGrp="1"/>
          </p:cNvSpPr>
          <p:nvPr>
            <p:ph idx="1"/>
          </p:nvPr>
        </p:nvSpPr>
        <p:spPr>
          <a:xfrm>
            <a:off x="1069848" y="1562986"/>
            <a:ext cx="10058400" cy="4609214"/>
          </a:xfrm>
        </p:spPr>
        <p:txBody>
          <a:bodyPr>
            <a:normAutofit/>
          </a:bodyPr>
          <a:lstStyle/>
          <a:p>
            <a:r>
              <a:rPr lang="en-US" dirty="0">
                <a:latin typeface="Calibri" panose="020F0502020204030204" pitchFamily="34" charset="0"/>
                <a:cs typeface="Calibri" panose="020F0502020204030204" pitchFamily="34" charset="0"/>
              </a:rPr>
              <a:t>Comparisons in JavaScript can be made using &lt;, &gt;, &lt;= and &gt;=. These work for both strings and numbers. Equality is a little less straightforward. The double-equals operator performs type coercion if you give it different types, with sometimes interesting results:</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123 == '123'; // true</a:t>
            </a:r>
          </a:p>
          <a:p>
            <a:r>
              <a:rPr lang="en-US" dirty="0">
                <a:latin typeface="Calibri" panose="020F0502020204030204" pitchFamily="34" charset="0"/>
                <a:cs typeface="Calibri" panose="020F0502020204030204" pitchFamily="34" charset="0"/>
              </a:rPr>
              <a:t>1 == true; // true</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To avoid type coercion, use the triple-equals operator:</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123 === '123'; // false</a:t>
            </a:r>
          </a:p>
          <a:p>
            <a:r>
              <a:rPr lang="en-US" dirty="0">
                <a:latin typeface="Calibri" panose="020F0502020204030204" pitchFamily="34" charset="0"/>
                <a:cs typeface="Calibri" panose="020F0502020204030204" pitchFamily="34" charset="0"/>
              </a:rPr>
              <a:t>1 === true;    // false</a:t>
            </a:r>
          </a:p>
        </p:txBody>
      </p:sp>
    </p:spTree>
    <p:extLst>
      <p:ext uri="{BB962C8B-B14F-4D97-AF65-F5344CB8AC3E}">
        <p14:creationId xmlns:p14="http://schemas.microsoft.com/office/powerpoint/2010/main" val="152632100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86D98-241D-4CDC-B01E-57E79AB2BFEC}"/>
              </a:ext>
            </a:extLst>
          </p:cNvPr>
          <p:cNvSpPr>
            <a:spLocks noGrp="1"/>
          </p:cNvSpPr>
          <p:nvPr>
            <p:ph type="title"/>
          </p:nvPr>
        </p:nvSpPr>
        <p:spPr/>
        <p:txBody>
          <a:bodyPr/>
          <a:lstStyle/>
          <a:p>
            <a:r>
              <a:rPr lang="en-US" dirty="0"/>
              <a:t>Arrays</a:t>
            </a:r>
          </a:p>
        </p:txBody>
      </p:sp>
      <p:sp>
        <p:nvSpPr>
          <p:cNvPr id="3" name="Content Placeholder 2">
            <a:extLst>
              <a:ext uri="{FF2B5EF4-FFF2-40B4-BE49-F238E27FC236}">
                <a16:creationId xmlns:a16="http://schemas.microsoft.com/office/drawing/2014/main" id="{8F01F35D-18E5-48A9-A5A0-61429ECF31E0}"/>
              </a:ext>
            </a:extLst>
          </p:cNvPr>
          <p:cNvSpPr>
            <a:spLocks noGrp="1"/>
          </p:cNvSpPr>
          <p:nvPr>
            <p:ph idx="1"/>
          </p:nvPr>
        </p:nvSpPr>
        <p:spPr/>
        <p:txBody>
          <a:bodyPr>
            <a:normAutofit/>
          </a:bodyPr>
          <a:lstStyle/>
          <a:p>
            <a:r>
              <a:rPr lang="en-US" dirty="0"/>
              <a:t>Arrays in JavaScript are actually a special type of object. </a:t>
            </a:r>
          </a:p>
          <a:p>
            <a:r>
              <a:rPr lang="en-US" dirty="0"/>
              <a:t>They work very much like regular objects (numerical properties can naturally be accessed only using [] syntax) but they have one magic property called 'length'. </a:t>
            </a:r>
          </a:p>
          <a:p>
            <a:r>
              <a:rPr lang="en-US" dirty="0"/>
              <a:t>Length is always one more than the highest index in the array.</a:t>
            </a:r>
          </a:p>
        </p:txBody>
      </p:sp>
    </p:spTree>
    <p:extLst>
      <p:ext uri="{BB962C8B-B14F-4D97-AF65-F5344CB8AC3E}">
        <p14:creationId xmlns:p14="http://schemas.microsoft.com/office/powerpoint/2010/main" val="406786497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E090E-42B0-4E8D-ADB4-1E539BCDEDEE}"/>
              </a:ext>
            </a:extLst>
          </p:cNvPr>
          <p:cNvSpPr>
            <a:spLocks noGrp="1"/>
          </p:cNvSpPr>
          <p:nvPr>
            <p:ph type="title"/>
          </p:nvPr>
        </p:nvSpPr>
        <p:spPr>
          <a:xfrm>
            <a:off x="1069848" y="484632"/>
            <a:ext cx="10058400" cy="812540"/>
          </a:xfrm>
        </p:spPr>
        <p:txBody>
          <a:bodyPr>
            <a:normAutofit fontScale="90000"/>
          </a:bodyPr>
          <a:lstStyle/>
          <a:p>
            <a:r>
              <a:rPr lang="en-US" dirty="0"/>
              <a:t>Loops and arrays</a:t>
            </a:r>
          </a:p>
        </p:txBody>
      </p:sp>
      <p:sp>
        <p:nvSpPr>
          <p:cNvPr id="3" name="Content Placeholder 2">
            <a:extLst>
              <a:ext uri="{FF2B5EF4-FFF2-40B4-BE49-F238E27FC236}">
                <a16:creationId xmlns:a16="http://schemas.microsoft.com/office/drawing/2014/main" id="{CCACF2EE-68B0-45E6-A96E-3365521134D5}"/>
              </a:ext>
            </a:extLst>
          </p:cNvPr>
          <p:cNvSpPr>
            <a:spLocks noGrp="1"/>
          </p:cNvSpPr>
          <p:nvPr>
            <p:ph idx="1"/>
          </p:nvPr>
        </p:nvSpPr>
        <p:spPr>
          <a:xfrm>
            <a:off x="1069848" y="1201479"/>
            <a:ext cx="10058400" cy="4970721"/>
          </a:xfrm>
        </p:spPr>
        <p:txBody>
          <a:bodyPr>
            <a:normAutofit fontScale="92500"/>
          </a:bodyPr>
          <a:lstStyle/>
          <a:p>
            <a:r>
              <a:rPr lang="en-US" dirty="0"/>
              <a:t>You can iterate over an array using the following for loop:</a:t>
            </a:r>
          </a:p>
          <a:p>
            <a:pPr marL="0" indent="0">
              <a:buNone/>
            </a:pPr>
            <a:r>
              <a:rPr lang="en-US" dirty="0"/>
              <a:t>	for (var </a:t>
            </a:r>
            <a:r>
              <a:rPr lang="en-US" dirty="0" err="1"/>
              <a:t>i</a:t>
            </a:r>
            <a:r>
              <a:rPr lang="en-US" dirty="0"/>
              <a:t> = 0; </a:t>
            </a:r>
            <a:r>
              <a:rPr lang="en-US" dirty="0" err="1"/>
              <a:t>i</a:t>
            </a:r>
            <a:r>
              <a:rPr lang="en-US" dirty="0"/>
              <a:t> &lt; </a:t>
            </a:r>
            <a:r>
              <a:rPr lang="en-US" dirty="0" err="1"/>
              <a:t>a.length</a:t>
            </a:r>
            <a:r>
              <a:rPr lang="en-US" dirty="0"/>
              <a:t>; </a:t>
            </a:r>
            <a:r>
              <a:rPr lang="en-US" dirty="0" err="1"/>
              <a:t>i</a:t>
            </a:r>
            <a:r>
              <a:rPr lang="en-US" dirty="0"/>
              <a:t>++) {</a:t>
            </a:r>
          </a:p>
          <a:p>
            <a:pPr marL="0" indent="0">
              <a:buNone/>
            </a:pPr>
            <a:r>
              <a:rPr lang="en-US" dirty="0"/>
              <a:t>	  // Do something with a[</a:t>
            </a:r>
            <a:r>
              <a:rPr lang="en-US" dirty="0" err="1"/>
              <a:t>i</a:t>
            </a:r>
            <a:r>
              <a:rPr lang="en-US" dirty="0"/>
              <a:t>]</a:t>
            </a:r>
          </a:p>
          <a:p>
            <a:pPr marL="0" indent="0">
              <a:buNone/>
            </a:pPr>
            <a:r>
              <a:rPr lang="en-US" dirty="0"/>
              <a:t>	}</a:t>
            </a:r>
          </a:p>
          <a:p>
            <a:r>
              <a:rPr lang="en-US" dirty="0" err="1"/>
              <a:t>ES2015</a:t>
            </a:r>
            <a:r>
              <a:rPr lang="en-US" dirty="0"/>
              <a:t> introduced the more concise for...of loop for </a:t>
            </a:r>
            <a:r>
              <a:rPr lang="en-US" dirty="0" err="1"/>
              <a:t>iterable</a:t>
            </a:r>
            <a:r>
              <a:rPr lang="en-US" dirty="0"/>
              <a:t> objects such as arrays:</a:t>
            </a:r>
          </a:p>
          <a:p>
            <a:pPr marL="0" indent="0">
              <a:buNone/>
            </a:pPr>
            <a:r>
              <a:rPr lang="en-US" dirty="0"/>
              <a:t>	for (const </a:t>
            </a:r>
            <a:r>
              <a:rPr lang="en-US" dirty="0" err="1"/>
              <a:t>currentValue</a:t>
            </a:r>
            <a:r>
              <a:rPr lang="en-US" dirty="0"/>
              <a:t> of a) {</a:t>
            </a:r>
          </a:p>
          <a:p>
            <a:pPr marL="0" indent="0">
              <a:buNone/>
            </a:pPr>
            <a:r>
              <a:rPr lang="en-US" dirty="0"/>
              <a:t>	  // Do something with </a:t>
            </a:r>
            <a:r>
              <a:rPr lang="en-US" dirty="0" err="1"/>
              <a:t>currentValue</a:t>
            </a:r>
            <a:endParaRPr lang="en-US" dirty="0"/>
          </a:p>
          <a:p>
            <a:pPr marL="0" indent="0">
              <a:buNone/>
            </a:pPr>
            <a:r>
              <a:rPr lang="en-US" dirty="0"/>
              <a:t>	}</a:t>
            </a:r>
          </a:p>
          <a:p>
            <a:r>
              <a:rPr lang="en-US" dirty="0"/>
              <a:t>Another way of iterating over an array that was added with ECMAScript 5 is </a:t>
            </a:r>
            <a:r>
              <a:rPr lang="en-US" dirty="0" err="1"/>
              <a:t>forEach</a:t>
            </a:r>
            <a:r>
              <a:rPr lang="en-US" dirty="0"/>
              <a:t>():</a:t>
            </a:r>
          </a:p>
          <a:p>
            <a:pPr marL="0" indent="0">
              <a:buNone/>
            </a:pPr>
            <a:r>
              <a:rPr lang="en-US" dirty="0"/>
              <a:t>	['dog', 'cat', 'hen'].</a:t>
            </a:r>
            <a:r>
              <a:rPr lang="en-US" dirty="0" err="1"/>
              <a:t>forEach</a:t>
            </a:r>
            <a:r>
              <a:rPr lang="en-US" dirty="0"/>
              <a:t>(function(</a:t>
            </a:r>
            <a:r>
              <a:rPr lang="en-US" dirty="0" err="1"/>
              <a:t>currentValue</a:t>
            </a:r>
            <a:r>
              <a:rPr lang="en-US" dirty="0"/>
              <a:t>, index, array) {</a:t>
            </a:r>
          </a:p>
          <a:p>
            <a:pPr marL="0" indent="0">
              <a:buNone/>
            </a:pPr>
            <a:r>
              <a:rPr lang="en-US" dirty="0"/>
              <a:t>  	  // Do something with </a:t>
            </a:r>
            <a:r>
              <a:rPr lang="en-US" dirty="0" err="1"/>
              <a:t>currentValue</a:t>
            </a:r>
            <a:r>
              <a:rPr lang="en-US" dirty="0"/>
              <a:t> or array[index]</a:t>
            </a:r>
          </a:p>
          <a:p>
            <a:pPr marL="0" indent="0">
              <a:buNone/>
            </a:pPr>
            <a:r>
              <a:rPr lang="en-US" dirty="0"/>
              <a:t>	});</a:t>
            </a:r>
          </a:p>
        </p:txBody>
      </p:sp>
    </p:spTree>
    <p:extLst>
      <p:ext uri="{BB962C8B-B14F-4D97-AF65-F5344CB8AC3E}">
        <p14:creationId xmlns:p14="http://schemas.microsoft.com/office/powerpoint/2010/main" val="268967640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F8379-6DA2-447C-8D8B-F893735946E0}"/>
              </a:ext>
            </a:extLst>
          </p:cNvPr>
          <p:cNvSpPr>
            <a:spLocks noGrp="1"/>
          </p:cNvSpPr>
          <p:nvPr>
            <p:ph type="title"/>
          </p:nvPr>
        </p:nvSpPr>
        <p:spPr>
          <a:xfrm>
            <a:off x="1066800" y="210418"/>
            <a:ext cx="10058400" cy="950763"/>
          </a:xfrm>
        </p:spPr>
        <p:txBody>
          <a:bodyPr/>
          <a:lstStyle/>
          <a:p>
            <a:r>
              <a:rPr lang="en-US" dirty="0"/>
              <a:t>Array methods</a:t>
            </a:r>
          </a:p>
        </p:txBody>
      </p:sp>
      <p:sp>
        <p:nvSpPr>
          <p:cNvPr id="3" name="Content Placeholder 2">
            <a:extLst>
              <a:ext uri="{FF2B5EF4-FFF2-40B4-BE49-F238E27FC236}">
                <a16:creationId xmlns:a16="http://schemas.microsoft.com/office/drawing/2014/main" id="{983CB3E5-8914-4556-AAA3-6183B195623A}"/>
              </a:ext>
            </a:extLst>
          </p:cNvPr>
          <p:cNvSpPr>
            <a:spLocks noGrp="1"/>
          </p:cNvSpPr>
          <p:nvPr>
            <p:ph idx="1"/>
          </p:nvPr>
        </p:nvSpPr>
        <p:spPr>
          <a:xfrm>
            <a:off x="1069848" y="1578279"/>
            <a:ext cx="10058400" cy="4593921"/>
          </a:xfrm>
        </p:spPr>
        <p:txBody>
          <a:bodyPr>
            <a:normAutofit fontScale="85000" lnSpcReduction="20000"/>
          </a:bodyPr>
          <a:lstStyle/>
          <a:p>
            <a:r>
              <a:rPr lang="en-US" dirty="0" err="1"/>
              <a:t>a.toString</a:t>
            </a:r>
            <a:r>
              <a:rPr lang="en-US" dirty="0"/>
              <a:t>() - Returns a string with the </a:t>
            </a:r>
            <a:r>
              <a:rPr lang="en-US" dirty="0" err="1"/>
              <a:t>toString</a:t>
            </a:r>
            <a:r>
              <a:rPr lang="en-US" dirty="0"/>
              <a:t>() of each element separated by commas.</a:t>
            </a:r>
          </a:p>
          <a:p>
            <a:r>
              <a:rPr lang="en-US" dirty="0" err="1"/>
              <a:t>a.toLocaleString</a:t>
            </a:r>
            <a:r>
              <a:rPr lang="en-US" dirty="0"/>
              <a:t>() - Returns a string with the </a:t>
            </a:r>
            <a:r>
              <a:rPr lang="en-US" dirty="0" err="1"/>
              <a:t>toLocaleString</a:t>
            </a:r>
            <a:r>
              <a:rPr lang="en-US" dirty="0"/>
              <a:t>() of each element separated by commas.</a:t>
            </a:r>
          </a:p>
          <a:p>
            <a:r>
              <a:rPr lang="en-US" dirty="0" err="1"/>
              <a:t>a.concat</a:t>
            </a:r>
            <a:r>
              <a:rPr lang="en-US" dirty="0"/>
              <a:t>(</a:t>
            </a:r>
            <a:r>
              <a:rPr lang="en-US" dirty="0" err="1"/>
              <a:t>item1</a:t>
            </a:r>
            <a:r>
              <a:rPr lang="en-US" dirty="0"/>
              <a:t>[, </a:t>
            </a:r>
            <a:r>
              <a:rPr lang="en-US" dirty="0" err="1"/>
              <a:t>item2</a:t>
            </a:r>
            <a:r>
              <a:rPr lang="en-US" dirty="0"/>
              <a:t>[, ...[, </a:t>
            </a:r>
            <a:r>
              <a:rPr lang="en-US" dirty="0" err="1"/>
              <a:t>itemN</a:t>
            </a:r>
            <a:r>
              <a:rPr lang="en-US" dirty="0"/>
              <a:t>]]]) - Returns a new array with the items added on to it.</a:t>
            </a:r>
          </a:p>
          <a:p>
            <a:r>
              <a:rPr lang="en-US" dirty="0" err="1"/>
              <a:t>a.join</a:t>
            </a:r>
            <a:r>
              <a:rPr lang="en-US" dirty="0"/>
              <a:t>(</a:t>
            </a:r>
            <a:r>
              <a:rPr lang="en-US" dirty="0" err="1"/>
              <a:t>sep</a:t>
            </a:r>
            <a:r>
              <a:rPr lang="en-US" dirty="0"/>
              <a:t>) - Converts the array to a string — with values delimited by the </a:t>
            </a:r>
            <a:r>
              <a:rPr lang="en-US" dirty="0" err="1"/>
              <a:t>sep</a:t>
            </a:r>
            <a:r>
              <a:rPr lang="en-US" dirty="0"/>
              <a:t> param</a:t>
            </a:r>
          </a:p>
          <a:p>
            <a:r>
              <a:rPr lang="en-US" dirty="0" err="1"/>
              <a:t>a.pop</a:t>
            </a:r>
            <a:r>
              <a:rPr lang="en-US" dirty="0"/>
              <a:t>() - Removes and returns the last item.</a:t>
            </a:r>
          </a:p>
          <a:p>
            <a:r>
              <a:rPr lang="en-US" dirty="0" err="1"/>
              <a:t>a.push</a:t>
            </a:r>
            <a:r>
              <a:rPr lang="en-US" dirty="0"/>
              <a:t>(</a:t>
            </a:r>
            <a:r>
              <a:rPr lang="en-US" dirty="0" err="1"/>
              <a:t>item1</a:t>
            </a:r>
            <a:r>
              <a:rPr lang="en-US" dirty="0"/>
              <a:t>, ..., </a:t>
            </a:r>
            <a:r>
              <a:rPr lang="en-US" dirty="0" err="1"/>
              <a:t>itemN</a:t>
            </a:r>
            <a:r>
              <a:rPr lang="en-US" dirty="0"/>
              <a:t>) - Appends items to the end of the array.</a:t>
            </a:r>
          </a:p>
          <a:p>
            <a:r>
              <a:rPr lang="en-US" dirty="0" err="1"/>
              <a:t>a.reverse</a:t>
            </a:r>
            <a:r>
              <a:rPr lang="en-US" dirty="0"/>
              <a:t>() - Reverses the array.</a:t>
            </a:r>
          </a:p>
          <a:p>
            <a:r>
              <a:rPr lang="en-US" dirty="0" err="1"/>
              <a:t>a.shift</a:t>
            </a:r>
            <a:r>
              <a:rPr lang="en-US" dirty="0"/>
              <a:t>() - Removes and returns the first item.</a:t>
            </a:r>
          </a:p>
          <a:p>
            <a:r>
              <a:rPr lang="en-US" dirty="0" err="1"/>
              <a:t>a.slice</a:t>
            </a:r>
            <a:r>
              <a:rPr lang="en-US" dirty="0"/>
              <a:t>(start[, end]) - Returns a sub-array.</a:t>
            </a:r>
          </a:p>
          <a:p>
            <a:r>
              <a:rPr lang="en-US" dirty="0" err="1"/>
              <a:t>a.sort</a:t>
            </a:r>
            <a:r>
              <a:rPr lang="en-US" dirty="0"/>
              <a:t>([</a:t>
            </a:r>
            <a:r>
              <a:rPr lang="en-US" dirty="0" err="1"/>
              <a:t>cmpfn</a:t>
            </a:r>
            <a:r>
              <a:rPr lang="en-US" dirty="0"/>
              <a:t>]) - Takes an optional comparison function.</a:t>
            </a:r>
          </a:p>
          <a:p>
            <a:r>
              <a:rPr lang="en-US" dirty="0" err="1"/>
              <a:t>a.splice</a:t>
            </a:r>
            <a:r>
              <a:rPr lang="en-US" dirty="0"/>
              <a:t>(start, </a:t>
            </a:r>
            <a:r>
              <a:rPr lang="en-US" dirty="0" err="1"/>
              <a:t>delcount</a:t>
            </a:r>
            <a:r>
              <a:rPr lang="en-US" dirty="0"/>
              <a:t>[, </a:t>
            </a:r>
            <a:r>
              <a:rPr lang="en-US" dirty="0" err="1"/>
              <a:t>item1</a:t>
            </a:r>
            <a:r>
              <a:rPr lang="en-US" dirty="0"/>
              <a:t>[, ...[, </a:t>
            </a:r>
            <a:r>
              <a:rPr lang="en-US" dirty="0" err="1"/>
              <a:t>itemN</a:t>
            </a:r>
            <a:r>
              <a:rPr lang="en-US" dirty="0"/>
              <a:t>]]]) - Lets you modify an array by deleting a section and replacing it with more items.</a:t>
            </a:r>
          </a:p>
          <a:p>
            <a:r>
              <a:rPr lang="en-US" dirty="0" err="1"/>
              <a:t>a.unshift</a:t>
            </a:r>
            <a:r>
              <a:rPr lang="en-US" dirty="0"/>
              <a:t>(</a:t>
            </a:r>
            <a:r>
              <a:rPr lang="en-US" dirty="0" err="1"/>
              <a:t>item1</a:t>
            </a:r>
            <a:r>
              <a:rPr lang="en-US" dirty="0"/>
              <a:t>[, </a:t>
            </a:r>
            <a:r>
              <a:rPr lang="en-US" dirty="0" err="1"/>
              <a:t>item2</a:t>
            </a:r>
            <a:r>
              <a:rPr lang="en-US" dirty="0"/>
              <a:t>[, ...[, </a:t>
            </a:r>
            <a:r>
              <a:rPr lang="en-US" dirty="0" err="1"/>
              <a:t>itemN</a:t>
            </a:r>
            <a:r>
              <a:rPr lang="en-US" dirty="0"/>
              <a:t>]]]) - Prepends items to the start of the array.</a:t>
            </a:r>
          </a:p>
        </p:txBody>
      </p:sp>
    </p:spTree>
    <p:extLst>
      <p:ext uri="{BB962C8B-B14F-4D97-AF65-F5344CB8AC3E}">
        <p14:creationId xmlns:p14="http://schemas.microsoft.com/office/powerpoint/2010/main" val="30814424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 Methods (2)</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482878069"/>
              </p:ext>
            </p:extLst>
          </p:nvPr>
        </p:nvGraphicFramePr>
        <p:xfrm>
          <a:off x="1568824" y="1600200"/>
          <a:ext cx="9067800" cy="4842798"/>
        </p:xfrm>
        <a:graphic>
          <a:graphicData uri="http://schemas.openxmlformats.org/drawingml/2006/table">
            <a:tbl>
              <a:tblPr firstRow="1"/>
              <a:tblGrid>
                <a:gridCol w="1174376">
                  <a:extLst>
                    <a:ext uri="{9D8B030D-6E8A-4147-A177-3AD203B41FA5}">
                      <a16:colId xmlns:a16="http://schemas.microsoft.com/office/drawing/2014/main" val="20000"/>
                    </a:ext>
                  </a:extLst>
                </a:gridCol>
                <a:gridCol w="7893424">
                  <a:extLst>
                    <a:ext uri="{9D8B030D-6E8A-4147-A177-3AD203B41FA5}">
                      <a16:colId xmlns:a16="http://schemas.microsoft.com/office/drawing/2014/main" val="20001"/>
                    </a:ext>
                  </a:extLst>
                </a:gridCol>
              </a:tblGrid>
              <a:tr h="127492">
                <a:tc>
                  <a:txBody>
                    <a:bodyPr/>
                    <a:lstStyle/>
                    <a:p>
                      <a:r>
                        <a:rPr lang="en-US" sz="1400" b="1"/>
                        <a:t>Method</a:t>
                      </a:r>
                      <a:endParaRPr lang="en-US" sz="1400"/>
                    </a:p>
                  </a:txBody>
                  <a:tcPr marL="31873" marR="31873" marT="15936" marB="15936" anchor="ctr">
                    <a:lnL>
                      <a:noFill/>
                    </a:lnL>
                    <a:lnR>
                      <a:noFill/>
                    </a:lnR>
                    <a:lnT>
                      <a:noFill/>
                    </a:lnT>
                    <a:lnB>
                      <a:noFill/>
                    </a:lnB>
                  </a:tcPr>
                </a:tc>
                <a:tc>
                  <a:txBody>
                    <a:bodyPr/>
                    <a:lstStyle/>
                    <a:p>
                      <a:r>
                        <a:rPr lang="en-US" sz="1400" b="1"/>
                        <a:t>Purpose</a:t>
                      </a:r>
                      <a:endParaRPr lang="en-US" sz="1400"/>
                    </a:p>
                  </a:txBody>
                  <a:tcPr marL="31873" marR="31873" marT="15936" marB="15936" anchor="ctr">
                    <a:lnL>
                      <a:noFill/>
                    </a:lnL>
                    <a:lnR>
                      <a:noFill/>
                    </a:lnR>
                    <a:lnT>
                      <a:noFill/>
                    </a:lnT>
                    <a:lnB>
                      <a:noFill/>
                    </a:lnB>
                  </a:tcPr>
                </a:tc>
                <a:extLst>
                  <a:ext uri="{0D108BD9-81ED-4DB2-BD59-A6C34878D82A}">
                    <a16:rowId xmlns:a16="http://schemas.microsoft.com/office/drawing/2014/main" val="10000"/>
                  </a:ext>
                </a:extLst>
              </a:tr>
              <a:tr h="414349">
                <a:tc>
                  <a:txBody>
                    <a:bodyPr/>
                    <a:lstStyle/>
                    <a:p>
                      <a:r>
                        <a:rPr lang="en-US" sz="1400"/>
                        <a:t>every()</a:t>
                      </a:r>
                    </a:p>
                  </a:txBody>
                  <a:tcPr marL="31873" marR="31873" marT="15936" marB="15936" anchor="ctr">
                    <a:lnL>
                      <a:noFill/>
                    </a:lnL>
                    <a:lnR>
                      <a:noFill/>
                    </a:lnR>
                    <a:lnT>
                      <a:noFill/>
                    </a:lnT>
                    <a:lnB>
                      <a:noFill/>
                    </a:lnB>
                  </a:tcPr>
                </a:tc>
                <a:tc>
                  <a:txBody>
                    <a:bodyPr/>
                    <a:lstStyle/>
                    <a:p>
                      <a:r>
                        <a:rPr lang="en-US" sz="1400"/>
                        <a:t>every() accepts a function as an argument. That function tests every element in the array and returns true if all pass.</a:t>
                      </a:r>
                    </a:p>
                  </a:txBody>
                  <a:tcPr marL="31873" marR="31873" marT="15936" marB="15936" anchor="ctr">
                    <a:lnL>
                      <a:noFill/>
                    </a:lnL>
                    <a:lnR>
                      <a:noFill/>
                    </a:lnR>
                    <a:lnT>
                      <a:noFill/>
                    </a:lnT>
                    <a:lnB>
                      <a:noFill/>
                    </a:lnB>
                  </a:tcPr>
                </a:tc>
                <a:extLst>
                  <a:ext uri="{0D108BD9-81ED-4DB2-BD59-A6C34878D82A}">
                    <a16:rowId xmlns:a16="http://schemas.microsoft.com/office/drawing/2014/main" val="10001"/>
                  </a:ext>
                </a:extLst>
              </a:tr>
              <a:tr h="509968">
                <a:tc>
                  <a:txBody>
                    <a:bodyPr/>
                    <a:lstStyle/>
                    <a:p>
                      <a:r>
                        <a:rPr lang="en-US" sz="1400"/>
                        <a:t>filter()</a:t>
                      </a:r>
                    </a:p>
                  </a:txBody>
                  <a:tcPr marL="31873" marR="31873" marT="15936" marB="15936" anchor="ctr">
                    <a:lnL>
                      <a:noFill/>
                    </a:lnL>
                    <a:lnR>
                      <a:noFill/>
                    </a:lnR>
                    <a:lnT>
                      <a:noFill/>
                    </a:lnT>
                    <a:lnB>
                      <a:noFill/>
                    </a:lnB>
                  </a:tcPr>
                </a:tc>
                <a:tc>
                  <a:txBody>
                    <a:bodyPr/>
                    <a:lstStyle/>
                    <a:p>
                      <a:r>
                        <a:rPr lang="en-US" sz="1400"/>
                        <a:t>filter() accepts a function as an argument. That function tests every element in the array and returns a new array containing every element for which the filtering function returns true.</a:t>
                      </a:r>
                    </a:p>
                  </a:txBody>
                  <a:tcPr marL="31873" marR="31873" marT="15936" marB="15936" anchor="ctr">
                    <a:lnL>
                      <a:noFill/>
                    </a:lnL>
                    <a:lnR>
                      <a:noFill/>
                    </a:lnR>
                    <a:lnT>
                      <a:noFill/>
                    </a:lnT>
                    <a:lnB>
                      <a:noFill/>
                    </a:lnB>
                  </a:tcPr>
                </a:tc>
                <a:extLst>
                  <a:ext uri="{0D108BD9-81ED-4DB2-BD59-A6C34878D82A}">
                    <a16:rowId xmlns:a16="http://schemas.microsoft.com/office/drawing/2014/main" val="10002"/>
                  </a:ext>
                </a:extLst>
              </a:tr>
              <a:tr h="223111">
                <a:tc>
                  <a:txBody>
                    <a:bodyPr/>
                    <a:lstStyle/>
                    <a:p>
                      <a:r>
                        <a:rPr lang="en-US" sz="1400"/>
                        <a:t>forEach()</a:t>
                      </a:r>
                    </a:p>
                  </a:txBody>
                  <a:tcPr marL="31873" marR="31873" marT="15936" marB="15936" anchor="ctr">
                    <a:lnL>
                      <a:noFill/>
                    </a:lnL>
                    <a:lnR>
                      <a:noFill/>
                    </a:lnR>
                    <a:lnT>
                      <a:noFill/>
                    </a:lnT>
                    <a:lnB>
                      <a:noFill/>
                    </a:lnB>
                  </a:tcPr>
                </a:tc>
                <a:tc>
                  <a:txBody>
                    <a:bodyPr/>
                    <a:lstStyle/>
                    <a:p>
                      <a:r>
                        <a:rPr lang="en-US" sz="1400"/>
                        <a:t>Calls a function for each element in the array.</a:t>
                      </a:r>
                    </a:p>
                  </a:txBody>
                  <a:tcPr marL="31873" marR="31873" marT="15936" marB="15936" anchor="ctr">
                    <a:lnL>
                      <a:noFill/>
                    </a:lnL>
                    <a:lnR>
                      <a:noFill/>
                    </a:lnR>
                    <a:lnT>
                      <a:noFill/>
                    </a:lnT>
                    <a:lnB>
                      <a:noFill/>
                    </a:lnB>
                  </a:tcPr>
                </a:tc>
                <a:extLst>
                  <a:ext uri="{0D108BD9-81ED-4DB2-BD59-A6C34878D82A}">
                    <a16:rowId xmlns:a16="http://schemas.microsoft.com/office/drawing/2014/main" val="10003"/>
                  </a:ext>
                </a:extLst>
              </a:tr>
              <a:tr h="414349">
                <a:tc>
                  <a:txBody>
                    <a:bodyPr/>
                    <a:lstStyle/>
                    <a:p>
                      <a:r>
                        <a:rPr lang="en-US" sz="1400"/>
                        <a:t>indexOf()</a:t>
                      </a:r>
                    </a:p>
                  </a:txBody>
                  <a:tcPr marL="31873" marR="31873" marT="15936" marB="15936" anchor="ctr">
                    <a:lnL>
                      <a:noFill/>
                    </a:lnL>
                    <a:lnR>
                      <a:noFill/>
                    </a:lnR>
                    <a:lnT>
                      <a:noFill/>
                    </a:lnT>
                    <a:lnB>
                      <a:noFill/>
                    </a:lnB>
                  </a:tcPr>
                </a:tc>
                <a:tc>
                  <a:txBody>
                    <a:bodyPr/>
                    <a:lstStyle/>
                    <a:p>
                      <a:r>
                        <a:rPr lang="en-US" sz="1400"/>
                        <a:t>Returns the first index of an element within the array that matches the specified value. Returns -1 if no match is found.</a:t>
                      </a:r>
                    </a:p>
                  </a:txBody>
                  <a:tcPr marL="31873" marR="31873" marT="15936" marB="15936" anchor="ctr">
                    <a:lnL>
                      <a:noFill/>
                    </a:lnL>
                    <a:lnR>
                      <a:noFill/>
                    </a:lnR>
                    <a:lnT>
                      <a:noFill/>
                    </a:lnT>
                    <a:lnB>
                      <a:noFill/>
                    </a:lnB>
                  </a:tcPr>
                </a:tc>
                <a:extLst>
                  <a:ext uri="{0D108BD9-81ED-4DB2-BD59-A6C34878D82A}">
                    <a16:rowId xmlns:a16="http://schemas.microsoft.com/office/drawing/2014/main" val="10004"/>
                  </a:ext>
                </a:extLst>
              </a:tr>
              <a:tr h="414349">
                <a:tc>
                  <a:txBody>
                    <a:bodyPr/>
                    <a:lstStyle/>
                    <a:p>
                      <a:r>
                        <a:rPr lang="en-US" sz="1400"/>
                        <a:t>lastIndexOf()</a:t>
                      </a:r>
                    </a:p>
                  </a:txBody>
                  <a:tcPr marL="31873" marR="31873" marT="15936" marB="15936" anchor="ctr">
                    <a:lnL>
                      <a:noFill/>
                    </a:lnL>
                    <a:lnR>
                      <a:noFill/>
                    </a:lnR>
                    <a:lnT>
                      <a:noFill/>
                    </a:lnT>
                    <a:lnB>
                      <a:noFill/>
                    </a:lnB>
                  </a:tcPr>
                </a:tc>
                <a:tc>
                  <a:txBody>
                    <a:bodyPr/>
                    <a:lstStyle/>
                    <a:p>
                      <a:r>
                        <a:rPr lang="en-US" sz="1400"/>
                        <a:t>Returns the last index of an element within the array that matches the specified value. Returns -1 if no match is found.</a:t>
                      </a:r>
                    </a:p>
                  </a:txBody>
                  <a:tcPr marL="31873" marR="31873" marT="15936" marB="15936" anchor="ctr">
                    <a:lnL>
                      <a:noFill/>
                    </a:lnL>
                    <a:lnR>
                      <a:noFill/>
                    </a:lnR>
                    <a:lnT>
                      <a:noFill/>
                    </a:lnT>
                    <a:lnB>
                      <a:noFill/>
                    </a:lnB>
                  </a:tcPr>
                </a:tc>
                <a:extLst>
                  <a:ext uri="{0D108BD9-81ED-4DB2-BD59-A6C34878D82A}">
                    <a16:rowId xmlns:a16="http://schemas.microsoft.com/office/drawing/2014/main" val="10005"/>
                  </a:ext>
                </a:extLst>
              </a:tr>
              <a:tr h="414349">
                <a:tc>
                  <a:txBody>
                    <a:bodyPr/>
                    <a:lstStyle/>
                    <a:p>
                      <a:r>
                        <a:rPr lang="en-US" sz="1400"/>
                        <a:t>map()</a:t>
                      </a:r>
                    </a:p>
                  </a:txBody>
                  <a:tcPr marL="31873" marR="31873" marT="15936" marB="15936" anchor="ctr">
                    <a:lnL>
                      <a:noFill/>
                    </a:lnL>
                    <a:lnR>
                      <a:noFill/>
                    </a:lnR>
                    <a:lnT>
                      <a:noFill/>
                    </a:lnT>
                    <a:lnB>
                      <a:noFill/>
                    </a:lnB>
                  </a:tcPr>
                </a:tc>
                <a:tc>
                  <a:txBody>
                    <a:bodyPr/>
                    <a:lstStyle/>
                    <a:p>
                      <a:r>
                        <a:rPr lang="en-US" sz="1400"/>
                        <a:t>map() accepts a function as an argument that returns a new array based on the results of calling the function argument on every element in this array.</a:t>
                      </a:r>
                    </a:p>
                  </a:txBody>
                  <a:tcPr marL="31873" marR="31873" marT="15936" marB="15936" anchor="ctr">
                    <a:lnL>
                      <a:noFill/>
                    </a:lnL>
                    <a:lnR>
                      <a:noFill/>
                    </a:lnR>
                    <a:lnT>
                      <a:noFill/>
                    </a:lnT>
                    <a:lnB>
                      <a:noFill/>
                    </a:lnB>
                  </a:tcPr>
                </a:tc>
                <a:extLst>
                  <a:ext uri="{0D108BD9-81ED-4DB2-BD59-A6C34878D82A}">
                    <a16:rowId xmlns:a16="http://schemas.microsoft.com/office/drawing/2014/main" val="10006"/>
                  </a:ext>
                </a:extLst>
              </a:tr>
              <a:tr h="701206">
                <a:tc>
                  <a:txBody>
                    <a:bodyPr/>
                    <a:lstStyle/>
                    <a:p>
                      <a:r>
                        <a:rPr lang="en-US" sz="1400"/>
                        <a:t>reduce()</a:t>
                      </a:r>
                    </a:p>
                  </a:txBody>
                  <a:tcPr marL="31873" marR="31873" marT="15936" marB="15936" anchor="ctr">
                    <a:lnL>
                      <a:noFill/>
                    </a:lnL>
                    <a:lnR>
                      <a:noFill/>
                    </a:lnR>
                    <a:lnT>
                      <a:noFill/>
                    </a:lnT>
                    <a:lnB>
                      <a:noFill/>
                    </a:lnB>
                  </a:tcPr>
                </a:tc>
                <a:tc>
                  <a:txBody>
                    <a:bodyPr/>
                    <a:lstStyle/>
                    <a:p>
                      <a:r>
                        <a:rPr lang="en-US" sz="1400"/>
                        <a:t>reduce() calls a specified callback function for every element in an array starting with the leftmost element. Every function execution returns the accumulated result as an argument in the next call to the callback function. This allows you to reduce the array to a single value. </a:t>
                      </a:r>
                    </a:p>
                  </a:txBody>
                  <a:tcPr marL="31873" marR="31873" marT="15936" marB="15936" anchor="ctr">
                    <a:lnL>
                      <a:noFill/>
                    </a:lnL>
                    <a:lnR>
                      <a:noFill/>
                    </a:lnR>
                    <a:lnT>
                      <a:noFill/>
                    </a:lnT>
                    <a:lnB>
                      <a:noFill/>
                    </a:lnB>
                  </a:tcPr>
                </a:tc>
                <a:extLst>
                  <a:ext uri="{0D108BD9-81ED-4DB2-BD59-A6C34878D82A}">
                    <a16:rowId xmlns:a16="http://schemas.microsoft.com/office/drawing/2014/main" val="10007"/>
                  </a:ext>
                </a:extLst>
              </a:tr>
              <a:tr h="796824">
                <a:tc>
                  <a:txBody>
                    <a:bodyPr/>
                    <a:lstStyle/>
                    <a:p>
                      <a:r>
                        <a:rPr lang="en-US" sz="1400"/>
                        <a:t>reduceRight()</a:t>
                      </a:r>
                    </a:p>
                  </a:txBody>
                  <a:tcPr marL="31873" marR="31873" marT="15936" marB="15936" anchor="ctr">
                    <a:lnL>
                      <a:noFill/>
                    </a:lnL>
                    <a:lnR>
                      <a:noFill/>
                    </a:lnR>
                    <a:lnT>
                      <a:noFill/>
                    </a:lnT>
                    <a:lnB>
                      <a:noFill/>
                    </a:lnB>
                  </a:tcPr>
                </a:tc>
                <a:tc>
                  <a:txBody>
                    <a:bodyPr/>
                    <a:lstStyle/>
                    <a:p>
                      <a:r>
                        <a:rPr lang="en-US" sz="1400"/>
                        <a:t>reduceRight() calls a specified callback function for every element in an array, starting with the rightmost element. Every function execution returns the accumulated result as an argument in the next call to the callback function. This allows you to reduce the array to a single value.</a:t>
                      </a:r>
                    </a:p>
                  </a:txBody>
                  <a:tcPr marL="31873" marR="31873" marT="15936" marB="15936" anchor="ctr">
                    <a:lnL>
                      <a:noFill/>
                    </a:lnL>
                    <a:lnR>
                      <a:noFill/>
                    </a:lnR>
                    <a:lnT>
                      <a:noFill/>
                    </a:lnT>
                    <a:lnB>
                      <a:noFill/>
                    </a:lnB>
                  </a:tcPr>
                </a:tc>
                <a:extLst>
                  <a:ext uri="{0D108BD9-81ED-4DB2-BD59-A6C34878D82A}">
                    <a16:rowId xmlns:a16="http://schemas.microsoft.com/office/drawing/2014/main" val="10008"/>
                  </a:ext>
                </a:extLst>
              </a:tr>
              <a:tr h="509968">
                <a:tc>
                  <a:txBody>
                    <a:bodyPr/>
                    <a:lstStyle/>
                    <a:p>
                      <a:r>
                        <a:rPr lang="en-US" sz="1400"/>
                        <a:t>some()</a:t>
                      </a:r>
                    </a:p>
                  </a:txBody>
                  <a:tcPr marL="31873" marR="31873" marT="15936" marB="15936" anchor="ctr">
                    <a:lnL>
                      <a:noFill/>
                    </a:lnL>
                    <a:lnR>
                      <a:noFill/>
                    </a:lnR>
                    <a:lnT>
                      <a:noFill/>
                    </a:lnT>
                    <a:lnB>
                      <a:noFill/>
                    </a:lnB>
                  </a:tcPr>
                </a:tc>
                <a:tc>
                  <a:txBody>
                    <a:bodyPr/>
                    <a:lstStyle/>
                    <a:p>
                      <a:r>
                        <a:rPr lang="en-US" sz="1400" dirty="0"/>
                        <a:t>some() accepts a function as an argument. That function tests every element in the array and returns true if at least one element in the array returns true.</a:t>
                      </a:r>
                    </a:p>
                  </a:txBody>
                  <a:tcPr marL="31873" marR="31873" marT="15936" marB="15936" anchor="ctr">
                    <a:lnL>
                      <a:noFill/>
                    </a:lnL>
                    <a:lnR>
                      <a:noFill/>
                    </a:lnR>
                    <a:lnT>
                      <a:noFill/>
                    </a:lnT>
                    <a:lnB>
                      <a:noFill/>
                    </a:lnB>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64665198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A816083-F9F8-A1CD-D112-B13E7A7E6597}"/>
              </a:ext>
            </a:extLst>
          </p:cNvPr>
          <p:cNvSpPr>
            <a:spLocks noGrp="1"/>
          </p:cNvSpPr>
          <p:nvPr>
            <p:ph type="title"/>
          </p:nvPr>
        </p:nvSpPr>
        <p:spPr>
          <a:xfrm>
            <a:off x="1069848" y="484632"/>
            <a:ext cx="10058400" cy="1609344"/>
          </a:xfrm>
        </p:spPr>
        <p:txBody>
          <a:bodyPr>
            <a:normAutofit/>
          </a:bodyPr>
          <a:lstStyle/>
          <a:p>
            <a:r>
              <a:rPr lang="en-US" dirty="0"/>
              <a:t>things you should read</a:t>
            </a:r>
          </a:p>
        </p:txBody>
      </p:sp>
      <p:sp>
        <p:nvSpPr>
          <p:cNvPr id="3" name="Content Placeholder 2">
            <a:extLst>
              <a:ext uri="{FF2B5EF4-FFF2-40B4-BE49-F238E27FC236}">
                <a16:creationId xmlns:a16="http://schemas.microsoft.com/office/drawing/2014/main" id="{B1951DD9-61EF-E8CE-B084-BEAAA80B7E5B}"/>
              </a:ext>
            </a:extLst>
          </p:cNvPr>
          <p:cNvSpPr>
            <a:spLocks noGrp="1"/>
          </p:cNvSpPr>
          <p:nvPr>
            <p:ph idx="1"/>
          </p:nvPr>
        </p:nvSpPr>
        <p:spPr>
          <a:xfrm>
            <a:off x="1069848" y="2320412"/>
            <a:ext cx="10058400" cy="3851787"/>
          </a:xfrm>
        </p:spPr>
        <p:txBody>
          <a:bodyPr>
            <a:normAutofit/>
          </a:bodyPr>
          <a:lstStyle/>
          <a:p>
            <a:r>
              <a:rPr lang="en-US" dirty="0">
                <a:hlinkClick r:id="rId4"/>
              </a:rPr>
              <a:t>JavaScript Debugging</a:t>
            </a:r>
            <a:endParaRPr lang="en-US" dirty="0">
              <a:hlinkClick r:id="rId5"/>
            </a:endParaRPr>
          </a:p>
          <a:p>
            <a:r>
              <a:rPr lang="en-US" dirty="0">
                <a:hlinkClick r:id="rId5"/>
              </a:rPr>
              <a:t>JavaScript Style Guide</a:t>
            </a:r>
            <a:endParaRPr lang="en-US" dirty="0">
              <a:hlinkClick r:id="rId6"/>
            </a:endParaRPr>
          </a:p>
          <a:p>
            <a:r>
              <a:rPr lang="en-US" dirty="0">
                <a:hlinkClick r:id="rId6"/>
              </a:rPr>
              <a:t>JavaScript Best Practices</a:t>
            </a:r>
            <a:endParaRPr lang="en-US" dirty="0"/>
          </a:p>
          <a:p>
            <a:r>
              <a:rPr lang="en-US" dirty="0">
                <a:hlinkClick r:id="rId7"/>
              </a:rPr>
              <a:t>JavaScript Mistakes</a:t>
            </a:r>
            <a:endParaRPr lang="en-US" dirty="0"/>
          </a:p>
          <a:p>
            <a:r>
              <a:rPr lang="en-US" dirty="0">
                <a:hlinkClick r:id="rId8"/>
              </a:rPr>
              <a:t>JavaScript Performance</a:t>
            </a:r>
            <a:endParaRPr lang="en-US" dirty="0"/>
          </a:p>
        </p:txBody>
      </p:sp>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9">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207258828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Wood Type</Template>
  <TotalTime>1763</TotalTime>
  <Words>8884</Words>
  <Application>Microsoft Office PowerPoint</Application>
  <PresentationFormat>Widescreen</PresentationFormat>
  <Paragraphs>950</Paragraphs>
  <Slides>85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85</vt:i4>
      </vt:variant>
    </vt:vector>
  </HeadingPairs>
  <TitlesOfParts>
    <vt:vector size="93" baseType="lpstr">
      <vt:lpstr>Arial</vt:lpstr>
      <vt:lpstr>Calibri</vt:lpstr>
      <vt:lpstr>Courier New</vt:lpstr>
      <vt:lpstr>Rockwell</vt:lpstr>
      <vt:lpstr>Rockwell Condensed</vt:lpstr>
      <vt:lpstr>Rockwell Extra Bold</vt:lpstr>
      <vt:lpstr>Wingdings</vt:lpstr>
      <vt:lpstr>Wood Type</vt:lpstr>
      <vt:lpstr>JavaScript</vt:lpstr>
      <vt:lpstr>Notes</vt:lpstr>
      <vt:lpstr>The Browser Console</vt:lpstr>
      <vt:lpstr>What is javascript</vt:lpstr>
      <vt:lpstr>Javascript and ecmaScript</vt:lpstr>
      <vt:lpstr>History</vt:lpstr>
      <vt:lpstr>IO</vt:lpstr>
      <vt:lpstr>JavaScript Display Possibilities</vt:lpstr>
      <vt:lpstr>Where to put javascript</vt:lpstr>
      <vt:lpstr>types</vt:lpstr>
      <vt:lpstr>Numbers</vt:lpstr>
      <vt:lpstr>Variables Types</vt:lpstr>
      <vt:lpstr>Javascript is different</vt:lpstr>
      <vt:lpstr>conversion to number</vt:lpstr>
      <vt:lpstr>Automatic conversion</vt:lpstr>
      <vt:lpstr>Infinity and NaN</vt:lpstr>
      <vt:lpstr>Fun with nan</vt:lpstr>
      <vt:lpstr>Null and Undefined</vt:lpstr>
      <vt:lpstr>Boolean</vt:lpstr>
      <vt:lpstr>Number Functions</vt:lpstr>
      <vt:lpstr>Strings</vt:lpstr>
      <vt:lpstr>Template literal strings</vt:lpstr>
      <vt:lpstr>String Methods</vt:lpstr>
      <vt:lpstr>let</vt:lpstr>
      <vt:lpstr>const</vt:lpstr>
      <vt:lpstr>Var – don’t use</vt:lpstr>
      <vt:lpstr>Let, const, var</vt:lpstr>
      <vt:lpstr>Don’t use these</vt:lpstr>
      <vt:lpstr>Control structures</vt:lpstr>
      <vt:lpstr>For has some other options</vt:lpstr>
      <vt:lpstr>operators</vt:lpstr>
      <vt:lpstr>New use for &amp;&amp; and ||</vt:lpstr>
      <vt:lpstr>&amp;&amp; Operation</vt:lpstr>
      <vt:lpstr>|| Operation</vt:lpstr>
      <vt:lpstr>OBJects</vt:lpstr>
      <vt:lpstr>Creating empty objects</vt:lpstr>
      <vt:lpstr>Create and using non-empty objects</vt:lpstr>
      <vt:lpstr>More object usage</vt:lpstr>
      <vt:lpstr>Adding and deleting properties</vt:lpstr>
      <vt:lpstr>Using keywords as property names</vt:lpstr>
      <vt:lpstr>Functions - Introduction</vt:lpstr>
      <vt:lpstr>Functions – arguments property</vt:lpstr>
      <vt:lpstr>Rest parameter operator …</vt:lpstr>
      <vt:lpstr>Default parameters</vt:lpstr>
      <vt:lpstr>Example 1</vt:lpstr>
      <vt:lpstr>Hoisting</vt:lpstr>
      <vt:lpstr>Hoisting Examples</vt:lpstr>
      <vt:lpstr>First-class functions</vt:lpstr>
      <vt:lpstr>Anonymous functions</vt:lpstr>
      <vt:lpstr>Using Anonymous functions</vt:lpstr>
      <vt:lpstr>Using Anonymous functions Explained</vt:lpstr>
      <vt:lpstr>Immediately invokable function expression (iife)</vt:lpstr>
      <vt:lpstr>Anonymous Functions and arrow notation</vt:lpstr>
      <vt:lpstr>Functions and arrow notation</vt:lpstr>
      <vt:lpstr>Functions and objects</vt:lpstr>
      <vt:lpstr>methods</vt:lpstr>
      <vt:lpstr>More objects</vt:lpstr>
      <vt:lpstr>This keyword</vt:lpstr>
      <vt:lpstr>Problem with this</vt:lpstr>
      <vt:lpstr>Creating objects – one way</vt:lpstr>
      <vt:lpstr>Creating object – a better way</vt:lpstr>
      <vt:lpstr>prototype</vt:lpstr>
      <vt:lpstr>Prototype 2</vt:lpstr>
      <vt:lpstr>Prototype 3</vt:lpstr>
      <vt:lpstr>Methods and prototypes</vt:lpstr>
      <vt:lpstr>Class keyword</vt:lpstr>
      <vt:lpstr>Getters and setters</vt:lpstr>
      <vt:lpstr>Getter and setter example</vt:lpstr>
      <vt:lpstr>Multiple parameter setters</vt:lpstr>
      <vt:lpstr>Class hoisting or lack of</vt:lpstr>
      <vt:lpstr>Class expressions (weird)</vt:lpstr>
      <vt:lpstr>Class body</vt:lpstr>
      <vt:lpstr>private fields</vt:lpstr>
      <vt:lpstr>Are classes useful?</vt:lpstr>
      <vt:lpstr>closures</vt:lpstr>
      <vt:lpstr>Private data with closures</vt:lpstr>
      <vt:lpstr>Private data with closures</vt:lpstr>
      <vt:lpstr>More closure weirdness</vt:lpstr>
      <vt:lpstr>subclasses</vt:lpstr>
      <vt:lpstr>comparisons</vt:lpstr>
      <vt:lpstr>Arrays</vt:lpstr>
      <vt:lpstr>Loops and arrays</vt:lpstr>
      <vt:lpstr>Array methods</vt:lpstr>
      <vt:lpstr>Array Methods (2)</vt:lpstr>
      <vt:lpstr>things you should read</vt:lpstr>
    </vt:vector>
  </TitlesOfParts>
  <Company>Appalachian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JavaScript</dc:title>
  <dc:creator>Swanson, Joel</dc:creator>
  <cp:lastModifiedBy>Joel Swanson</cp:lastModifiedBy>
  <cp:revision>121</cp:revision>
  <dcterms:created xsi:type="dcterms:W3CDTF">2019-10-07T17:06:41Z</dcterms:created>
  <dcterms:modified xsi:type="dcterms:W3CDTF">2025-09-29T17:42:28Z</dcterms:modified>
</cp:coreProperties>
</file>